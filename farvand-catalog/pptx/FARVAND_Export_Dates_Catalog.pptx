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7559040" cy="10692384"/>
  <p:notesSz cx="10692384" cy="7559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jpeg"/><Relationship Id="rId8" Type="http://schemas.openxmlformats.org/officeDocument/2006/relationships/image" Target="../media/image-3-8.jpeg"/><Relationship Id="rId9" Type="http://schemas.openxmlformats.org/officeDocument/2006/relationships/image" Target="../media/image-3-9.jpeg"/><Relationship Id="rId10" Type="http://schemas.openxmlformats.org/officeDocument/2006/relationships/image" Target="../media/image-3-10.jpeg"/><Relationship Id="rId11" Type="http://schemas.openxmlformats.org/officeDocument/2006/relationships/image" Target="../media/image-3-11.jpeg"/><Relationship Id="rId12" Type="http://schemas.openxmlformats.org/officeDocument/2006/relationships/image" Target="../media/image-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image" Target="../media/image-7-7.jpeg"/><Relationship Id="rId8" Type="http://schemas.openxmlformats.org/officeDocument/2006/relationships/image" Target="../media/image-7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040" cy="1069238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040" cy="1069238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59040" cy="1069238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95072" y="195072"/>
            <a:ext cx="7168896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6" name="Shape 1"/>
          <p:cNvSpPr/>
          <p:nvPr/>
        </p:nvSpPr>
        <p:spPr>
          <a:xfrm>
            <a:off x="195072" y="10491216"/>
            <a:ext cx="7168896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7" name="Shape 2"/>
          <p:cNvSpPr/>
          <p:nvPr/>
        </p:nvSpPr>
        <p:spPr>
          <a:xfrm>
            <a:off x="195072" y="195072"/>
            <a:ext cx="9144" cy="1030224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8" name="Shape 3"/>
          <p:cNvSpPr/>
          <p:nvPr/>
        </p:nvSpPr>
        <p:spPr>
          <a:xfrm>
            <a:off x="7357872" y="195072"/>
            <a:ext cx="9144" cy="10302240"/>
          </a:xfrm>
          <a:prstGeom prst="rect">
            <a:avLst/>
          </a:prstGeom>
          <a:solidFill>
            <a:srgbClr val="C8A25A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" y="402336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71728" y="408408"/>
            <a:ext cx="36576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1056" spc="216" kern="0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1056" dirty="0"/>
          </a:p>
        </p:txBody>
      </p:sp>
      <p:sp>
        <p:nvSpPr>
          <p:cNvPr id="11" name="Text 5"/>
          <p:cNvSpPr txBox="1"/>
          <p:nvPr/>
        </p:nvSpPr>
        <p:spPr>
          <a:xfrm>
            <a:off x="877824" y="61061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08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Iranian Dates</a:t>
            </a:r>
            <a:endParaRPr lang="en-US" sz="408" dirty="0"/>
          </a:p>
        </p:txBody>
      </p:sp>
      <p:sp>
        <p:nvSpPr>
          <p:cNvPr id="12" name="Text 6"/>
          <p:cNvSpPr txBox="1"/>
          <p:nvPr/>
        </p:nvSpPr>
        <p:spPr>
          <a:xfrm>
            <a:off x="4297680" y="470592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</a:t>
            </a:r>
            <a:endParaRPr lang="en-US" sz="456" dirty="0"/>
          </a:p>
        </p:txBody>
      </p:sp>
      <p:sp>
        <p:nvSpPr>
          <p:cNvPr id="13" name="Text 7"/>
          <p:cNvSpPr txBox="1"/>
          <p:nvPr/>
        </p:nvSpPr>
        <p:spPr>
          <a:xfrm>
            <a:off x="4297680" y="60470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[YEAR] · EDITION 01</a:t>
            </a:r>
            <a:endParaRPr lang="en-US" sz="456" dirty="0"/>
          </a:p>
        </p:txBody>
      </p:sp>
      <p:sp>
        <p:nvSpPr>
          <p:cNvPr id="14" name="Text 8"/>
          <p:cNvSpPr txBox="1"/>
          <p:nvPr/>
        </p:nvSpPr>
        <p:spPr>
          <a:xfrm>
            <a:off x="518160" y="68022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Iran’s date harvest, packed for world buyers</a:t>
            </a:r>
            <a:endParaRPr lang="en-US" sz="552" dirty="0"/>
          </a:p>
        </p:txBody>
      </p:sp>
      <p:sp>
        <p:nvSpPr>
          <p:cNvPr id="15" name="Text 9"/>
          <p:cNvSpPr txBox="1"/>
          <p:nvPr/>
        </p:nvSpPr>
        <p:spPr>
          <a:xfrm>
            <a:off x="518160" y="6917326"/>
            <a:ext cx="579120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55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Premium Iranian</a:t>
            </a:r>
            <a:endParaRPr lang="en-US" sz="3552" dirty="0"/>
          </a:p>
          <a:p>
            <a:pPr algn="l" indent="0" marL="0">
              <a:lnSpc>
                <a:spcPts val="3888"/>
              </a:lnSpc>
              <a:buNone/>
            </a:pPr>
            <a:r>
              <a:rPr lang="en-US" sz="355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Dates</a:t>
            </a:r>
            <a:endParaRPr lang="en-US" sz="3552" dirty="0"/>
          </a:p>
        </p:txBody>
      </p:sp>
      <p:sp>
        <p:nvSpPr>
          <p:cNvPr id="16" name="Shape 10"/>
          <p:cNvSpPr/>
          <p:nvPr/>
        </p:nvSpPr>
        <p:spPr>
          <a:xfrm>
            <a:off x="518160" y="8132064"/>
            <a:ext cx="45720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518160" y="8374209"/>
            <a:ext cx="38100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sources, grades and packs Iran’s finest export date varieties — from soft Mazafati to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 Zahedi — for importers, wholesalers and distributors who buy by specification.</a:t>
            </a:r>
            <a:endParaRPr lang="en-US" sz="648" dirty="0"/>
          </a:p>
        </p:txBody>
      </p:sp>
      <p:sp>
        <p:nvSpPr>
          <p:cNvPr id="18" name="Shape 12"/>
          <p:cNvSpPr/>
          <p:nvPr/>
        </p:nvSpPr>
        <p:spPr>
          <a:xfrm>
            <a:off x="518160" y="9418320"/>
            <a:ext cx="652272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8160" y="9547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IMPORTERS · WHOLESALERS · DISTRIBUTORS</a:t>
            </a:r>
            <a:endParaRPr lang="en-US" sz="456" dirty="0"/>
          </a:p>
        </p:txBody>
      </p:sp>
      <p:sp>
        <p:nvSpPr>
          <p:cNvPr id="20" name="Text 14"/>
          <p:cNvSpPr txBox="1"/>
          <p:nvPr/>
        </p:nvSpPr>
        <p:spPr>
          <a:xfrm>
            <a:off x="518160" y="954753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[WEBSITE] · [CONTACT EMAIL]</a:t>
            </a:r>
            <a:endParaRPr lang="en-US" sz="4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133600"/>
            <a:ext cx="3230880" cy="2743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2133600"/>
            <a:ext cx="3048000" cy="13258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880" y="3550920"/>
            <a:ext cx="3048000" cy="13258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7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STORY</a:t>
            </a:r>
            <a:endParaRPr lang="en-US" sz="456" dirty="0"/>
          </a:p>
        </p:txBody>
      </p:sp>
      <p:sp>
        <p:nvSpPr>
          <p:cNvPr id="8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456" dirty="0"/>
          </a:p>
        </p:txBody>
      </p:sp>
      <p:sp>
        <p:nvSpPr>
          <p:cNvPr id="9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10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12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3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56" dirty="0"/>
          </a:p>
        </p:txBody>
      </p:sp>
      <p:sp>
        <p:nvSpPr>
          <p:cNvPr id="14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WHO WE ARE</a:t>
            </a:r>
            <a:endParaRPr lang="en-US" sz="552" dirty="0"/>
          </a:p>
        </p:txBody>
      </p:sp>
      <p:sp>
        <p:nvSpPr>
          <p:cNvPr id="15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Story</a:t>
            </a:r>
            <a:endParaRPr lang="en-US" sz="2112" dirty="0"/>
          </a:p>
        </p:txBody>
      </p:sp>
      <p:sp>
        <p:nvSpPr>
          <p:cNvPr id="16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18160" y="1827105"/>
            <a:ext cx="45720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is an Iranian date exporter built around one promise: the carton that arrives should be the carton that was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promised.</a:t>
            </a:r>
            <a:endParaRPr lang="en-US" sz="648" dirty="0"/>
          </a:p>
        </p:txBody>
      </p:sp>
      <p:sp>
        <p:nvSpPr>
          <p:cNvPr id="18" name="Text 13"/>
          <p:cNvSpPr txBox="1"/>
          <p:nvPr/>
        </p:nvSpPr>
        <p:spPr>
          <a:xfrm>
            <a:off x="518160" y="5082369"/>
            <a:ext cx="30480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began in [YEAR] in [CITY], [PROVINCE] — inside the belt where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Iranian dates are grown. What started as [ORIGIN OF THE BUSINESS] grew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a focused export operation: [PRODUCER / PACKER / EXPORTER] of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Iranian dates for business buyers who buy by specification, not by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photograph.</a:t>
            </a:r>
            <a:endParaRPr lang="en-US" sz="648" dirty="0"/>
          </a:p>
        </p:txBody>
      </p:sp>
      <p:sp>
        <p:nvSpPr>
          <p:cNvPr id="19" name="Text 14"/>
          <p:cNvSpPr txBox="1"/>
          <p:nvPr/>
        </p:nvSpPr>
        <p:spPr>
          <a:xfrm>
            <a:off x="518160" y="5911425"/>
            <a:ext cx="304800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we work with [GROWER PARTNERS / OWNED ORCHARDS] across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Kerman, Fars, Hormozgan, Sistan and Khuzestan to bring together the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varieties buyers reorder — and we pack them to the standard each market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expects.</a:t>
            </a:r>
            <a:endParaRPr lang="en-US" sz="648" dirty="0"/>
          </a:p>
        </p:txBody>
      </p:sp>
      <p:sp>
        <p:nvSpPr>
          <p:cNvPr id="20" name="Text 15"/>
          <p:cNvSpPr txBox="1"/>
          <p:nvPr/>
        </p:nvSpPr>
        <p:spPr>
          <a:xfrm>
            <a:off x="518160" y="6545409"/>
            <a:ext cx="304800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own operation covers [SCOPE: SOURCING / PROCESSING / PACKING /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SHIPPING]. Everything outside that — [LAB TESTING, CERTIFICATION,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FREIGHT] — is handled by named partners we will name on request.</a:t>
            </a:r>
            <a:endParaRPr lang="en-US" sz="648" dirty="0"/>
          </a:p>
        </p:txBody>
      </p:sp>
      <p:sp>
        <p:nvSpPr>
          <p:cNvPr id="21" name="Text 16"/>
          <p:cNvSpPr txBox="1"/>
          <p:nvPr/>
        </p:nvSpPr>
        <p:spPr>
          <a:xfrm>
            <a:off x="3992880" y="50689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STAND FOR</a:t>
            </a:r>
            <a:endParaRPr lang="en-US" sz="480" dirty="0"/>
          </a:p>
        </p:txBody>
      </p:sp>
      <p:sp>
        <p:nvSpPr>
          <p:cNvPr id="22" name="Text 17"/>
          <p:cNvSpPr txBox="1"/>
          <p:nvPr/>
        </p:nvSpPr>
        <p:spPr>
          <a:xfrm>
            <a:off x="3992880" y="506739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84" dirty="0"/>
          </a:p>
        </p:txBody>
      </p:sp>
      <p:sp>
        <p:nvSpPr>
          <p:cNvPr id="23" name="Text 18"/>
          <p:cNvSpPr txBox="1"/>
          <p:nvPr/>
        </p:nvSpPr>
        <p:spPr>
          <a:xfrm>
            <a:off x="4328160" y="525061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Traceable sourcing</a:t>
            </a:r>
            <a:endParaRPr lang="en-US" sz="648" dirty="0"/>
          </a:p>
        </p:txBody>
      </p:sp>
      <p:sp>
        <p:nvSpPr>
          <p:cNvPr id="24" name="Text 19"/>
          <p:cNvSpPr txBox="1"/>
          <p:nvPr/>
        </p:nvSpPr>
        <p:spPr>
          <a:xfrm>
            <a:off x="4328160" y="5420411"/>
            <a:ext cx="271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lot is tied to a grower, a region and a harvest window, so a claim can be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rather than trusted.</a:t>
            </a:r>
            <a:endParaRPr lang="en-US" sz="576" dirty="0"/>
          </a:p>
        </p:txBody>
      </p:sp>
      <p:sp>
        <p:nvSpPr>
          <p:cNvPr id="25" name="Text 20"/>
          <p:cNvSpPr txBox="1"/>
          <p:nvPr/>
        </p:nvSpPr>
        <p:spPr>
          <a:xfrm>
            <a:off x="3992880" y="567699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84" dirty="0"/>
          </a:p>
        </p:txBody>
      </p:sp>
      <p:sp>
        <p:nvSpPr>
          <p:cNvPr id="26" name="Text 21"/>
          <p:cNvSpPr txBox="1"/>
          <p:nvPr/>
        </p:nvSpPr>
        <p:spPr>
          <a:xfrm>
            <a:off x="4328160" y="586021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Graded to order</a:t>
            </a:r>
            <a:endParaRPr lang="en-US" sz="648" dirty="0"/>
          </a:p>
        </p:txBody>
      </p:sp>
      <p:sp>
        <p:nvSpPr>
          <p:cNvPr id="27" name="Text 22"/>
          <p:cNvSpPr txBox="1"/>
          <p:nvPr/>
        </p:nvSpPr>
        <p:spPr>
          <a:xfrm>
            <a:off x="4328160" y="6030011"/>
            <a:ext cx="271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Size, count and moisture are agreed before packing, and the same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is applied to every carton.</a:t>
            </a:r>
            <a:endParaRPr lang="en-US" sz="576" dirty="0"/>
          </a:p>
        </p:txBody>
      </p:sp>
      <p:sp>
        <p:nvSpPr>
          <p:cNvPr id="28" name="Text 23"/>
          <p:cNvSpPr txBox="1"/>
          <p:nvPr/>
        </p:nvSpPr>
        <p:spPr>
          <a:xfrm>
            <a:off x="3992880" y="628659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84" dirty="0"/>
          </a:p>
        </p:txBody>
      </p:sp>
      <p:sp>
        <p:nvSpPr>
          <p:cNvPr id="29" name="Text 24"/>
          <p:cNvSpPr txBox="1"/>
          <p:nvPr/>
        </p:nvSpPr>
        <p:spPr>
          <a:xfrm>
            <a:off x="4328160" y="646981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Paperwork that clears</a:t>
            </a:r>
            <a:endParaRPr lang="en-US" sz="648" dirty="0"/>
          </a:p>
        </p:txBody>
      </p:sp>
      <p:sp>
        <p:nvSpPr>
          <p:cNvPr id="30" name="Text 25"/>
          <p:cNvSpPr txBox="1"/>
          <p:nvPr/>
        </p:nvSpPr>
        <p:spPr>
          <a:xfrm>
            <a:off x="4328160" y="6639611"/>
            <a:ext cx="271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Invoices, packing lists and phytosanitary documentation are prepared with the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shipment, not after it.</a:t>
            </a:r>
            <a:endParaRPr lang="en-US" sz="576" dirty="0"/>
          </a:p>
        </p:txBody>
      </p:sp>
      <p:sp>
        <p:nvSpPr>
          <p:cNvPr id="31" name="Shape 26"/>
          <p:cNvSpPr/>
          <p:nvPr/>
        </p:nvSpPr>
        <p:spPr>
          <a:xfrm>
            <a:off x="518160" y="7315200"/>
            <a:ext cx="6522720" cy="115824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70560" y="74768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</a:t>
            </a:r>
            <a:endParaRPr lang="en-US" sz="480" dirty="0"/>
          </a:p>
        </p:txBody>
      </p:sp>
      <p:sp>
        <p:nvSpPr>
          <p:cNvPr id="33" name="Text 28"/>
          <p:cNvSpPr txBox="1"/>
          <p:nvPr/>
        </p:nvSpPr>
        <p:spPr>
          <a:xfrm>
            <a:off x="670560" y="76422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[YEAR]</a:t>
            </a:r>
            <a:endParaRPr lang="en-US" sz="912" dirty="0"/>
          </a:p>
        </p:txBody>
      </p:sp>
      <p:sp>
        <p:nvSpPr>
          <p:cNvPr id="34" name="Text 29"/>
          <p:cNvSpPr txBox="1"/>
          <p:nvPr/>
        </p:nvSpPr>
        <p:spPr>
          <a:xfrm>
            <a:off x="670560" y="7852715"/>
            <a:ext cx="134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in [CITY] as [ORIGIN OF THE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BUSINESS].</a:t>
            </a:r>
            <a:endParaRPr lang="en-US" sz="576" dirty="0"/>
          </a:p>
        </p:txBody>
      </p:sp>
      <p:sp>
        <p:nvSpPr>
          <p:cNvPr id="35" name="Text 30"/>
          <p:cNvSpPr txBox="1"/>
          <p:nvPr/>
        </p:nvSpPr>
        <p:spPr>
          <a:xfrm>
            <a:off x="2231136" y="76422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[YEAR]</a:t>
            </a:r>
            <a:endParaRPr lang="en-US" sz="912" dirty="0"/>
          </a:p>
        </p:txBody>
      </p:sp>
      <p:sp>
        <p:nvSpPr>
          <p:cNvPr id="36" name="Text 31"/>
          <p:cNvSpPr txBox="1"/>
          <p:nvPr/>
        </p:nvSpPr>
        <p:spPr>
          <a:xfrm>
            <a:off x="2231136" y="7852715"/>
            <a:ext cx="13411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export shipment to [MARKET].</a:t>
            </a:r>
            <a:endParaRPr lang="en-US" sz="576" dirty="0"/>
          </a:p>
        </p:txBody>
      </p:sp>
      <p:sp>
        <p:nvSpPr>
          <p:cNvPr id="37" name="Text 32"/>
          <p:cNvSpPr txBox="1"/>
          <p:nvPr/>
        </p:nvSpPr>
        <p:spPr>
          <a:xfrm>
            <a:off x="3791712" y="76422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[YEAR]</a:t>
            </a:r>
            <a:endParaRPr lang="en-US" sz="912" dirty="0"/>
          </a:p>
        </p:txBody>
      </p:sp>
      <p:sp>
        <p:nvSpPr>
          <p:cNvPr id="38" name="Text 33"/>
          <p:cNvSpPr txBox="1"/>
          <p:nvPr/>
        </p:nvSpPr>
        <p:spPr>
          <a:xfrm>
            <a:off x="3791712" y="7852715"/>
            <a:ext cx="134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packing and grading facility in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[CITY].</a:t>
            </a:r>
            <a:endParaRPr lang="en-US" sz="576" dirty="0"/>
          </a:p>
        </p:txBody>
      </p:sp>
      <p:sp>
        <p:nvSpPr>
          <p:cNvPr id="39" name="Text 34"/>
          <p:cNvSpPr txBox="1"/>
          <p:nvPr/>
        </p:nvSpPr>
        <p:spPr>
          <a:xfrm>
            <a:off x="5352288" y="76422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[YEAR]</a:t>
            </a:r>
            <a:endParaRPr lang="en-US" sz="912" dirty="0"/>
          </a:p>
        </p:txBody>
      </p:sp>
      <p:sp>
        <p:nvSpPr>
          <p:cNvPr id="40" name="Text 35"/>
          <p:cNvSpPr txBox="1"/>
          <p:nvPr/>
        </p:nvSpPr>
        <p:spPr>
          <a:xfrm>
            <a:off x="5352288" y="7852715"/>
            <a:ext cx="1341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[NEW MARKET, CAPACITY OR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CERTIFICATION].</a:t>
            </a:r>
            <a:endParaRPr lang="en-US" sz="576" dirty="0"/>
          </a:p>
        </p:txBody>
      </p:sp>
      <p:sp>
        <p:nvSpPr>
          <p:cNvPr id="41" name="Shape 36"/>
          <p:cNvSpPr/>
          <p:nvPr/>
        </p:nvSpPr>
        <p:spPr>
          <a:xfrm>
            <a:off x="0" y="8656320"/>
            <a:ext cx="7559040" cy="2036064"/>
          </a:xfrm>
          <a:prstGeom prst="rect">
            <a:avLst/>
          </a:prstGeom>
          <a:solidFill>
            <a:srgbClr val="0F3B2E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20" y="8656320"/>
            <a:ext cx="2560320" cy="2036064"/>
          </a:xfrm>
          <a:prstGeom prst="rect">
            <a:avLst/>
          </a:prstGeom>
        </p:spPr>
      </p:pic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720" y="8656320"/>
            <a:ext cx="2560320" cy="2036064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518160" y="893064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518160" y="9044282"/>
            <a:ext cx="41148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would rather tell you what we do not know yet than let you find it out at the</a:t>
            </a:r>
            <a:endParaRPr lang="en-US" sz="912" dirty="0"/>
          </a:p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port.</a:t>
            </a:r>
            <a:endParaRPr lang="en-US" sz="912" dirty="0"/>
          </a:p>
        </p:txBody>
      </p:sp>
      <p:sp>
        <p:nvSpPr>
          <p:cNvPr id="46" name="Text 39"/>
          <p:cNvSpPr txBox="1"/>
          <p:nvPr/>
        </p:nvSpPr>
        <p:spPr>
          <a:xfrm>
            <a:off x="518160" y="967574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[FOUNDER / MANAGING DIRECTOR], [TITLE]</a:t>
            </a:r>
            <a:endParaRPr lang="en-US" sz="50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RANGE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PRODUCT PORTFOLIO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FARVAND Range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51816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Twelve export varieties from Iran’s date belt — from Bam and Kerman to Fars, Hormozgan, Sistan and Khuzestan. Each one has its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colour, texture and job on the shelf.</a:t>
            </a:r>
            <a:endParaRPr lang="en-US" sz="648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316480"/>
            <a:ext cx="2042160" cy="914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18160" y="3267456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8160" y="3314042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Mazafati</a:t>
            </a:r>
            <a:endParaRPr lang="en-US" sz="912" dirty="0"/>
          </a:p>
        </p:txBody>
      </p:sp>
      <p:sp>
        <p:nvSpPr>
          <p:cNvPr id="18" name="Text 15"/>
          <p:cNvSpPr txBox="1"/>
          <p:nvPr/>
        </p:nvSpPr>
        <p:spPr>
          <a:xfrm>
            <a:off x="518160" y="35205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19" name="Text 16"/>
          <p:cNvSpPr txBox="1"/>
          <p:nvPr/>
        </p:nvSpPr>
        <p:spPr>
          <a:xfrm>
            <a:off x="518160" y="3642436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 · KERMAN</a:t>
            </a:r>
            <a:endParaRPr lang="en-US" sz="480" dirty="0"/>
          </a:p>
        </p:txBody>
      </p:sp>
      <p:sp>
        <p:nvSpPr>
          <p:cNvPr id="20" name="Text 17"/>
          <p:cNvSpPr txBox="1"/>
          <p:nvPr/>
        </p:nvSpPr>
        <p:spPr>
          <a:xfrm>
            <a:off x="518160" y="3804971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Dark, glossy and thin-skinned — the benchmark soft date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Iran and the variety buyers reorder most.</a:t>
            </a:r>
            <a:endParaRPr lang="en-US" sz="576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440" y="2316480"/>
            <a:ext cx="2042160" cy="9144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758440" y="3267456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758440" y="3314042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Medjoul</a:t>
            </a:r>
            <a:endParaRPr lang="en-US" sz="912" dirty="0"/>
          </a:p>
        </p:txBody>
      </p:sp>
      <p:sp>
        <p:nvSpPr>
          <p:cNvPr id="24" name="Text 20"/>
          <p:cNvSpPr txBox="1"/>
          <p:nvPr/>
        </p:nvSpPr>
        <p:spPr>
          <a:xfrm>
            <a:off x="2758440" y="35205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25" name="Text 21"/>
          <p:cNvSpPr txBox="1"/>
          <p:nvPr/>
        </p:nvSpPr>
        <p:spPr>
          <a:xfrm>
            <a:off x="2758440" y="3642436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 &amp; SARAVAN · KERMAN / SISTAN</a:t>
            </a:r>
            <a:endParaRPr lang="en-US" sz="480" dirty="0"/>
          </a:p>
        </p:txBody>
      </p:sp>
      <p:sp>
        <p:nvSpPr>
          <p:cNvPr id="26" name="Text 22"/>
          <p:cNvSpPr txBox="1"/>
          <p:nvPr/>
        </p:nvSpPr>
        <p:spPr>
          <a:xfrm>
            <a:off x="2758440" y="3804971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Large, caramel-brown and very high in sugar. The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gifting date of the range.</a:t>
            </a:r>
            <a:endParaRPr lang="en-US" sz="576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2316480"/>
            <a:ext cx="2042160" cy="9144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998720" y="3267456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998720" y="3314042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Zahedi</a:t>
            </a:r>
            <a:endParaRPr lang="en-US" sz="912" dirty="0"/>
          </a:p>
        </p:txBody>
      </p:sp>
      <p:sp>
        <p:nvSpPr>
          <p:cNvPr id="30" name="Text 25"/>
          <p:cNvSpPr txBox="1"/>
          <p:nvPr/>
        </p:nvSpPr>
        <p:spPr>
          <a:xfrm>
            <a:off x="4998720" y="35205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31" name="Text 26"/>
          <p:cNvSpPr txBox="1"/>
          <p:nvPr/>
        </p:nvSpPr>
        <p:spPr>
          <a:xfrm>
            <a:off x="4998720" y="3642436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DASHTESTAN &amp; KAZERUN · FARS</a:t>
            </a:r>
            <a:endParaRPr lang="en-US" sz="480" dirty="0"/>
          </a:p>
        </p:txBody>
      </p:sp>
      <p:sp>
        <p:nvSpPr>
          <p:cNvPr id="32" name="Text 27"/>
          <p:cNvSpPr txBox="1"/>
          <p:nvPr/>
        </p:nvSpPr>
        <p:spPr>
          <a:xfrm>
            <a:off x="4998720" y="3804971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Golden, wrinkled and firm with a long shelf life. The safe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choice for long-haul shipping.</a:t>
            </a:r>
            <a:endParaRPr lang="en-US" sz="576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" y="4194048"/>
            <a:ext cx="2042160" cy="9144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18160" y="5145024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18160" y="5191610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Kimri</a:t>
            </a:r>
            <a:endParaRPr lang="en-US" sz="912" dirty="0"/>
          </a:p>
        </p:txBody>
      </p:sp>
      <p:sp>
        <p:nvSpPr>
          <p:cNvPr id="36" name="Text 30"/>
          <p:cNvSpPr txBox="1"/>
          <p:nvPr/>
        </p:nvSpPr>
        <p:spPr>
          <a:xfrm>
            <a:off x="518160" y="53980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37" name="Text 31"/>
          <p:cNvSpPr txBox="1"/>
          <p:nvPr/>
        </p:nvSpPr>
        <p:spPr>
          <a:xfrm>
            <a:off x="518160" y="5520004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 · KERMAN</a:t>
            </a:r>
            <a:endParaRPr lang="en-US" sz="480" dirty="0"/>
          </a:p>
        </p:txBody>
      </p:sp>
      <p:sp>
        <p:nvSpPr>
          <p:cNvPr id="38" name="Text 32"/>
          <p:cNvSpPr txBox="1"/>
          <p:nvPr/>
        </p:nvSpPr>
        <p:spPr>
          <a:xfrm>
            <a:off x="518160" y="5682539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dark and intensely sweet. Packs densely, so carton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kilo stays competitive.</a:t>
            </a:r>
            <a:endParaRPr lang="en-US" sz="576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440" y="4194048"/>
            <a:ext cx="2042160" cy="914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2758440" y="5145024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2758440" y="5191610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Shahani</a:t>
            </a:r>
            <a:endParaRPr lang="en-US" sz="912" dirty="0"/>
          </a:p>
        </p:txBody>
      </p:sp>
      <p:sp>
        <p:nvSpPr>
          <p:cNvPr id="42" name="Text 35"/>
          <p:cNvSpPr txBox="1"/>
          <p:nvPr/>
        </p:nvSpPr>
        <p:spPr>
          <a:xfrm>
            <a:off x="2758440" y="53980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SEMI-SOFT</a:t>
            </a:r>
            <a:endParaRPr lang="en-US" sz="480" dirty="0"/>
          </a:p>
        </p:txBody>
      </p:sp>
      <p:sp>
        <p:nvSpPr>
          <p:cNvPr id="43" name="Text 36"/>
          <p:cNvSpPr txBox="1"/>
          <p:nvPr/>
        </p:nvSpPr>
        <p:spPr>
          <a:xfrm>
            <a:off x="2758440" y="5520004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JIROFT &amp; KAHNOJ · KERMAN</a:t>
            </a:r>
            <a:endParaRPr lang="en-US" sz="480" dirty="0"/>
          </a:p>
        </p:txBody>
      </p:sp>
      <p:sp>
        <p:nvSpPr>
          <p:cNvPr id="44" name="Text 37"/>
          <p:cNvSpPr txBox="1"/>
          <p:nvPr/>
        </p:nvSpPr>
        <p:spPr>
          <a:xfrm>
            <a:off x="2758440" y="5682539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Mid-size amber fruit with a delicate, tender skin and a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mild sweetness.</a:t>
            </a:r>
            <a:endParaRPr lang="en-US" sz="576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8720" y="4194048"/>
            <a:ext cx="2042160" cy="91440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4998720" y="5145024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4998720" y="5191610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Najafi</a:t>
            </a:r>
            <a:endParaRPr lang="en-US" sz="912" dirty="0"/>
          </a:p>
        </p:txBody>
      </p:sp>
      <p:sp>
        <p:nvSpPr>
          <p:cNvPr id="48" name="Text 40"/>
          <p:cNvSpPr txBox="1"/>
          <p:nvPr/>
        </p:nvSpPr>
        <p:spPr>
          <a:xfrm>
            <a:off x="4998720" y="53980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49" name="Text 41"/>
          <p:cNvSpPr txBox="1"/>
          <p:nvPr/>
        </p:nvSpPr>
        <p:spPr>
          <a:xfrm>
            <a:off x="4998720" y="5520004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SARAVAN &amp; BAM · SISTAN / KERMAN</a:t>
            </a:r>
            <a:endParaRPr lang="en-US" sz="480" dirty="0"/>
          </a:p>
        </p:txBody>
      </p:sp>
      <p:sp>
        <p:nvSpPr>
          <p:cNvPr id="50" name="Text 42"/>
          <p:cNvSpPr txBox="1"/>
          <p:nvPr/>
        </p:nvSpPr>
        <p:spPr>
          <a:xfrm>
            <a:off x="4998720" y="5682539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Round, very dark and soft. A traditional cultivar with a loyal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following at home and abroad.</a:t>
            </a:r>
            <a:endParaRPr lang="en-US" sz="576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" y="6071616"/>
            <a:ext cx="2042160" cy="91440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518160" y="7022592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518160" y="7069178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Lasht</a:t>
            </a:r>
            <a:endParaRPr lang="en-US" sz="912" dirty="0"/>
          </a:p>
        </p:txBody>
      </p:sp>
      <p:sp>
        <p:nvSpPr>
          <p:cNvPr id="54" name="Text 45"/>
          <p:cNvSpPr txBox="1"/>
          <p:nvPr/>
        </p:nvSpPr>
        <p:spPr>
          <a:xfrm>
            <a:off x="518160" y="72756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55" name="Text 46"/>
          <p:cNvSpPr txBox="1"/>
          <p:nvPr/>
        </p:nvSpPr>
        <p:spPr>
          <a:xfrm>
            <a:off x="518160" y="7397572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DASHTESTAN · FARS</a:t>
            </a:r>
            <a:endParaRPr lang="en-US" sz="480" dirty="0"/>
          </a:p>
        </p:txBody>
      </p:sp>
      <p:sp>
        <p:nvSpPr>
          <p:cNvPr id="56" name="Text 47"/>
          <p:cNvSpPr txBox="1"/>
          <p:nvPr/>
        </p:nvSpPr>
        <p:spPr>
          <a:xfrm>
            <a:off x="518160" y="7560107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Brown, wrinkled and firm — the workhorse of Iranian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cooking and industrial processing.</a:t>
            </a:r>
            <a:endParaRPr lang="en-US" sz="576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8440" y="6071616"/>
            <a:ext cx="2042160" cy="914400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2758440" y="7022592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2758440" y="7069178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Morki</a:t>
            </a:r>
            <a:endParaRPr lang="en-US" sz="912" dirty="0"/>
          </a:p>
        </p:txBody>
      </p:sp>
      <p:sp>
        <p:nvSpPr>
          <p:cNvPr id="60" name="Text 50"/>
          <p:cNvSpPr txBox="1"/>
          <p:nvPr/>
        </p:nvSpPr>
        <p:spPr>
          <a:xfrm>
            <a:off x="2758440" y="72756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61" name="Text 51"/>
          <p:cNvSpPr txBox="1"/>
          <p:nvPr/>
        </p:nvSpPr>
        <p:spPr>
          <a:xfrm>
            <a:off x="2758440" y="7397572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KAZERUN &amp; DASHTESTAN · FARS</a:t>
            </a:r>
            <a:endParaRPr lang="en-US" sz="480" dirty="0"/>
          </a:p>
        </p:txBody>
      </p:sp>
      <p:sp>
        <p:nvSpPr>
          <p:cNvPr id="62" name="Text 52"/>
          <p:cNvSpPr txBox="1"/>
          <p:nvPr/>
        </p:nvSpPr>
        <p:spPr>
          <a:xfrm>
            <a:off x="2758440" y="7560107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brown and moderately dry, with a firm bite that holds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 in a mixed gift box.</a:t>
            </a:r>
            <a:endParaRPr lang="en-US" sz="576" dirty="0"/>
          </a:p>
        </p:txBody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8720" y="6071616"/>
            <a:ext cx="2042160" cy="914400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4998720" y="7022592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65" name="Text 54"/>
          <p:cNvSpPr txBox="1"/>
          <p:nvPr/>
        </p:nvSpPr>
        <p:spPr>
          <a:xfrm>
            <a:off x="4998720" y="7069178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Deglet en-Nour</a:t>
            </a:r>
            <a:endParaRPr lang="en-US" sz="912" dirty="0"/>
          </a:p>
        </p:txBody>
      </p:sp>
      <p:sp>
        <p:nvSpPr>
          <p:cNvPr id="66" name="Text 55"/>
          <p:cNvSpPr txBox="1"/>
          <p:nvPr/>
        </p:nvSpPr>
        <p:spPr>
          <a:xfrm>
            <a:off x="4998720" y="72756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67" name="Text 56"/>
          <p:cNvSpPr txBox="1"/>
          <p:nvPr/>
        </p:nvSpPr>
        <p:spPr>
          <a:xfrm>
            <a:off x="4998720" y="7397572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ABADAN &amp; KHORRAMSHAHR · KHUZESTAN</a:t>
            </a:r>
            <a:endParaRPr lang="en-US" sz="480" dirty="0"/>
          </a:p>
        </p:txBody>
      </p:sp>
      <p:sp>
        <p:nvSpPr>
          <p:cNvPr id="68" name="Text 57"/>
          <p:cNvSpPr txBox="1"/>
          <p:nvPr/>
        </p:nvSpPr>
        <p:spPr>
          <a:xfrm>
            <a:off x="4998720" y="7560107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 amber with a mild, honeyed flavour and a light skin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eats easily.</a:t>
            </a:r>
            <a:endParaRPr lang="en-US" sz="576" dirty="0"/>
          </a:p>
        </p:txBody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160" y="7949184"/>
            <a:ext cx="2042160" cy="914400"/>
          </a:xfrm>
          <a:prstGeom prst="rect">
            <a:avLst/>
          </a:prstGeom>
        </p:spPr>
      </p:pic>
      <p:sp>
        <p:nvSpPr>
          <p:cNvPr id="70" name="Shape 58"/>
          <p:cNvSpPr/>
          <p:nvPr/>
        </p:nvSpPr>
        <p:spPr>
          <a:xfrm>
            <a:off x="518160" y="8900160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71" name="Text 59"/>
          <p:cNvSpPr txBox="1"/>
          <p:nvPr/>
        </p:nvSpPr>
        <p:spPr>
          <a:xfrm>
            <a:off x="518160" y="8946746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Barhi</a:t>
            </a:r>
            <a:endParaRPr lang="en-US" sz="912" dirty="0"/>
          </a:p>
        </p:txBody>
      </p:sp>
      <p:sp>
        <p:nvSpPr>
          <p:cNvPr id="72" name="Text 60"/>
          <p:cNvSpPr txBox="1"/>
          <p:nvPr/>
        </p:nvSpPr>
        <p:spPr>
          <a:xfrm>
            <a:off x="518160" y="91532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73" name="Text 61"/>
          <p:cNvSpPr txBox="1"/>
          <p:nvPr/>
        </p:nvSpPr>
        <p:spPr>
          <a:xfrm>
            <a:off x="518160" y="9275140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SARAVAN · SISTAN &amp; BALUCHESTAN</a:t>
            </a:r>
            <a:endParaRPr lang="en-US" sz="480" dirty="0"/>
          </a:p>
        </p:txBody>
      </p:sp>
      <p:sp>
        <p:nvSpPr>
          <p:cNvPr id="74" name="Text 62"/>
          <p:cNvSpPr txBox="1"/>
          <p:nvPr/>
        </p:nvSpPr>
        <p:spPr>
          <a:xfrm>
            <a:off x="518160" y="9437675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Round, soft and mild, with low fibre — a straightforward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snacking date.</a:t>
            </a:r>
            <a:endParaRPr lang="en-US" sz="576" dirty="0"/>
          </a:p>
        </p:txBody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8440" y="7949184"/>
            <a:ext cx="2042160" cy="914400"/>
          </a:xfrm>
          <a:prstGeom prst="rect">
            <a:avLst/>
          </a:prstGeom>
        </p:spPr>
      </p:pic>
      <p:sp>
        <p:nvSpPr>
          <p:cNvPr id="76" name="Shape 63"/>
          <p:cNvSpPr/>
          <p:nvPr/>
        </p:nvSpPr>
        <p:spPr>
          <a:xfrm>
            <a:off x="2758440" y="8900160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77" name="Text 64"/>
          <p:cNvSpPr txBox="1"/>
          <p:nvPr/>
        </p:nvSpPr>
        <p:spPr>
          <a:xfrm>
            <a:off x="2758440" y="8946746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Harani</a:t>
            </a:r>
            <a:endParaRPr lang="en-US" sz="912" dirty="0"/>
          </a:p>
        </p:txBody>
      </p:sp>
      <p:sp>
        <p:nvSpPr>
          <p:cNvPr id="78" name="Text 65"/>
          <p:cNvSpPr txBox="1"/>
          <p:nvPr/>
        </p:nvSpPr>
        <p:spPr>
          <a:xfrm>
            <a:off x="2758440" y="91532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79" name="Text 66"/>
          <p:cNvSpPr txBox="1"/>
          <p:nvPr/>
        </p:nvSpPr>
        <p:spPr>
          <a:xfrm>
            <a:off x="2758440" y="9275140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JAHROM · FARS</a:t>
            </a:r>
            <a:endParaRPr lang="en-US" sz="480" dirty="0"/>
          </a:p>
        </p:txBody>
      </p:sp>
      <p:sp>
        <p:nvSpPr>
          <p:cNvPr id="80" name="Text 67"/>
          <p:cNvSpPr txBox="1"/>
          <p:nvPr/>
        </p:nvSpPr>
        <p:spPr>
          <a:xfrm>
            <a:off x="2758440" y="9437675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Soft, amber and very sweet. A premium soft date sold in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smaller, higher-value packs.</a:t>
            </a:r>
            <a:endParaRPr lang="en-US" sz="576" dirty="0"/>
          </a:p>
        </p:txBody>
      </p:sp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8720" y="7949184"/>
            <a:ext cx="2042160" cy="914400"/>
          </a:xfrm>
          <a:prstGeom prst="rect">
            <a:avLst/>
          </a:prstGeom>
        </p:spPr>
      </p:pic>
      <p:sp>
        <p:nvSpPr>
          <p:cNvPr id="82" name="Shape 68"/>
          <p:cNvSpPr/>
          <p:nvPr/>
        </p:nvSpPr>
        <p:spPr>
          <a:xfrm>
            <a:off x="4998720" y="8900160"/>
            <a:ext cx="1828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83" name="Text 69"/>
          <p:cNvSpPr txBox="1"/>
          <p:nvPr/>
        </p:nvSpPr>
        <p:spPr>
          <a:xfrm>
            <a:off x="4998720" y="8946746"/>
            <a:ext cx="20421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Piarom</a:t>
            </a:r>
            <a:endParaRPr lang="en-US" sz="912" dirty="0"/>
          </a:p>
        </p:txBody>
      </p:sp>
      <p:sp>
        <p:nvSpPr>
          <p:cNvPr id="84" name="Text 70"/>
          <p:cNvSpPr txBox="1"/>
          <p:nvPr/>
        </p:nvSpPr>
        <p:spPr>
          <a:xfrm>
            <a:off x="4998720" y="91532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85" name="Text 71"/>
          <p:cNvSpPr txBox="1"/>
          <p:nvPr/>
        </p:nvSpPr>
        <p:spPr>
          <a:xfrm>
            <a:off x="4998720" y="9275140"/>
            <a:ext cx="204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HAJIABAD · HORMOZGAN</a:t>
            </a:r>
            <a:endParaRPr lang="en-US" sz="480" dirty="0"/>
          </a:p>
        </p:txBody>
      </p:sp>
      <p:sp>
        <p:nvSpPr>
          <p:cNvPr id="86" name="Text 72"/>
          <p:cNvSpPr txBox="1"/>
          <p:nvPr/>
        </p:nvSpPr>
        <p:spPr>
          <a:xfrm>
            <a:off x="4998720" y="9437675"/>
            <a:ext cx="204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dark, dry and chewy — the date most often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described as the chocolate date.</a:t>
            </a:r>
            <a:endParaRPr lang="en-US" sz="576" dirty="0"/>
          </a:p>
        </p:txBody>
      </p:sp>
      <p:sp>
        <p:nvSpPr>
          <p:cNvPr id="87" name="Text 73"/>
          <p:cNvSpPr txBox="1"/>
          <p:nvPr/>
        </p:nvSpPr>
        <p:spPr>
          <a:xfrm>
            <a:off x="518160" y="9876911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Cultivar traits and growing regions are typical values that vary with season, irrigation and grade. Every FARVAND quotation states the confirmed origin of the lot being offered.</a:t>
            </a:r>
            <a:endParaRPr lang="en-US" sz="50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133600"/>
            <a:ext cx="2773680" cy="5791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8046720"/>
            <a:ext cx="2773680" cy="1280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6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MAZAFATI</a:t>
            </a:r>
            <a:endParaRPr lang="en-US" sz="456" dirty="0"/>
          </a:p>
        </p:txBody>
      </p:sp>
      <p:sp>
        <p:nvSpPr>
          <p:cNvPr id="7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456" dirty="0"/>
          </a:p>
        </p:txBody>
      </p:sp>
      <p:sp>
        <p:nvSpPr>
          <p:cNvPr id="8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9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11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2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56" dirty="0"/>
          </a:p>
        </p:txBody>
      </p:sp>
      <p:sp>
        <p:nvSpPr>
          <p:cNvPr id="13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FLAGSHIP VARIETY</a:t>
            </a:r>
            <a:endParaRPr lang="en-US" sz="552" dirty="0"/>
          </a:p>
        </p:txBody>
      </p:sp>
      <p:sp>
        <p:nvSpPr>
          <p:cNvPr id="14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Mazafati</a:t>
            </a:r>
            <a:endParaRPr lang="en-US" sz="2112" dirty="0"/>
          </a:p>
        </p:txBody>
      </p:sp>
      <p:sp>
        <p:nvSpPr>
          <p:cNvPr id="15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18160" y="1827105"/>
            <a:ext cx="420624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requested Iranian date in the world. Dark, glossy, thin-skinned and naturally sweet — and the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 our buyers reorder most.</a:t>
            </a:r>
            <a:endParaRPr lang="en-US" sz="648" dirty="0"/>
          </a:p>
        </p:txBody>
      </p:sp>
      <p:sp>
        <p:nvSpPr>
          <p:cNvPr id="17" name="Shape 13"/>
          <p:cNvSpPr/>
          <p:nvPr/>
        </p:nvSpPr>
        <p:spPr>
          <a:xfrm>
            <a:off x="4267200" y="2133600"/>
            <a:ext cx="2682240" cy="536448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8" name="Shape 14"/>
          <p:cNvSpPr/>
          <p:nvPr/>
        </p:nvSpPr>
        <p:spPr>
          <a:xfrm>
            <a:off x="4267200" y="2133600"/>
            <a:ext cx="3352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419600" y="224748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32" spc="101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32" dirty="0"/>
          </a:p>
        </p:txBody>
      </p:sp>
      <p:sp>
        <p:nvSpPr>
          <p:cNvPr id="20" name="Text 16"/>
          <p:cNvSpPr txBox="1"/>
          <p:nvPr/>
        </p:nvSpPr>
        <p:spPr>
          <a:xfrm>
            <a:off x="4419600" y="2344778"/>
            <a:ext cx="23774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Bam</a:t>
            </a:r>
            <a:endParaRPr lang="en-US" sz="912" dirty="0"/>
          </a:p>
        </p:txBody>
      </p:sp>
      <p:sp>
        <p:nvSpPr>
          <p:cNvPr id="21" name="Text 17"/>
          <p:cNvSpPr txBox="1"/>
          <p:nvPr/>
        </p:nvSpPr>
        <p:spPr>
          <a:xfrm>
            <a:off x="4419600" y="2555615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Kerman — the home of Mazafati</a:t>
            </a:r>
            <a:endParaRPr lang="en-US" sz="504" dirty="0"/>
          </a:p>
        </p:txBody>
      </p:sp>
      <p:sp>
        <p:nvSpPr>
          <p:cNvPr id="22" name="Text 18"/>
          <p:cNvSpPr txBox="1"/>
          <p:nvPr/>
        </p:nvSpPr>
        <p:spPr>
          <a:xfrm>
            <a:off x="4267200" y="2813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480" dirty="0"/>
          </a:p>
        </p:txBody>
      </p:sp>
      <p:sp>
        <p:nvSpPr>
          <p:cNvPr id="23" name="Text 19"/>
          <p:cNvSpPr txBox="1"/>
          <p:nvPr/>
        </p:nvSpPr>
        <p:spPr>
          <a:xfrm>
            <a:off x="4267200" y="29962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</a:t>
            </a:r>
            <a:endParaRPr lang="en-US" sz="480" dirty="0"/>
          </a:p>
        </p:txBody>
      </p:sp>
      <p:sp>
        <p:nvSpPr>
          <p:cNvPr id="24" name="Text 20"/>
          <p:cNvSpPr txBox="1"/>
          <p:nvPr/>
        </p:nvSpPr>
        <p:spPr>
          <a:xfrm>
            <a:off x="5181600" y="2995098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Mazafati</a:t>
            </a:r>
            <a:endParaRPr lang="en-US" sz="648" dirty="0"/>
          </a:p>
        </p:txBody>
      </p:sp>
      <p:sp>
        <p:nvSpPr>
          <p:cNvPr id="25" name="Text 21"/>
          <p:cNvSpPr txBox="1"/>
          <p:nvPr/>
        </p:nvSpPr>
        <p:spPr>
          <a:xfrm>
            <a:off x="4267200" y="32888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480" dirty="0"/>
          </a:p>
        </p:txBody>
      </p:sp>
      <p:sp>
        <p:nvSpPr>
          <p:cNvPr id="26" name="Text 22"/>
          <p:cNvSpPr txBox="1"/>
          <p:nvPr/>
        </p:nvSpPr>
        <p:spPr>
          <a:xfrm>
            <a:off x="5181600" y="3287706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(semi-moist)</a:t>
            </a:r>
            <a:endParaRPr lang="en-US" sz="648" dirty="0"/>
          </a:p>
        </p:txBody>
      </p:sp>
      <p:sp>
        <p:nvSpPr>
          <p:cNvPr id="27" name="Text 23"/>
          <p:cNvSpPr txBox="1"/>
          <p:nvPr/>
        </p:nvSpPr>
        <p:spPr>
          <a:xfrm>
            <a:off x="4267200" y="35814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</a:t>
            </a:r>
            <a:endParaRPr lang="en-US" sz="480" dirty="0"/>
          </a:p>
        </p:txBody>
      </p:sp>
      <p:sp>
        <p:nvSpPr>
          <p:cNvPr id="28" name="Text 24"/>
          <p:cNvSpPr txBox="1"/>
          <p:nvPr/>
        </p:nvSpPr>
        <p:spPr>
          <a:xfrm>
            <a:off x="5181600" y="3580314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brown to near-black</a:t>
            </a:r>
            <a:endParaRPr lang="en-US" sz="648" dirty="0"/>
          </a:p>
        </p:txBody>
      </p:sp>
      <p:sp>
        <p:nvSpPr>
          <p:cNvPr id="29" name="Text 25"/>
          <p:cNvSpPr txBox="1"/>
          <p:nvPr/>
        </p:nvSpPr>
        <p:spPr>
          <a:xfrm>
            <a:off x="4267200" y="38740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</a:t>
            </a:r>
            <a:endParaRPr lang="en-US" sz="480" dirty="0"/>
          </a:p>
        </p:txBody>
      </p:sp>
      <p:sp>
        <p:nvSpPr>
          <p:cNvPr id="30" name="Text 26"/>
          <p:cNvSpPr txBox="1"/>
          <p:nvPr/>
        </p:nvSpPr>
        <p:spPr>
          <a:xfrm>
            <a:off x="5181600" y="3872922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and glossy</a:t>
            </a:r>
            <a:endParaRPr lang="en-US" sz="648" dirty="0"/>
          </a:p>
        </p:txBody>
      </p:sp>
      <p:sp>
        <p:nvSpPr>
          <p:cNvPr id="31" name="Text 27"/>
          <p:cNvSpPr txBox="1"/>
          <p:nvPr/>
        </p:nvSpPr>
        <p:spPr>
          <a:xfrm>
            <a:off x="4267200" y="41666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</a:t>
            </a:r>
            <a:endParaRPr lang="en-US" sz="480" dirty="0"/>
          </a:p>
        </p:txBody>
      </p:sp>
      <p:sp>
        <p:nvSpPr>
          <p:cNvPr id="32" name="Text 28"/>
          <p:cNvSpPr txBox="1"/>
          <p:nvPr/>
        </p:nvSpPr>
        <p:spPr>
          <a:xfrm>
            <a:off x="5181600" y="4165530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Naturally sweet, caramel-like</a:t>
            </a:r>
            <a:endParaRPr lang="en-US" sz="648" dirty="0"/>
          </a:p>
        </p:txBody>
      </p:sp>
      <p:sp>
        <p:nvSpPr>
          <p:cNvPr id="33" name="Text 29"/>
          <p:cNvSpPr txBox="1"/>
          <p:nvPr/>
        </p:nvSpPr>
        <p:spPr>
          <a:xfrm>
            <a:off x="4267200" y="47641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480" dirty="0"/>
          </a:p>
        </p:txBody>
      </p:sp>
      <p:sp>
        <p:nvSpPr>
          <p:cNvPr id="34" name="Text 30"/>
          <p:cNvSpPr txBox="1"/>
          <p:nvPr/>
        </p:nvSpPr>
        <p:spPr>
          <a:xfrm>
            <a:off x="4267200" y="49469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480" dirty="0"/>
          </a:p>
        </p:txBody>
      </p:sp>
      <p:sp>
        <p:nvSpPr>
          <p:cNvPr id="35" name="Text 31"/>
          <p:cNvSpPr txBox="1"/>
          <p:nvPr/>
        </p:nvSpPr>
        <p:spPr>
          <a:xfrm>
            <a:off x="5181600" y="49469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480" dirty="0"/>
          </a:p>
        </p:txBody>
      </p:sp>
      <p:sp>
        <p:nvSpPr>
          <p:cNvPr id="36" name="Shape 32"/>
          <p:cNvSpPr/>
          <p:nvPr/>
        </p:nvSpPr>
        <p:spPr>
          <a:xfrm>
            <a:off x="4267200" y="5071872"/>
            <a:ext cx="2682240" cy="9144"/>
          </a:xfrm>
          <a:prstGeom prst="rect">
            <a:avLst/>
          </a:prstGeom>
          <a:solidFill>
            <a:srgbClr val="C8BCAC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267200" y="516681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/ size</a:t>
            </a:r>
            <a:endParaRPr lang="en-US" sz="576" dirty="0"/>
          </a:p>
        </p:txBody>
      </p:sp>
      <p:sp>
        <p:nvSpPr>
          <p:cNvPr id="38" name="Text 34"/>
          <p:cNvSpPr txBox="1"/>
          <p:nvPr/>
        </p:nvSpPr>
        <p:spPr>
          <a:xfrm>
            <a:off x="5181600" y="5166817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[SIZE OR COUNT PER KG]</a:t>
            </a:r>
            <a:endParaRPr lang="en-US" sz="576" dirty="0"/>
          </a:p>
        </p:txBody>
      </p:sp>
      <p:sp>
        <p:nvSpPr>
          <p:cNvPr id="39" name="Text 35"/>
          <p:cNvSpPr txBox="1"/>
          <p:nvPr/>
        </p:nvSpPr>
        <p:spPr>
          <a:xfrm>
            <a:off x="6217920" y="5166436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0" name="Shape 36"/>
          <p:cNvSpPr/>
          <p:nvPr/>
        </p:nvSpPr>
        <p:spPr>
          <a:xfrm>
            <a:off x="4267200" y="5370576"/>
            <a:ext cx="268224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267200" y="545942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</a:t>
            </a:r>
            <a:endParaRPr lang="en-US" sz="576" dirty="0"/>
          </a:p>
        </p:txBody>
      </p:sp>
      <p:sp>
        <p:nvSpPr>
          <p:cNvPr id="42" name="Text 38"/>
          <p:cNvSpPr txBox="1"/>
          <p:nvPr/>
        </p:nvSpPr>
        <p:spPr>
          <a:xfrm>
            <a:off x="5181600" y="5459425"/>
            <a:ext cx="103632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[MOISTURE % — ONLY IF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VERIFIED]</a:t>
            </a:r>
            <a:endParaRPr lang="en-US" sz="576" dirty="0"/>
          </a:p>
        </p:txBody>
      </p:sp>
      <p:sp>
        <p:nvSpPr>
          <p:cNvPr id="43" name="Text 39"/>
          <p:cNvSpPr txBox="1"/>
          <p:nvPr/>
        </p:nvSpPr>
        <p:spPr>
          <a:xfrm>
            <a:off x="6217920" y="5459044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4" name="Shape 40"/>
          <p:cNvSpPr/>
          <p:nvPr/>
        </p:nvSpPr>
        <p:spPr>
          <a:xfrm>
            <a:off x="4267200" y="5663184"/>
            <a:ext cx="268224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4267200" y="575203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</a:t>
            </a:r>
            <a:endParaRPr lang="en-US" sz="576" dirty="0"/>
          </a:p>
        </p:txBody>
      </p:sp>
      <p:sp>
        <p:nvSpPr>
          <p:cNvPr id="46" name="Text 42"/>
          <p:cNvSpPr txBox="1"/>
          <p:nvPr/>
        </p:nvSpPr>
        <p:spPr>
          <a:xfrm>
            <a:off x="5181600" y="5752033"/>
            <a:ext cx="103632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[RETAIL PACK + BULK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CARTON]</a:t>
            </a:r>
            <a:endParaRPr lang="en-US" sz="576" dirty="0"/>
          </a:p>
        </p:txBody>
      </p:sp>
      <p:sp>
        <p:nvSpPr>
          <p:cNvPr id="47" name="Text 43"/>
          <p:cNvSpPr txBox="1"/>
          <p:nvPr/>
        </p:nvSpPr>
        <p:spPr>
          <a:xfrm>
            <a:off x="6217920" y="5751652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8" name="Shape 44"/>
          <p:cNvSpPr/>
          <p:nvPr/>
        </p:nvSpPr>
        <p:spPr>
          <a:xfrm>
            <a:off x="4267200" y="5955792"/>
            <a:ext cx="268224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4267200" y="604464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Shelf life</a:t>
            </a:r>
            <a:endParaRPr lang="en-US" sz="576" dirty="0"/>
          </a:p>
        </p:txBody>
      </p:sp>
      <p:sp>
        <p:nvSpPr>
          <p:cNvPr id="50" name="Text 46"/>
          <p:cNvSpPr txBox="1"/>
          <p:nvPr/>
        </p:nvSpPr>
        <p:spPr>
          <a:xfrm>
            <a:off x="5181600" y="604464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[SHELF LIFE IN MONTHS]</a:t>
            </a:r>
            <a:endParaRPr lang="en-US" sz="576" dirty="0"/>
          </a:p>
        </p:txBody>
      </p:sp>
      <p:sp>
        <p:nvSpPr>
          <p:cNvPr id="51" name="Text 47"/>
          <p:cNvSpPr txBox="1"/>
          <p:nvPr/>
        </p:nvSpPr>
        <p:spPr>
          <a:xfrm>
            <a:off x="6217920" y="60442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52" name="Text 48"/>
          <p:cNvSpPr txBox="1"/>
          <p:nvPr/>
        </p:nvSpPr>
        <p:spPr>
          <a:xfrm>
            <a:off x="4267200" y="65929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BUYERS CHOOSE IT</a:t>
            </a:r>
            <a:endParaRPr lang="en-US" sz="480" dirty="0"/>
          </a:p>
        </p:txBody>
      </p:sp>
      <p:sp>
        <p:nvSpPr>
          <p:cNvPr id="53" name="Shape 49"/>
          <p:cNvSpPr/>
          <p:nvPr/>
        </p:nvSpPr>
        <p:spPr>
          <a:xfrm>
            <a:off x="4267200" y="6809232"/>
            <a:ext cx="30480" cy="3048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4376928" y="6785915"/>
            <a:ext cx="2572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grading and count — the specification is agreed before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packing, not after.</a:t>
            </a:r>
            <a:endParaRPr lang="en-US" sz="576" dirty="0"/>
          </a:p>
        </p:txBody>
      </p:sp>
      <p:sp>
        <p:nvSpPr>
          <p:cNvPr id="55" name="Shape 51"/>
          <p:cNvSpPr/>
          <p:nvPr/>
        </p:nvSpPr>
        <p:spPr>
          <a:xfrm>
            <a:off x="4267200" y="7071360"/>
            <a:ext cx="30480" cy="3048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4376928" y="7048043"/>
            <a:ext cx="257251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strongest repeat-demand variety in India, the Gulf and East Africa.</a:t>
            </a:r>
            <a:endParaRPr lang="en-US" sz="576" dirty="0"/>
          </a:p>
        </p:txBody>
      </p:sp>
      <p:sp>
        <p:nvSpPr>
          <p:cNvPr id="57" name="Shape 53"/>
          <p:cNvSpPr/>
          <p:nvPr/>
        </p:nvSpPr>
        <p:spPr>
          <a:xfrm>
            <a:off x="4267200" y="7333488"/>
            <a:ext cx="30480" cy="3048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4376928" y="7310171"/>
            <a:ext cx="257251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Dense, dark fruit that keeps its retail look through the supply chain.</a:t>
            </a:r>
            <a:endParaRPr lang="en-US" sz="576" dirty="0"/>
          </a:p>
        </p:txBody>
      </p:sp>
      <p:sp>
        <p:nvSpPr>
          <p:cNvPr id="59" name="Shape 55"/>
          <p:cNvSpPr/>
          <p:nvPr/>
        </p:nvSpPr>
        <p:spPr>
          <a:xfrm>
            <a:off x="4267200" y="7741920"/>
            <a:ext cx="2682240" cy="128016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60" name="Shape 56"/>
          <p:cNvSpPr/>
          <p:nvPr/>
        </p:nvSpPr>
        <p:spPr>
          <a:xfrm>
            <a:off x="4267200" y="774192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4419600" y="7886042"/>
            <a:ext cx="23774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for a Mazafati quote?</a:t>
            </a:r>
            <a:endParaRPr lang="en-US" sz="912" dirty="0"/>
          </a:p>
        </p:txBody>
      </p:sp>
      <p:sp>
        <p:nvSpPr>
          <p:cNvPr id="62" name="Text 58"/>
          <p:cNvSpPr txBox="1"/>
          <p:nvPr/>
        </p:nvSpPr>
        <p:spPr>
          <a:xfrm>
            <a:off x="4419600" y="812703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us the pack format, the target quantity and the destination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port. We will come back with a specification and an offer.</a:t>
            </a:r>
            <a:endParaRPr lang="en-US" sz="576" dirty="0"/>
          </a:p>
        </p:txBody>
      </p:sp>
      <p:sp>
        <p:nvSpPr>
          <p:cNvPr id="63" name="Text 59"/>
          <p:cNvSpPr txBox="1"/>
          <p:nvPr/>
        </p:nvSpPr>
        <p:spPr>
          <a:xfrm>
            <a:off x="4419600" y="86948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[CONTACT EMAIL]</a:t>
            </a:r>
            <a:endParaRPr lang="en-US" sz="648" dirty="0"/>
          </a:p>
        </p:txBody>
      </p:sp>
      <p:sp>
        <p:nvSpPr>
          <p:cNvPr id="64" name="Text 60"/>
          <p:cNvSpPr txBox="1"/>
          <p:nvPr/>
        </p:nvSpPr>
        <p:spPr>
          <a:xfrm>
            <a:off x="4267200" y="9218543"/>
            <a:ext cx="268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Mazafati · Bam, Kerman · [SEASON] pack.</a:t>
            </a:r>
            <a:endParaRPr lang="en-US" sz="504" dirty="0"/>
          </a:p>
        </p:txBody>
      </p:sp>
      <p:sp>
        <p:nvSpPr>
          <p:cNvPr id="65" name="Text 61"/>
          <p:cNvSpPr txBox="1"/>
          <p:nvPr/>
        </p:nvSpPr>
        <p:spPr>
          <a:xfrm>
            <a:off x="4267200" y="9340463"/>
            <a:ext cx="268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Mazafati — packed and graded for export.</a:t>
            </a:r>
            <a:endParaRPr lang="en-US" sz="50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2133600"/>
            <a:ext cx="2773680" cy="5791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8046720"/>
            <a:ext cx="2773680" cy="1280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6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MEDJOUL</a:t>
            </a:r>
            <a:endParaRPr lang="en-US" sz="456" dirty="0"/>
          </a:p>
        </p:txBody>
      </p:sp>
      <p:sp>
        <p:nvSpPr>
          <p:cNvPr id="7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456" dirty="0"/>
          </a:p>
        </p:txBody>
      </p:sp>
      <p:sp>
        <p:nvSpPr>
          <p:cNvPr id="8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9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11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2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456" dirty="0"/>
          </a:p>
        </p:txBody>
      </p:sp>
      <p:sp>
        <p:nvSpPr>
          <p:cNvPr id="13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PREMIUM VARIETY</a:t>
            </a:r>
            <a:endParaRPr lang="en-US" sz="552" dirty="0"/>
          </a:p>
        </p:txBody>
      </p:sp>
      <p:sp>
        <p:nvSpPr>
          <p:cNvPr id="14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Medjoul</a:t>
            </a:r>
            <a:endParaRPr lang="en-US" sz="2112" dirty="0"/>
          </a:p>
        </p:txBody>
      </p:sp>
      <p:sp>
        <p:nvSpPr>
          <p:cNvPr id="15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18160" y="1827105"/>
            <a:ext cx="420624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Large, amber-brown and very high in sugar. Medjoul is the gifting date of the range — larger fruit, higher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per kilo, tighter margins.</a:t>
            </a:r>
            <a:endParaRPr lang="en-US" sz="648" dirty="0"/>
          </a:p>
        </p:txBody>
      </p:sp>
      <p:sp>
        <p:nvSpPr>
          <p:cNvPr id="17" name="Shape 13"/>
          <p:cNvSpPr/>
          <p:nvPr/>
        </p:nvSpPr>
        <p:spPr>
          <a:xfrm>
            <a:off x="518160" y="2133600"/>
            <a:ext cx="2682240" cy="536448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8" name="Shape 14"/>
          <p:cNvSpPr/>
          <p:nvPr/>
        </p:nvSpPr>
        <p:spPr>
          <a:xfrm>
            <a:off x="518160" y="2133600"/>
            <a:ext cx="3352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0560" y="224748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32" spc="101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32" dirty="0"/>
          </a:p>
        </p:txBody>
      </p:sp>
      <p:sp>
        <p:nvSpPr>
          <p:cNvPr id="20" name="Text 16"/>
          <p:cNvSpPr txBox="1"/>
          <p:nvPr/>
        </p:nvSpPr>
        <p:spPr>
          <a:xfrm>
            <a:off x="670560" y="2344778"/>
            <a:ext cx="23774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Bam &amp; Saravan</a:t>
            </a:r>
            <a:endParaRPr lang="en-US" sz="912" dirty="0"/>
          </a:p>
        </p:txBody>
      </p:sp>
      <p:sp>
        <p:nvSpPr>
          <p:cNvPr id="21" name="Text 17"/>
          <p:cNvSpPr txBox="1"/>
          <p:nvPr/>
        </p:nvSpPr>
        <p:spPr>
          <a:xfrm>
            <a:off x="670560" y="2555615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Kerman / Sistan &amp; Baluchestan</a:t>
            </a:r>
            <a:endParaRPr lang="en-US" sz="504" dirty="0"/>
          </a:p>
        </p:txBody>
      </p:sp>
      <p:sp>
        <p:nvSpPr>
          <p:cNvPr id="22" name="Text 18"/>
          <p:cNvSpPr txBox="1"/>
          <p:nvPr/>
        </p:nvSpPr>
        <p:spPr>
          <a:xfrm>
            <a:off x="518160" y="2813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480" dirty="0"/>
          </a:p>
        </p:txBody>
      </p:sp>
      <p:sp>
        <p:nvSpPr>
          <p:cNvPr id="23" name="Text 19"/>
          <p:cNvSpPr txBox="1"/>
          <p:nvPr/>
        </p:nvSpPr>
        <p:spPr>
          <a:xfrm>
            <a:off x="518160" y="29962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</a:t>
            </a:r>
            <a:endParaRPr lang="en-US" sz="480" dirty="0"/>
          </a:p>
        </p:txBody>
      </p:sp>
      <p:sp>
        <p:nvSpPr>
          <p:cNvPr id="24" name="Text 20"/>
          <p:cNvSpPr txBox="1"/>
          <p:nvPr/>
        </p:nvSpPr>
        <p:spPr>
          <a:xfrm>
            <a:off x="1432560" y="2995098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Medjoul (Medjool)</a:t>
            </a:r>
            <a:endParaRPr lang="en-US" sz="648" dirty="0"/>
          </a:p>
        </p:txBody>
      </p:sp>
      <p:sp>
        <p:nvSpPr>
          <p:cNvPr id="25" name="Text 21"/>
          <p:cNvSpPr txBox="1"/>
          <p:nvPr/>
        </p:nvSpPr>
        <p:spPr>
          <a:xfrm>
            <a:off x="518160" y="32888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480" dirty="0"/>
          </a:p>
        </p:txBody>
      </p:sp>
      <p:sp>
        <p:nvSpPr>
          <p:cNvPr id="26" name="Text 22"/>
          <p:cNvSpPr txBox="1"/>
          <p:nvPr/>
        </p:nvSpPr>
        <p:spPr>
          <a:xfrm>
            <a:off x="1432560" y="3287706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648" dirty="0"/>
          </a:p>
        </p:txBody>
      </p:sp>
      <p:sp>
        <p:nvSpPr>
          <p:cNvPr id="27" name="Text 23"/>
          <p:cNvSpPr txBox="1"/>
          <p:nvPr/>
        </p:nvSpPr>
        <p:spPr>
          <a:xfrm>
            <a:off x="518160" y="35814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</a:t>
            </a:r>
            <a:endParaRPr lang="en-US" sz="480" dirty="0"/>
          </a:p>
        </p:txBody>
      </p:sp>
      <p:sp>
        <p:nvSpPr>
          <p:cNvPr id="28" name="Text 24"/>
          <p:cNvSpPr txBox="1"/>
          <p:nvPr/>
        </p:nvSpPr>
        <p:spPr>
          <a:xfrm>
            <a:off x="1432560" y="3580314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to deep brown</a:t>
            </a:r>
            <a:endParaRPr lang="en-US" sz="648" dirty="0"/>
          </a:p>
        </p:txBody>
      </p:sp>
      <p:sp>
        <p:nvSpPr>
          <p:cNvPr id="29" name="Text 25"/>
          <p:cNvSpPr txBox="1"/>
          <p:nvPr/>
        </p:nvSpPr>
        <p:spPr>
          <a:xfrm>
            <a:off x="518160" y="38740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</a:t>
            </a:r>
            <a:endParaRPr lang="en-US" sz="480" dirty="0"/>
          </a:p>
        </p:txBody>
      </p:sp>
      <p:sp>
        <p:nvSpPr>
          <p:cNvPr id="30" name="Text 26"/>
          <p:cNvSpPr txBox="1"/>
          <p:nvPr/>
        </p:nvSpPr>
        <p:spPr>
          <a:xfrm>
            <a:off x="1432560" y="3872922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Thick and wrinkled</a:t>
            </a:r>
            <a:endParaRPr lang="en-US" sz="648" dirty="0"/>
          </a:p>
        </p:txBody>
      </p:sp>
      <p:sp>
        <p:nvSpPr>
          <p:cNvPr id="31" name="Text 27"/>
          <p:cNvSpPr txBox="1"/>
          <p:nvPr/>
        </p:nvSpPr>
        <p:spPr>
          <a:xfrm>
            <a:off x="518160" y="41666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</a:t>
            </a:r>
            <a:endParaRPr lang="en-US" sz="480" dirty="0"/>
          </a:p>
        </p:txBody>
      </p:sp>
      <p:sp>
        <p:nvSpPr>
          <p:cNvPr id="32" name="Text 28"/>
          <p:cNvSpPr txBox="1"/>
          <p:nvPr/>
        </p:nvSpPr>
        <p:spPr>
          <a:xfrm>
            <a:off x="1432560" y="4165530"/>
            <a:ext cx="176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sweet, caramel and fig-like</a:t>
            </a:r>
            <a:endParaRPr lang="en-US" sz="648" dirty="0"/>
          </a:p>
        </p:txBody>
      </p:sp>
      <p:sp>
        <p:nvSpPr>
          <p:cNvPr id="33" name="Text 29"/>
          <p:cNvSpPr txBox="1"/>
          <p:nvPr/>
        </p:nvSpPr>
        <p:spPr>
          <a:xfrm>
            <a:off x="518160" y="47641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480" dirty="0"/>
          </a:p>
        </p:txBody>
      </p:sp>
      <p:sp>
        <p:nvSpPr>
          <p:cNvPr id="34" name="Text 30"/>
          <p:cNvSpPr txBox="1"/>
          <p:nvPr/>
        </p:nvSpPr>
        <p:spPr>
          <a:xfrm>
            <a:off x="518160" y="49469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480" dirty="0"/>
          </a:p>
        </p:txBody>
      </p:sp>
      <p:sp>
        <p:nvSpPr>
          <p:cNvPr id="35" name="Text 31"/>
          <p:cNvSpPr txBox="1"/>
          <p:nvPr/>
        </p:nvSpPr>
        <p:spPr>
          <a:xfrm>
            <a:off x="1432560" y="49469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480" dirty="0"/>
          </a:p>
        </p:txBody>
      </p:sp>
      <p:sp>
        <p:nvSpPr>
          <p:cNvPr id="36" name="Shape 32"/>
          <p:cNvSpPr/>
          <p:nvPr/>
        </p:nvSpPr>
        <p:spPr>
          <a:xfrm>
            <a:off x="518160" y="5071872"/>
            <a:ext cx="2682240" cy="9144"/>
          </a:xfrm>
          <a:prstGeom prst="rect">
            <a:avLst/>
          </a:prstGeom>
          <a:solidFill>
            <a:srgbClr val="C8BCAC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518160" y="516681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/ size</a:t>
            </a:r>
            <a:endParaRPr lang="en-US" sz="576" dirty="0"/>
          </a:p>
        </p:txBody>
      </p:sp>
      <p:sp>
        <p:nvSpPr>
          <p:cNvPr id="38" name="Text 34"/>
          <p:cNvSpPr txBox="1"/>
          <p:nvPr/>
        </p:nvSpPr>
        <p:spPr>
          <a:xfrm>
            <a:off x="1432560" y="5166817"/>
            <a:ext cx="103632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[COUNT PER KG: LARGE /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LARGE]</a:t>
            </a:r>
            <a:endParaRPr lang="en-US" sz="576" dirty="0"/>
          </a:p>
        </p:txBody>
      </p:sp>
      <p:sp>
        <p:nvSpPr>
          <p:cNvPr id="39" name="Text 35"/>
          <p:cNvSpPr txBox="1"/>
          <p:nvPr/>
        </p:nvSpPr>
        <p:spPr>
          <a:xfrm>
            <a:off x="2468880" y="5166436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0" name="Shape 36"/>
          <p:cNvSpPr/>
          <p:nvPr/>
        </p:nvSpPr>
        <p:spPr>
          <a:xfrm>
            <a:off x="518160" y="5370576"/>
            <a:ext cx="268224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518160" y="545942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</a:t>
            </a:r>
            <a:endParaRPr lang="en-US" sz="576" dirty="0"/>
          </a:p>
        </p:txBody>
      </p:sp>
      <p:sp>
        <p:nvSpPr>
          <p:cNvPr id="42" name="Text 38"/>
          <p:cNvSpPr txBox="1"/>
          <p:nvPr/>
        </p:nvSpPr>
        <p:spPr>
          <a:xfrm>
            <a:off x="1432560" y="5459425"/>
            <a:ext cx="103632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[MOISTURE % — ONLY IF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VERIFIED]</a:t>
            </a:r>
            <a:endParaRPr lang="en-US" sz="576" dirty="0"/>
          </a:p>
        </p:txBody>
      </p:sp>
      <p:sp>
        <p:nvSpPr>
          <p:cNvPr id="43" name="Text 39"/>
          <p:cNvSpPr txBox="1"/>
          <p:nvPr/>
        </p:nvSpPr>
        <p:spPr>
          <a:xfrm>
            <a:off x="2468880" y="5459044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4" name="Shape 40"/>
          <p:cNvSpPr/>
          <p:nvPr/>
        </p:nvSpPr>
        <p:spPr>
          <a:xfrm>
            <a:off x="518160" y="5663184"/>
            <a:ext cx="268224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518160" y="575203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</a:t>
            </a:r>
            <a:endParaRPr lang="en-US" sz="576" dirty="0"/>
          </a:p>
        </p:txBody>
      </p:sp>
      <p:sp>
        <p:nvSpPr>
          <p:cNvPr id="46" name="Text 42"/>
          <p:cNvSpPr txBox="1"/>
          <p:nvPr/>
        </p:nvSpPr>
        <p:spPr>
          <a:xfrm>
            <a:off x="1432560" y="5752033"/>
            <a:ext cx="103632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[TRAY / CLAMSHELL / GIFT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BOX]</a:t>
            </a:r>
            <a:endParaRPr lang="en-US" sz="576" dirty="0"/>
          </a:p>
        </p:txBody>
      </p:sp>
      <p:sp>
        <p:nvSpPr>
          <p:cNvPr id="47" name="Text 43"/>
          <p:cNvSpPr txBox="1"/>
          <p:nvPr/>
        </p:nvSpPr>
        <p:spPr>
          <a:xfrm>
            <a:off x="2468880" y="5751652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8" name="Shape 44"/>
          <p:cNvSpPr/>
          <p:nvPr/>
        </p:nvSpPr>
        <p:spPr>
          <a:xfrm>
            <a:off x="518160" y="5955792"/>
            <a:ext cx="268224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518160" y="604464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Shelf life</a:t>
            </a:r>
            <a:endParaRPr lang="en-US" sz="576" dirty="0"/>
          </a:p>
        </p:txBody>
      </p:sp>
      <p:sp>
        <p:nvSpPr>
          <p:cNvPr id="50" name="Text 46"/>
          <p:cNvSpPr txBox="1"/>
          <p:nvPr/>
        </p:nvSpPr>
        <p:spPr>
          <a:xfrm>
            <a:off x="1432560" y="604464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[SHELF LIFE IN MONTHS]</a:t>
            </a:r>
            <a:endParaRPr lang="en-US" sz="576" dirty="0"/>
          </a:p>
        </p:txBody>
      </p:sp>
      <p:sp>
        <p:nvSpPr>
          <p:cNvPr id="51" name="Text 47"/>
          <p:cNvSpPr txBox="1"/>
          <p:nvPr/>
        </p:nvSpPr>
        <p:spPr>
          <a:xfrm>
            <a:off x="2468880" y="60442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52" name="Text 48"/>
          <p:cNvSpPr txBox="1"/>
          <p:nvPr/>
        </p:nvSpPr>
        <p:spPr>
          <a:xfrm>
            <a:off x="518160" y="65929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BUYERS CHOOSE IT</a:t>
            </a:r>
            <a:endParaRPr lang="en-US" sz="480" dirty="0"/>
          </a:p>
        </p:txBody>
      </p:sp>
      <p:sp>
        <p:nvSpPr>
          <p:cNvPr id="53" name="Shape 49"/>
          <p:cNvSpPr/>
          <p:nvPr/>
        </p:nvSpPr>
        <p:spPr>
          <a:xfrm>
            <a:off x="518160" y="6809232"/>
            <a:ext cx="30480" cy="3048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627888" y="6785915"/>
            <a:ext cx="2572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highest value per kilo in the range — priced for gifting and seasonal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packs.</a:t>
            </a:r>
            <a:endParaRPr lang="en-US" sz="576" dirty="0"/>
          </a:p>
        </p:txBody>
      </p:sp>
      <p:sp>
        <p:nvSpPr>
          <p:cNvPr id="55" name="Shape 51"/>
          <p:cNvSpPr/>
          <p:nvPr/>
        </p:nvSpPr>
        <p:spPr>
          <a:xfrm>
            <a:off x="518160" y="7071360"/>
            <a:ext cx="30480" cy="3048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627888" y="7048043"/>
            <a:ext cx="257251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Large, uniform fruit that presents well in clamshell and gift-box formats.</a:t>
            </a:r>
            <a:endParaRPr lang="en-US" sz="576" dirty="0"/>
          </a:p>
        </p:txBody>
      </p:sp>
      <p:sp>
        <p:nvSpPr>
          <p:cNvPr id="57" name="Shape 53"/>
          <p:cNvSpPr/>
          <p:nvPr/>
        </p:nvSpPr>
        <p:spPr>
          <a:xfrm>
            <a:off x="518160" y="7333488"/>
            <a:ext cx="30480" cy="3048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627888" y="7310171"/>
            <a:ext cx="2572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Sorted by count so premium retail shelves get an even grade, not a mixed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one.</a:t>
            </a:r>
            <a:endParaRPr lang="en-US" sz="576" dirty="0"/>
          </a:p>
        </p:txBody>
      </p:sp>
      <p:sp>
        <p:nvSpPr>
          <p:cNvPr id="59" name="Shape 55"/>
          <p:cNvSpPr/>
          <p:nvPr/>
        </p:nvSpPr>
        <p:spPr>
          <a:xfrm>
            <a:off x="518160" y="7741920"/>
            <a:ext cx="2682240" cy="128016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60" name="Shape 56"/>
          <p:cNvSpPr/>
          <p:nvPr/>
        </p:nvSpPr>
        <p:spPr>
          <a:xfrm>
            <a:off x="518160" y="774192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670560" y="7886042"/>
            <a:ext cx="23774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Ready for a Medjoul quote?</a:t>
            </a:r>
            <a:endParaRPr lang="en-US" sz="912" dirty="0"/>
          </a:p>
        </p:txBody>
      </p:sp>
      <p:sp>
        <p:nvSpPr>
          <p:cNvPr id="62" name="Text 58"/>
          <p:cNvSpPr txBox="1"/>
          <p:nvPr/>
        </p:nvSpPr>
        <p:spPr>
          <a:xfrm>
            <a:off x="670560" y="812703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us the grade, the pack and the quantity. We will confirm what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harvest supports and quote from there.</a:t>
            </a:r>
            <a:endParaRPr lang="en-US" sz="576" dirty="0"/>
          </a:p>
        </p:txBody>
      </p:sp>
      <p:sp>
        <p:nvSpPr>
          <p:cNvPr id="63" name="Text 59"/>
          <p:cNvSpPr txBox="1"/>
          <p:nvPr/>
        </p:nvSpPr>
        <p:spPr>
          <a:xfrm>
            <a:off x="670560" y="86948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[CONTACT EMAIL]</a:t>
            </a:r>
            <a:endParaRPr lang="en-US" sz="648" dirty="0"/>
          </a:p>
        </p:txBody>
      </p:sp>
      <p:sp>
        <p:nvSpPr>
          <p:cNvPr id="64" name="Text 60"/>
          <p:cNvSpPr txBox="1"/>
          <p:nvPr/>
        </p:nvSpPr>
        <p:spPr>
          <a:xfrm>
            <a:off x="518160" y="9218543"/>
            <a:ext cx="268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Medjoul · Bam &amp; Saravan · [SEASON] pack.</a:t>
            </a:r>
            <a:endParaRPr lang="en-US" sz="504" dirty="0"/>
          </a:p>
        </p:txBody>
      </p:sp>
      <p:sp>
        <p:nvSpPr>
          <p:cNvPr id="65" name="Text 61"/>
          <p:cNvSpPr txBox="1"/>
          <p:nvPr/>
        </p:nvSpPr>
        <p:spPr>
          <a:xfrm>
            <a:off x="518160" y="9340463"/>
            <a:ext cx="268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Medjoul — packed and graded for export.</a:t>
            </a:r>
            <a:endParaRPr lang="en-US" sz="50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ZAHEDI &amp; KIMRI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TWO MORE STAPLES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Zahedi &amp; Kimri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45720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dry, one soft — and both in constant demand. Zahedi travels; Kimri sells by volume. Buyers often take them in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order.</a:t>
            </a:r>
            <a:endParaRPr lang="en-US" sz="648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194560"/>
            <a:ext cx="3048000" cy="17068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18160" y="3970569"/>
            <a:ext cx="36576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Zahedi</a:t>
            </a:r>
            <a:endParaRPr lang="en-US" sz="1440" dirty="0"/>
          </a:p>
        </p:txBody>
      </p:sp>
      <p:sp>
        <p:nvSpPr>
          <p:cNvPr id="17" name="Text 14"/>
          <p:cNvSpPr txBox="1"/>
          <p:nvPr/>
        </p:nvSpPr>
        <p:spPr>
          <a:xfrm>
            <a:off x="518160" y="42459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18" name="Shape 15"/>
          <p:cNvSpPr/>
          <p:nvPr/>
        </p:nvSpPr>
        <p:spPr>
          <a:xfrm>
            <a:off x="1524000" y="3962400"/>
            <a:ext cx="2042160" cy="45720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9" name="Shape 16"/>
          <p:cNvSpPr/>
          <p:nvPr/>
        </p:nvSpPr>
        <p:spPr>
          <a:xfrm>
            <a:off x="1524000" y="3962400"/>
            <a:ext cx="3352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676400" y="407628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32" spc="101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32" dirty="0"/>
          </a:p>
        </p:txBody>
      </p:sp>
      <p:sp>
        <p:nvSpPr>
          <p:cNvPr id="21" name="Text 18"/>
          <p:cNvSpPr txBox="1"/>
          <p:nvPr/>
        </p:nvSpPr>
        <p:spPr>
          <a:xfrm>
            <a:off x="1676400" y="4173578"/>
            <a:ext cx="17373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Dashtestan &amp; Kazerun</a:t>
            </a:r>
            <a:endParaRPr lang="en-US" sz="912" dirty="0"/>
          </a:p>
        </p:txBody>
      </p:sp>
      <p:sp>
        <p:nvSpPr>
          <p:cNvPr id="22" name="Text 19"/>
          <p:cNvSpPr txBox="1"/>
          <p:nvPr/>
        </p:nvSpPr>
        <p:spPr>
          <a:xfrm>
            <a:off x="1676400" y="430516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Fars</a:t>
            </a:r>
            <a:endParaRPr lang="en-US" sz="504" dirty="0"/>
          </a:p>
        </p:txBody>
      </p:sp>
      <p:sp>
        <p:nvSpPr>
          <p:cNvPr id="23" name="Text 20"/>
          <p:cNvSpPr txBox="1"/>
          <p:nvPr/>
        </p:nvSpPr>
        <p:spPr>
          <a:xfrm>
            <a:off x="518160" y="4594689"/>
            <a:ext cx="30480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Golden, wrinkled and firm, with a long shelf life and a nut-like bite. Zahedi is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workhorse for long-haul shipping and industrial buyers.</a:t>
            </a:r>
            <a:endParaRPr lang="en-US" sz="648" dirty="0"/>
          </a:p>
        </p:txBody>
      </p:sp>
      <p:sp>
        <p:nvSpPr>
          <p:cNvPr id="24" name="Text 21"/>
          <p:cNvSpPr txBox="1"/>
          <p:nvPr/>
        </p:nvSpPr>
        <p:spPr>
          <a:xfrm>
            <a:off x="518160" y="52517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480" dirty="0"/>
          </a:p>
        </p:txBody>
      </p:sp>
      <p:sp>
        <p:nvSpPr>
          <p:cNvPr id="25" name="Text 22"/>
          <p:cNvSpPr txBox="1"/>
          <p:nvPr/>
        </p:nvSpPr>
        <p:spPr>
          <a:xfrm>
            <a:off x="518160" y="543504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/ size</a:t>
            </a:r>
            <a:endParaRPr lang="en-US" sz="576" dirty="0"/>
          </a:p>
        </p:txBody>
      </p:sp>
      <p:sp>
        <p:nvSpPr>
          <p:cNvPr id="26" name="Text 23"/>
          <p:cNvSpPr txBox="1"/>
          <p:nvPr/>
        </p:nvSpPr>
        <p:spPr>
          <a:xfrm>
            <a:off x="1432560" y="5435041"/>
            <a:ext cx="140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[SIZE OR COUNT PER KG]</a:t>
            </a:r>
            <a:endParaRPr lang="en-US" sz="576" dirty="0"/>
          </a:p>
        </p:txBody>
      </p:sp>
      <p:sp>
        <p:nvSpPr>
          <p:cNvPr id="27" name="Text 24"/>
          <p:cNvSpPr txBox="1"/>
          <p:nvPr/>
        </p:nvSpPr>
        <p:spPr>
          <a:xfrm>
            <a:off x="2834640" y="54346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28" name="Shape 25"/>
          <p:cNvSpPr/>
          <p:nvPr/>
        </p:nvSpPr>
        <p:spPr>
          <a:xfrm>
            <a:off x="518160" y="5626608"/>
            <a:ext cx="304800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18160" y="571545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</a:t>
            </a:r>
            <a:endParaRPr lang="en-US" sz="576" dirty="0"/>
          </a:p>
        </p:txBody>
      </p:sp>
      <p:sp>
        <p:nvSpPr>
          <p:cNvPr id="30" name="Text 27"/>
          <p:cNvSpPr txBox="1"/>
          <p:nvPr/>
        </p:nvSpPr>
        <p:spPr>
          <a:xfrm>
            <a:off x="1432560" y="5715457"/>
            <a:ext cx="14020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[MOISTURE % — ONLY IF LAB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VERIFIED]</a:t>
            </a:r>
            <a:endParaRPr lang="en-US" sz="576" dirty="0"/>
          </a:p>
        </p:txBody>
      </p:sp>
      <p:sp>
        <p:nvSpPr>
          <p:cNvPr id="31" name="Text 28"/>
          <p:cNvSpPr txBox="1"/>
          <p:nvPr/>
        </p:nvSpPr>
        <p:spPr>
          <a:xfrm>
            <a:off x="2834640" y="5715076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32" name="Shape 29"/>
          <p:cNvSpPr/>
          <p:nvPr/>
        </p:nvSpPr>
        <p:spPr>
          <a:xfrm>
            <a:off x="518160" y="5907024"/>
            <a:ext cx="304800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8160" y="599587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Shelf life</a:t>
            </a:r>
            <a:endParaRPr lang="en-US" sz="576" dirty="0"/>
          </a:p>
        </p:txBody>
      </p:sp>
      <p:sp>
        <p:nvSpPr>
          <p:cNvPr id="34" name="Text 31"/>
          <p:cNvSpPr txBox="1"/>
          <p:nvPr/>
        </p:nvSpPr>
        <p:spPr>
          <a:xfrm>
            <a:off x="1432560" y="5995873"/>
            <a:ext cx="140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[SHELF LIFE IN MONTHS]</a:t>
            </a:r>
            <a:endParaRPr lang="en-US" sz="576" dirty="0"/>
          </a:p>
        </p:txBody>
      </p:sp>
      <p:sp>
        <p:nvSpPr>
          <p:cNvPr id="35" name="Text 32"/>
          <p:cNvSpPr txBox="1"/>
          <p:nvPr/>
        </p:nvSpPr>
        <p:spPr>
          <a:xfrm>
            <a:off x="2834640" y="5995492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2194560"/>
            <a:ext cx="3048000" cy="170688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3992880" y="3970569"/>
            <a:ext cx="36576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Kimri</a:t>
            </a:r>
            <a:endParaRPr lang="en-US" sz="1440" dirty="0"/>
          </a:p>
        </p:txBody>
      </p:sp>
      <p:sp>
        <p:nvSpPr>
          <p:cNvPr id="38" name="Text 34"/>
          <p:cNvSpPr txBox="1"/>
          <p:nvPr/>
        </p:nvSpPr>
        <p:spPr>
          <a:xfrm>
            <a:off x="3992880" y="42459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39" name="Shape 35"/>
          <p:cNvSpPr/>
          <p:nvPr/>
        </p:nvSpPr>
        <p:spPr>
          <a:xfrm>
            <a:off x="4998720" y="3962400"/>
            <a:ext cx="2042160" cy="45720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40" name="Shape 36"/>
          <p:cNvSpPr/>
          <p:nvPr/>
        </p:nvSpPr>
        <p:spPr>
          <a:xfrm>
            <a:off x="4998720" y="3962400"/>
            <a:ext cx="3352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5151120" y="407628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32" spc="101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32" dirty="0"/>
          </a:p>
        </p:txBody>
      </p:sp>
      <p:sp>
        <p:nvSpPr>
          <p:cNvPr id="42" name="Text 38"/>
          <p:cNvSpPr txBox="1"/>
          <p:nvPr/>
        </p:nvSpPr>
        <p:spPr>
          <a:xfrm>
            <a:off x="5151120" y="4173578"/>
            <a:ext cx="173736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Bam</a:t>
            </a:r>
            <a:endParaRPr lang="en-US" sz="912" dirty="0"/>
          </a:p>
        </p:txBody>
      </p:sp>
      <p:sp>
        <p:nvSpPr>
          <p:cNvPr id="43" name="Text 39"/>
          <p:cNvSpPr txBox="1"/>
          <p:nvPr/>
        </p:nvSpPr>
        <p:spPr>
          <a:xfrm>
            <a:off x="5151120" y="430516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Kerman</a:t>
            </a:r>
            <a:endParaRPr lang="en-US" sz="504" dirty="0"/>
          </a:p>
        </p:txBody>
      </p:sp>
      <p:sp>
        <p:nvSpPr>
          <p:cNvPr id="44" name="Text 40"/>
          <p:cNvSpPr txBox="1"/>
          <p:nvPr/>
        </p:nvSpPr>
        <p:spPr>
          <a:xfrm>
            <a:off x="3992880" y="4594689"/>
            <a:ext cx="30480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dark and intensely sweet, with a thin skin and a dense, uniform size.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Kimri is the value pack of the range and the easiest to grade consistently.</a:t>
            </a:r>
            <a:endParaRPr lang="en-US" sz="648" dirty="0"/>
          </a:p>
        </p:txBody>
      </p:sp>
      <p:sp>
        <p:nvSpPr>
          <p:cNvPr id="45" name="Text 41"/>
          <p:cNvSpPr txBox="1"/>
          <p:nvPr/>
        </p:nvSpPr>
        <p:spPr>
          <a:xfrm>
            <a:off x="3992880" y="52517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480" dirty="0"/>
          </a:p>
        </p:txBody>
      </p:sp>
      <p:sp>
        <p:nvSpPr>
          <p:cNvPr id="46" name="Text 42"/>
          <p:cNvSpPr txBox="1"/>
          <p:nvPr/>
        </p:nvSpPr>
        <p:spPr>
          <a:xfrm>
            <a:off x="3992880" y="543504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/ size</a:t>
            </a:r>
            <a:endParaRPr lang="en-US" sz="576" dirty="0"/>
          </a:p>
        </p:txBody>
      </p:sp>
      <p:sp>
        <p:nvSpPr>
          <p:cNvPr id="47" name="Text 43"/>
          <p:cNvSpPr txBox="1"/>
          <p:nvPr/>
        </p:nvSpPr>
        <p:spPr>
          <a:xfrm>
            <a:off x="4907280" y="5435041"/>
            <a:ext cx="140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[COUNT PER KG]</a:t>
            </a:r>
            <a:endParaRPr lang="en-US" sz="576" dirty="0"/>
          </a:p>
        </p:txBody>
      </p:sp>
      <p:sp>
        <p:nvSpPr>
          <p:cNvPr id="48" name="Text 44"/>
          <p:cNvSpPr txBox="1"/>
          <p:nvPr/>
        </p:nvSpPr>
        <p:spPr>
          <a:xfrm>
            <a:off x="6309360" y="54346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49" name="Shape 45"/>
          <p:cNvSpPr/>
          <p:nvPr/>
        </p:nvSpPr>
        <p:spPr>
          <a:xfrm>
            <a:off x="3992880" y="5626608"/>
            <a:ext cx="304800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3992880" y="571545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</a:t>
            </a:r>
            <a:endParaRPr lang="en-US" sz="576" dirty="0"/>
          </a:p>
        </p:txBody>
      </p:sp>
      <p:sp>
        <p:nvSpPr>
          <p:cNvPr id="51" name="Text 47"/>
          <p:cNvSpPr txBox="1"/>
          <p:nvPr/>
        </p:nvSpPr>
        <p:spPr>
          <a:xfrm>
            <a:off x="4907280" y="5715457"/>
            <a:ext cx="14020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[MOISTURE % — ONLY IF LAB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VERIFIED]</a:t>
            </a:r>
            <a:endParaRPr lang="en-US" sz="576" dirty="0"/>
          </a:p>
        </p:txBody>
      </p:sp>
      <p:sp>
        <p:nvSpPr>
          <p:cNvPr id="52" name="Text 48"/>
          <p:cNvSpPr txBox="1"/>
          <p:nvPr/>
        </p:nvSpPr>
        <p:spPr>
          <a:xfrm>
            <a:off x="6309360" y="5715076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53" name="Shape 49"/>
          <p:cNvSpPr/>
          <p:nvPr/>
        </p:nvSpPr>
        <p:spPr>
          <a:xfrm>
            <a:off x="3992880" y="5907024"/>
            <a:ext cx="304800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3992880" y="599587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Shelf life</a:t>
            </a:r>
            <a:endParaRPr lang="en-US" sz="576" dirty="0"/>
          </a:p>
        </p:txBody>
      </p:sp>
      <p:sp>
        <p:nvSpPr>
          <p:cNvPr id="55" name="Text 51"/>
          <p:cNvSpPr txBox="1"/>
          <p:nvPr/>
        </p:nvSpPr>
        <p:spPr>
          <a:xfrm>
            <a:off x="4907280" y="5995873"/>
            <a:ext cx="140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[SHELF LIFE IN MONTHS]</a:t>
            </a:r>
            <a:endParaRPr lang="en-US" sz="576" dirty="0"/>
          </a:p>
        </p:txBody>
      </p:sp>
      <p:sp>
        <p:nvSpPr>
          <p:cNvPr id="56" name="Text 52"/>
          <p:cNvSpPr txBox="1"/>
          <p:nvPr/>
        </p:nvSpPr>
        <p:spPr>
          <a:xfrm>
            <a:off x="6309360" y="5995492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27520"/>
            <a:ext cx="7559040" cy="3864864"/>
          </a:xfrm>
          <a:prstGeom prst="rect">
            <a:avLst/>
          </a:prstGeom>
        </p:spPr>
      </p:pic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27520"/>
            <a:ext cx="7559040" cy="3864864"/>
          </a:xfrm>
          <a:prstGeom prst="rect">
            <a:avLst/>
          </a:prstGeom>
        </p:spPr>
      </p:pic>
      <p:sp>
        <p:nvSpPr>
          <p:cNvPr id="59" name="Shape 53"/>
          <p:cNvSpPr/>
          <p:nvPr/>
        </p:nvSpPr>
        <p:spPr>
          <a:xfrm>
            <a:off x="518160" y="780288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518160" y="7932969"/>
            <a:ext cx="48768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Dates are not one product. They are a range.</a:t>
            </a:r>
            <a:endParaRPr lang="en-US" sz="1440" dirty="0"/>
          </a:p>
        </p:txBody>
      </p:sp>
      <p:sp>
        <p:nvSpPr>
          <p:cNvPr id="61" name="Text 55"/>
          <p:cNvSpPr txBox="1"/>
          <p:nvPr/>
        </p:nvSpPr>
        <p:spPr>
          <a:xfrm>
            <a:off x="518160" y="8313249"/>
            <a:ext cx="39624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snack shelf to the dessert kitchen, each variety earns its place by what it does — not by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costs per tonne.</a:t>
            </a:r>
            <a:endParaRPr lang="en-US" sz="648" dirty="0"/>
          </a:p>
        </p:txBody>
      </p:sp>
      <p:sp>
        <p:nvSpPr>
          <p:cNvPr id="62" name="Shape 56"/>
          <p:cNvSpPr/>
          <p:nvPr/>
        </p:nvSpPr>
        <p:spPr>
          <a:xfrm>
            <a:off x="518160" y="8900160"/>
            <a:ext cx="1310640" cy="182880"/>
          </a:xfrm>
          <a:prstGeom prst="rect">
            <a:avLst/>
          </a:prstGeom>
          <a:ln w="42">
            <a:solidFill>
              <a:srgbClr val="C8A25A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518160" y="8962225"/>
            <a:ext cx="131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32" spc="77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BAKERY &amp; DESSERT</a:t>
            </a:r>
            <a:endParaRPr lang="en-US" sz="432" dirty="0"/>
          </a:p>
        </p:txBody>
      </p:sp>
      <p:sp>
        <p:nvSpPr>
          <p:cNvPr id="64" name="Shape 58"/>
          <p:cNvSpPr/>
          <p:nvPr/>
        </p:nvSpPr>
        <p:spPr>
          <a:xfrm>
            <a:off x="2011680" y="8900160"/>
            <a:ext cx="670560" cy="182880"/>
          </a:xfrm>
          <a:prstGeom prst="rect">
            <a:avLst/>
          </a:prstGeom>
          <a:ln w="42">
            <a:solidFill>
              <a:srgbClr val="C8A25A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2011680" y="8962225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32" spc="77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GIFTING</a:t>
            </a:r>
            <a:endParaRPr lang="en-US" sz="432" dirty="0"/>
          </a:p>
        </p:txBody>
      </p:sp>
      <p:sp>
        <p:nvSpPr>
          <p:cNvPr id="66" name="Shape 60"/>
          <p:cNvSpPr/>
          <p:nvPr/>
        </p:nvSpPr>
        <p:spPr>
          <a:xfrm>
            <a:off x="2895600" y="8900160"/>
            <a:ext cx="1219200" cy="182880"/>
          </a:xfrm>
          <a:prstGeom prst="rect">
            <a:avLst/>
          </a:prstGeom>
          <a:ln w="42">
            <a:solidFill>
              <a:srgbClr val="C8A25A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2895600" y="8962225"/>
            <a:ext cx="121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32" spc="77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SNACKING</a:t>
            </a:r>
            <a:endParaRPr lang="en-US" sz="432" dirty="0"/>
          </a:p>
        </p:txBody>
      </p:sp>
      <p:sp>
        <p:nvSpPr>
          <p:cNvPr id="68" name="Shape 62"/>
          <p:cNvSpPr/>
          <p:nvPr/>
        </p:nvSpPr>
        <p:spPr>
          <a:xfrm>
            <a:off x="4328160" y="8900160"/>
            <a:ext cx="1432560" cy="182880"/>
          </a:xfrm>
          <a:prstGeom prst="rect">
            <a:avLst/>
          </a:prstGeom>
          <a:ln w="42">
            <a:solidFill>
              <a:srgbClr val="C8A25A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4328160" y="8962225"/>
            <a:ext cx="143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32" spc="77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MANUFACTURING</a:t>
            </a:r>
            <a:endParaRPr lang="en-US" sz="432" dirty="0"/>
          </a:p>
        </p:txBody>
      </p:sp>
      <p:sp>
        <p:nvSpPr>
          <p:cNvPr id="70" name="Text 64"/>
          <p:cNvSpPr txBox="1"/>
          <p:nvPr/>
        </p:nvSpPr>
        <p:spPr>
          <a:xfrm>
            <a:off x="518160" y="946238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778E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 suggestion — Zahedi and Kimri in the pastry kitchen.</a:t>
            </a:r>
            <a:endParaRPr lang="en-US" sz="50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FURTHER VARIETIES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— FURTHER VARIETIES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Shahani, Najafi, Lasht &amp; Beyond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51816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more Iranian cultivars for the mixed retail box, the processing line and the premium gift tray — each with its own growing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region.</a:t>
            </a:r>
            <a:endParaRPr lang="en-US" sz="648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194560"/>
            <a:ext cx="1493520" cy="10972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18160" y="33750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Shahani</a:t>
            </a:r>
            <a:endParaRPr lang="en-US" sz="912" dirty="0"/>
          </a:p>
        </p:txBody>
      </p:sp>
      <p:sp>
        <p:nvSpPr>
          <p:cNvPr id="17" name="Text 14"/>
          <p:cNvSpPr txBox="1"/>
          <p:nvPr/>
        </p:nvSpPr>
        <p:spPr>
          <a:xfrm>
            <a:off x="518160" y="3575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SEMI-SOFT</a:t>
            </a:r>
            <a:endParaRPr lang="en-US" sz="480" dirty="0"/>
          </a:p>
        </p:txBody>
      </p:sp>
      <p:sp>
        <p:nvSpPr>
          <p:cNvPr id="18" name="Text 15"/>
          <p:cNvSpPr txBox="1"/>
          <p:nvPr/>
        </p:nvSpPr>
        <p:spPr>
          <a:xfrm>
            <a:off x="518160" y="3697300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JIROFT &amp; KAHNOJ · KERMAN</a:t>
            </a:r>
            <a:endParaRPr lang="en-US" sz="480" dirty="0"/>
          </a:p>
        </p:txBody>
      </p:sp>
      <p:sp>
        <p:nvSpPr>
          <p:cNvPr id="19" name="Text 16"/>
          <p:cNvSpPr txBox="1"/>
          <p:nvPr/>
        </p:nvSpPr>
        <p:spPr>
          <a:xfrm>
            <a:off x="518160" y="3859835"/>
            <a:ext cx="149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Mid-size amber fruit with a delicate, tender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 and a clean, mild sweetness.</a:t>
            </a:r>
            <a:endParaRPr lang="en-US" sz="576" dirty="0"/>
          </a:p>
        </p:txBody>
      </p:sp>
      <p:sp>
        <p:nvSpPr>
          <p:cNvPr id="20" name="Text 17"/>
          <p:cNvSpPr txBox="1"/>
          <p:nvPr/>
        </p:nvSpPr>
        <p:spPr>
          <a:xfrm>
            <a:off x="518160" y="4250303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trays, bakery and dessert supply</a:t>
            </a:r>
            <a:endParaRPr lang="en-US" sz="504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12" y="2194560"/>
            <a:ext cx="1493520" cy="10972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191512" y="33750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Najafi</a:t>
            </a:r>
            <a:endParaRPr lang="en-US" sz="912" dirty="0"/>
          </a:p>
        </p:txBody>
      </p:sp>
      <p:sp>
        <p:nvSpPr>
          <p:cNvPr id="23" name="Text 19"/>
          <p:cNvSpPr txBox="1"/>
          <p:nvPr/>
        </p:nvSpPr>
        <p:spPr>
          <a:xfrm>
            <a:off x="2191512" y="3575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24" name="Text 20"/>
          <p:cNvSpPr txBox="1"/>
          <p:nvPr/>
        </p:nvSpPr>
        <p:spPr>
          <a:xfrm>
            <a:off x="2191512" y="3697300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SARAVAN &amp; BAM · SISTAN / KERMAN</a:t>
            </a:r>
            <a:endParaRPr lang="en-US" sz="480" dirty="0"/>
          </a:p>
        </p:txBody>
      </p:sp>
      <p:sp>
        <p:nvSpPr>
          <p:cNvPr id="25" name="Text 21"/>
          <p:cNvSpPr txBox="1"/>
          <p:nvPr/>
        </p:nvSpPr>
        <p:spPr>
          <a:xfrm>
            <a:off x="2191512" y="3859835"/>
            <a:ext cx="149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Round, very dark and soft. A traditional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cultivar with a loyal following at home and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abroad.</a:t>
            </a:r>
            <a:endParaRPr lang="en-US" sz="576" dirty="0"/>
          </a:p>
        </p:txBody>
      </p:sp>
      <p:sp>
        <p:nvSpPr>
          <p:cNvPr id="26" name="Text 22"/>
          <p:cNvSpPr txBox="1"/>
          <p:nvPr/>
        </p:nvSpPr>
        <p:spPr>
          <a:xfrm>
            <a:off x="2191512" y="4250303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Retail, traditional food processing</a:t>
            </a:r>
            <a:endParaRPr lang="en-US" sz="504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864" y="2194560"/>
            <a:ext cx="1493520" cy="10972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864864" y="33750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Lasht</a:t>
            </a:r>
            <a:endParaRPr lang="en-US" sz="912" dirty="0"/>
          </a:p>
        </p:txBody>
      </p:sp>
      <p:sp>
        <p:nvSpPr>
          <p:cNvPr id="29" name="Text 24"/>
          <p:cNvSpPr txBox="1"/>
          <p:nvPr/>
        </p:nvSpPr>
        <p:spPr>
          <a:xfrm>
            <a:off x="3864864" y="3575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30" name="Text 25"/>
          <p:cNvSpPr txBox="1"/>
          <p:nvPr/>
        </p:nvSpPr>
        <p:spPr>
          <a:xfrm>
            <a:off x="3864864" y="3697300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DASHTESTAN · FARS</a:t>
            </a:r>
            <a:endParaRPr lang="en-US" sz="480" dirty="0"/>
          </a:p>
        </p:txBody>
      </p:sp>
      <p:sp>
        <p:nvSpPr>
          <p:cNvPr id="31" name="Text 26"/>
          <p:cNvSpPr txBox="1"/>
          <p:nvPr/>
        </p:nvSpPr>
        <p:spPr>
          <a:xfrm>
            <a:off x="3864864" y="3859835"/>
            <a:ext cx="14935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Brown, wrinkled and firm — the workhorse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Iranian cooking and industrial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processing.</a:t>
            </a:r>
            <a:endParaRPr lang="en-US" sz="576" dirty="0"/>
          </a:p>
        </p:txBody>
      </p:sp>
      <p:sp>
        <p:nvSpPr>
          <p:cNvPr id="32" name="Text 27"/>
          <p:cNvSpPr txBox="1"/>
          <p:nvPr/>
        </p:nvSpPr>
        <p:spPr>
          <a:xfrm>
            <a:off x="3864864" y="4250303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shipments, industrial processing, cooking</a:t>
            </a:r>
            <a:endParaRPr lang="en-US" sz="504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216" y="2194560"/>
            <a:ext cx="1493520" cy="109728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538216" y="337500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Morki</a:t>
            </a:r>
            <a:endParaRPr lang="en-US" sz="912" dirty="0"/>
          </a:p>
        </p:txBody>
      </p:sp>
      <p:sp>
        <p:nvSpPr>
          <p:cNvPr id="35" name="Text 29"/>
          <p:cNvSpPr txBox="1"/>
          <p:nvPr/>
        </p:nvSpPr>
        <p:spPr>
          <a:xfrm>
            <a:off x="5538216" y="3575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36" name="Text 30"/>
          <p:cNvSpPr txBox="1"/>
          <p:nvPr/>
        </p:nvSpPr>
        <p:spPr>
          <a:xfrm>
            <a:off x="5538216" y="3697300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KAZERUN &amp; DASHTESTAN · FARS</a:t>
            </a:r>
            <a:endParaRPr lang="en-US" sz="480" dirty="0"/>
          </a:p>
        </p:txBody>
      </p:sp>
      <p:sp>
        <p:nvSpPr>
          <p:cNvPr id="37" name="Text 31"/>
          <p:cNvSpPr txBox="1"/>
          <p:nvPr/>
        </p:nvSpPr>
        <p:spPr>
          <a:xfrm>
            <a:off x="5538216" y="3859835"/>
            <a:ext cx="149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brown and moderately dry, with a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 bite that holds well in a mixed gift box.</a:t>
            </a:r>
            <a:endParaRPr lang="en-US" sz="576" dirty="0"/>
          </a:p>
        </p:txBody>
      </p:sp>
      <p:sp>
        <p:nvSpPr>
          <p:cNvPr id="38" name="Text 32"/>
          <p:cNvSpPr txBox="1"/>
          <p:nvPr/>
        </p:nvSpPr>
        <p:spPr>
          <a:xfrm>
            <a:off x="5538216" y="4250303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boxes, retail, catering and hospitality</a:t>
            </a:r>
            <a:endParaRPr lang="en-US" sz="504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" y="4632960"/>
            <a:ext cx="3048000" cy="15240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3718560" y="4632960"/>
            <a:ext cx="18288" cy="152400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3901440" y="4641129"/>
            <a:ext cx="36576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Piarom</a:t>
            </a:r>
            <a:endParaRPr lang="en-US" sz="1440" dirty="0"/>
          </a:p>
        </p:txBody>
      </p:sp>
      <p:sp>
        <p:nvSpPr>
          <p:cNvPr id="42" name="Text 35"/>
          <p:cNvSpPr txBox="1"/>
          <p:nvPr/>
        </p:nvSpPr>
        <p:spPr>
          <a:xfrm>
            <a:off x="3901440" y="49225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480" dirty="0"/>
          </a:p>
        </p:txBody>
      </p:sp>
      <p:sp>
        <p:nvSpPr>
          <p:cNvPr id="43" name="Shape 36"/>
          <p:cNvSpPr/>
          <p:nvPr/>
        </p:nvSpPr>
        <p:spPr>
          <a:xfrm>
            <a:off x="3901440" y="5059680"/>
            <a:ext cx="3139440" cy="45720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44" name="Shape 37"/>
          <p:cNvSpPr/>
          <p:nvPr/>
        </p:nvSpPr>
        <p:spPr>
          <a:xfrm>
            <a:off x="3901440" y="5059680"/>
            <a:ext cx="3352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4053840" y="517356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32" spc="101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32" dirty="0"/>
          </a:p>
        </p:txBody>
      </p:sp>
      <p:sp>
        <p:nvSpPr>
          <p:cNvPr id="46" name="Text 39"/>
          <p:cNvSpPr txBox="1"/>
          <p:nvPr/>
        </p:nvSpPr>
        <p:spPr>
          <a:xfrm>
            <a:off x="4053840" y="5270858"/>
            <a:ext cx="28346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Hajiabad</a:t>
            </a:r>
            <a:endParaRPr lang="en-US" sz="912" dirty="0"/>
          </a:p>
        </p:txBody>
      </p:sp>
      <p:sp>
        <p:nvSpPr>
          <p:cNvPr id="47" name="Text 40"/>
          <p:cNvSpPr txBox="1"/>
          <p:nvPr/>
        </p:nvSpPr>
        <p:spPr>
          <a:xfrm>
            <a:off x="4053840" y="5402447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Hormozgan</a:t>
            </a:r>
            <a:endParaRPr lang="en-US" sz="504" dirty="0"/>
          </a:p>
        </p:txBody>
      </p:sp>
      <p:sp>
        <p:nvSpPr>
          <p:cNvPr id="48" name="Text 41"/>
          <p:cNvSpPr txBox="1"/>
          <p:nvPr/>
        </p:nvSpPr>
        <p:spPr>
          <a:xfrm>
            <a:off x="3901440" y="5627675"/>
            <a:ext cx="31394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dark, dry and chewy — the date most often described as the chocolate date.</a:t>
            </a:r>
            <a:endParaRPr lang="en-US" sz="576" dirty="0"/>
          </a:p>
        </p:txBody>
      </p:sp>
      <p:sp>
        <p:nvSpPr>
          <p:cNvPr id="49" name="Text 42"/>
          <p:cNvSpPr txBox="1"/>
          <p:nvPr/>
        </p:nvSpPr>
        <p:spPr>
          <a:xfrm>
            <a:off x="3901440" y="5932475"/>
            <a:ext cx="313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in export markets as the chocolate date — dark, chewy and lower in moisture than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soft varieties.</a:t>
            </a:r>
            <a:endParaRPr lang="en-US" sz="576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" y="6339840"/>
            <a:ext cx="3048000" cy="1524000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3718560" y="6339840"/>
            <a:ext cx="18288" cy="152400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3901440" y="6348009"/>
            <a:ext cx="36576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Harani</a:t>
            </a:r>
            <a:endParaRPr lang="en-US" sz="1440" dirty="0"/>
          </a:p>
        </p:txBody>
      </p:sp>
      <p:sp>
        <p:nvSpPr>
          <p:cNvPr id="53" name="Text 45"/>
          <p:cNvSpPr txBox="1"/>
          <p:nvPr/>
        </p:nvSpPr>
        <p:spPr>
          <a:xfrm>
            <a:off x="3901440" y="66294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480" dirty="0"/>
          </a:p>
        </p:txBody>
      </p:sp>
      <p:sp>
        <p:nvSpPr>
          <p:cNvPr id="54" name="Shape 46"/>
          <p:cNvSpPr/>
          <p:nvPr/>
        </p:nvSpPr>
        <p:spPr>
          <a:xfrm>
            <a:off x="3901440" y="6766560"/>
            <a:ext cx="3139440" cy="45720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55" name="Shape 47"/>
          <p:cNvSpPr/>
          <p:nvPr/>
        </p:nvSpPr>
        <p:spPr>
          <a:xfrm>
            <a:off x="3901440" y="6766560"/>
            <a:ext cx="33528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4053840" y="688044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32" spc="101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32" dirty="0"/>
          </a:p>
        </p:txBody>
      </p:sp>
      <p:sp>
        <p:nvSpPr>
          <p:cNvPr id="57" name="Text 49"/>
          <p:cNvSpPr txBox="1"/>
          <p:nvPr/>
        </p:nvSpPr>
        <p:spPr>
          <a:xfrm>
            <a:off x="4053840" y="6977738"/>
            <a:ext cx="28346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Jahrom</a:t>
            </a:r>
            <a:endParaRPr lang="en-US" sz="912" dirty="0"/>
          </a:p>
        </p:txBody>
      </p:sp>
      <p:sp>
        <p:nvSpPr>
          <p:cNvPr id="58" name="Text 50"/>
          <p:cNvSpPr txBox="1"/>
          <p:nvPr/>
        </p:nvSpPr>
        <p:spPr>
          <a:xfrm>
            <a:off x="4053840" y="7109327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Fars</a:t>
            </a:r>
            <a:endParaRPr lang="en-US" sz="504" dirty="0"/>
          </a:p>
        </p:txBody>
      </p:sp>
      <p:sp>
        <p:nvSpPr>
          <p:cNvPr id="59" name="Text 51"/>
          <p:cNvSpPr txBox="1"/>
          <p:nvPr/>
        </p:nvSpPr>
        <p:spPr>
          <a:xfrm>
            <a:off x="3901440" y="7334555"/>
            <a:ext cx="31394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Soft, amber and very sweet. A premium soft date sold in smaller, higher-value packs.</a:t>
            </a:r>
            <a:endParaRPr lang="en-US" sz="576" dirty="0"/>
          </a:p>
        </p:txBody>
      </p:sp>
      <p:sp>
        <p:nvSpPr>
          <p:cNvPr id="60" name="Text 52"/>
          <p:cNvSpPr txBox="1"/>
          <p:nvPr/>
        </p:nvSpPr>
        <p:spPr>
          <a:xfrm>
            <a:off x="3901440" y="7639355"/>
            <a:ext cx="31394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softer, sweeter table date that sells best in smaller packs aimed at gifting and hospitality.</a:t>
            </a:r>
            <a:endParaRPr lang="en-US" sz="576" dirty="0"/>
          </a:p>
        </p:txBody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" y="8046720"/>
            <a:ext cx="3154680" cy="914400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518160" y="904428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Deglet en-Nour</a:t>
            </a:r>
            <a:endParaRPr lang="en-US" sz="912" dirty="0"/>
          </a:p>
        </p:txBody>
      </p:sp>
      <p:sp>
        <p:nvSpPr>
          <p:cNvPr id="63" name="Text 54"/>
          <p:cNvSpPr txBox="1"/>
          <p:nvPr/>
        </p:nvSpPr>
        <p:spPr>
          <a:xfrm>
            <a:off x="1828800" y="9104452"/>
            <a:ext cx="185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 · ABADAN &amp; KHORRAMSHAHR,</a:t>
            </a:r>
            <a:endParaRPr lang="en-US" sz="480" dirty="0"/>
          </a:p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KHUZESTAN</a:t>
            </a:r>
            <a:endParaRPr lang="en-US" sz="480" dirty="0"/>
          </a:p>
        </p:txBody>
      </p:sp>
      <p:sp>
        <p:nvSpPr>
          <p:cNvPr id="64" name="Text 55"/>
          <p:cNvSpPr txBox="1"/>
          <p:nvPr/>
        </p:nvSpPr>
        <p:spPr>
          <a:xfrm>
            <a:off x="518160" y="9254795"/>
            <a:ext cx="315468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 amber with a mild, honeyed flavour and a light skin that eats easily.</a:t>
            </a:r>
            <a:endParaRPr lang="en-US" sz="576" dirty="0"/>
          </a:p>
        </p:txBody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8580" y="8046720"/>
            <a:ext cx="3154680" cy="914400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3878580" y="904428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Barhi</a:t>
            </a:r>
            <a:endParaRPr lang="en-US" sz="912" dirty="0"/>
          </a:p>
        </p:txBody>
      </p:sp>
      <p:sp>
        <p:nvSpPr>
          <p:cNvPr id="67" name="Text 57"/>
          <p:cNvSpPr txBox="1"/>
          <p:nvPr/>
        </p:nvSpPr>
        <p:spPr>
          <a:xfrm>
            <a:off x="5189220" y="9104452"/>
            <a:ext cx="185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· SARAVAN, SISTAN &amp; BALUCHESTAN</a:t>
            </a:r>
            <a:endParaRPr lang="en-US" sz="480" dirty="0"/>
          </a:p>
        </p:txBody>
      </p:sp>
      <p:sp>
        <p:nvSpPr>
          <p:cNvPr id="68" name="Text 58"/>
          <p:cNvSpPr txBox="1"/>
          <p:nvPr/>
        </p:nvSpPr>
        <p:spPr>
          <a:xfrm>
            <a:off x="3878580" y="9254795"/>
            <a:ext cx="315468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Round, soft and mild, with low fibre — a straightforward snacking date.</a:t>
            </a:r>
            <a:endParaRPr lang="en-US" sz="576" dirty="0"/>
          </a:p>
        </p:txBody>
      </p:sp>
      <p:sp>
        <p:nvSpPr>
          <p:cNvPr id="69" name="Text 59"/>
          <p:cNvSpPr txBox="1"/>
          <p:nvPr/>
        </p:nvSpPr>
        <p:spPr>
          <a:xfrm>
            <a:off x="518160" y="982814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of every variety depends on the harvest window — confirm before ordering.</a:t>
            </a:r>
            <a:endParaRPr lang="en-US" sz="50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SUMMARY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— TECHNICAL SUMMARY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Variety Comparison &amp; Origins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51816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quick reference for buyers comparing the range — with the growing region of each cultivar. Values are typical figures; the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quotation governs.</a:t>
            </a:r>
            <a:endParaRPr lang="en-US" sz="648" dirty="0"/>
          </a:p>
        </p:txBody>
      </p:sp>
      <p:sp>
        <p:nvSpPr>
          <p:cNvPr id="15" name="Shape 13"/>
          <p:cNvSpPr/>
          <p:nvPr/>
        </p:nvSpPr>
        <p:spPr>
          <a:xfrm>
            <a:off x="518160" y="2194560"/>
            <a:ext cx="6522720" cy="21336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2708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</a:t>
            </a:r>
            <a:endParaRPr lang="en-US" sz="48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2708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480" dirty="0"/>
          </a:p>
        </p:txBody>
      </p:sp>
      <p:sp>
        <p:nvSpPr>
          <p:cNvPr id="18" name="Text 16"/>
          <p:cNvSpPr txBox="1"/>
          <p:nvPr/>
        </p:nvSpPr>
        <p:spPr>
          <a:xfrm>
            <a:off x="2590800" y="22708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</a:t>
            </a:r>
            <a:endParaRPr lang="en-US" sz="480" dirty="0"/>
          </a:p>
        </p:txBody>
      </p:sp>
      <p:sp>
        <p:nvSpPr>
          <p:cNvPr id="19" name="Text 17"/>
          <p:cNvSpPr txBox="1"/>
          <p:nvPr/>
        </p:nvSpPr>
        <p:spPr>
          <a:xfrm>
            <a:off x="3779520" y="22708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HARVEST REGION</a:t>
            </a:r>
            <a:endParaRPr lang="en-US" sz="480" dirty="0"/>
          </a:p>
        </p:txBody>
      </p:sp>
      <p:sp>
        <p:nvSpPr>
          <p:cNvPr id="20" name="Text 18"/>
          <p:cNvSpPr txBox="1"/>
          <p:nvPr/>
        </p:nvSpPr>
        <p:spPr>
          <a:xfrm>
            <a:off x="5273040" y="22708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USE</a:t>
            </a:r>
            <a:endParaRPr lang="en-US" sz="48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53944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Mazafati</a:t>
            </a:r>
            <a:endParaRPr lang="en-US" sz="576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2539441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576" dirty="0"/>
          </a:p>
        </p:txBody>
      </p:sp>
      <p:sp>
        <p:nvSpPr>
          <p:cNvPr id="23" name="Text 21"/>
          <p:cNvSpPr txBox="1"/>
          <p:nvPr/>
        </p:nvSpPr>
        <p:spPr>
          <a:xfrm>
            <a:off x="2590800" y="253944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brown to near-black</a:t>
            </a:r>
            <a:endParaRPr lang="en-US" sz="576" dirty="0"/>
          </a:p>
        </p:txBody>
      </p:sp>
      <p:sp>
        <p:nvSpPr>
          <p:cNvPr id="24" name="Text 22"/>
          <p:cNvSpPr txBox="1"/>
          <p:nvPr/>
        </p:nvSpPr>
        <p:spPr>
          <a:xfrm>
            <a:off x="3779520" y="2539441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Bam, Kerman</a:t>
            </a:r>
            <a:endParaRPr lang="en-US" sz="576" dirty="0"/>
          </a:p>
        </p:txBody>
      </p:sp>
      <p:sp>
        <p:nvSpPr>
          <p:cNvPr id="25" name="Text 23"/>
          <p:cNvSpPr txBox="1"/>
          <p:nvPr/>
        </p:nvSpPr>
        <p:spPr>
          <a:xfrm>
            <a:off x="5273040" y="253944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packs, gifting, food manufacturing</a:t>
            </a:r>
            <a:endParaRPr lang="en-US" sz="576" dirty="0"/>
          </a:p>
        </p:txBody>
      </p:sp>
      <p:sp>
        <p:nvSpPr>
          <p:cNvPr id="26" name="Shape 24"/>
          <p:cNvSpPr/>
          <p:nvPr/>
        </p:nvSpPr>
        <p:spPr>
          <a:xfrm>
            <a:off x="518160" y="2846832"/>
            <a:ext cx="6522720" cy="353568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2923489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Medjoul</a:t>
            </a:r>
            <a:endParaRPr lang="en-US" sz="576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2923489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576" dirty="0"/>
          </a:p>
        </p:txBody>
      </p:sp>
      <p:sp>
        <p:nvSpPr>
          <p:cNvPr id="29" name="Text 27"/>
          <p:cNvSpPr txBox="1"/>
          <p:nvPr/>
        </p:nvSpPr>
        <p:spPr>
          <a:xfrm>
            <a:off x="2590800" y="2923489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to deep brown</a:t>
            </a:r>
            <a:endParaRPr lang="en-US" sz="576" dirty="0"/>
          </a:p>
        </p:txBody>
      </p:sp>
      <p:sp>
        <p:nvSpPr>
          <p:cNvPr id="30" name="Text 28"/>
          <p:cNvSpPr txBox="1"/>
          <p:nvPr/>
        </p:nvSpPr>
        <p:spPr>
          <a:xfrm>
            <a:off x="3779520" y="2923489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 &amp; Saravan, Kerman / Sistan</a:t>
            </a:r>
            <a:endParaRPr lang="en-US" sz="576" dirty="0"/>
          </a:p>
        </p:txBody>
      </p:sp>
      <p:sp>
        <p:nvSpPr>
          <p:cNvPr id="31" name="Text 29"/>
          <p:cNvSpPr txBox="1"/>
          <p:nvPr/>
        </p:nvSpPr>
        <p:spPr>
          <a:xfrm>
            <a:off x="5273040" y="292348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gifting, retail, seasonal gift packs</a:t>
            </a:r>
            <a:endParaRPr lang="en-US" sz="576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307537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Zahedi</a:t>
            </a:r>
            <a:endParaRPr lang="en-US" sz="576" dirty="0"/>
          </a:p>
        </p:txBody>
      </p:sp>
      <p:sp>
        <p:nvSpPr>
          <p:cNvPr id="33" name="Text 31"/>
          <p:cNvSpPr txBox="1"/>
          <p:nvPr/>
        </p:nvSpPr>
        <p:spPr>
          <a:xfrm>
            <a:off x="1737360" y="3307537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576" dirty="0"/>
          </a:p>
        </p:txBody>
      </p:sp>
      <p:sp>
        <p:nvSpPr>
          <p:cNvPr id="34" name="Text 32"/>
          <p:cNvSpPr txBox="1"/>
          <p:nvPr/>
        </p:nvSpPr>
        <p:spPr>
          <a:xfrm>
            <a:off x="2590800" y="3307537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golden brown</a:t>
            </a:r>
            <a:endParaRPr lang="en-US" sz="576" dirty="0"/>
          </a:p>
        </p:txBody>
      </p:sp>
      <p:sp>
        <p:nvSpPr>
          <p:cNvPr id="35" name="Text 33"/>
          <p:cNvSpPr txBox="1"/>
          <p:nvPr/>
        </p:nvSpPr>
        <p:spPr>
          <a:xfrm>
            <a:off x="3779520" y="3307537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Dashtestan &amp; Kazerun, Fars</a:t>
            </a:r>
            <a:endParaRPr lang="en-US" sz="576" dirty="0"/>
          </a:p>
        </p:txBody>
      </p:sp>
      <p:sp>
        <p:nvSpPr>
          <p:cNvPr id="36" name="Text 34"/>
          <p:cNvSpPr txBox="1"/>
          <p:nvPr/>
        </p:nvSpPr>
        <p:spPr>
          <a:xfrm>
            <a:off x="5273040" y="330753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Long-haul shipping, bulk, cooking and processing</a:t>
            </a:r>
            <a:endParaRPr lang="en-US" sz="576" dirty="0"/>
          </a:p>
        </p:txBody>
      </p:sp>
      <p:sp>
        <p:nvSpPr>
          <p:cNvPr id="37" name="Shape 35"/>
          <p:cNvSpPr/>
          <p:nvPr/>
        </p:nvSpPr>
        <p:spPr>
          <a:xfrm>
            <a:off x="518160" y="3614928"/>
            <a:ext cx="6522720" cy="353568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3691585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Kimri</a:t>
            </a:r>
            <a:endParaRPr lang="en-US" sz="576" dirty="0"/>
          </a:p>
        </p:txBody>
      </p:sp>
      <p:sp>
        <p:nvSpPr>
          <p:cNvPr id="39" name="Text 37"/>
          <p:cNvSpPr txBox="1"/>
          <p:nvPr/>
        </p:nvSpPr>
        <p:spPr>
          <a:xfrm>
            <a:off x="1737360" y="3691585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576" dirty="0"/>
          </a:p>
        </p:txBody>
      </p:sp>
      <p:sp>
        <p:nvSpPr>
          <p:cNvPr id="40" name="Text 38"/>
          <p:cNvSpPr txBox="1"/>
          <p:nvPr/>
        </p:nvSpPr>
        <p:spPr>
          <a:xfrm>
            <a:off x="2590800" y="3691585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brown</a:t>
            </a:r>
            <a:endParaRPr lang="en-US" sz="576" dirty="0"/>
          </a:p>
        </p:txBody>
      </p:sp>
      <p:sp>
        <p:nvSpPr>
          <p:cNvPr id="41" name="Text 39"/>
          <p:cNvSpPr txBox="1"/>
          <p:nvPr/>
        </p:nvSpPr>
        <p:spPr>
          <a:xfrm>
            <a:off x="3779520" y="3691585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Bam, Kerman</a:t>
            </a:r>
            <a:endParaRPr lang="en-US" sz="576" dirty="0"/>
          </a:p>
        </p:txBody>
      </p:sp>
      <p:sp>
        <p:nvSpPr>
          <p:cNvPr id="42" name="Text 40"/>
          <p:cNvSpPr txBox="1"/>
          <p:nvPr/>
        </p:nvSpPr>
        <p:spPr>
          <a:xfrm>
            <a:off x="5273040" y="369158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pouches, value packs, high-volume orders</a:t>
            </a:r>
            <a:endParaRPr lang="en-US" sz="576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075633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Shahani</a:t>
            </a:r>
            <a:endParaRPr lang="en-US" sz="576" dirty="0"/>
          </a:p>
        </p:txBody>
      </p:sp>
      <p:sp>
        <p:nvSpPr>
          <p:cNvPr id="44" name="Text 42"/>
          <p:cNvSpPr txBox="1"/>
          <p:nvPr/>
        </p:nvSpPr>
        <p:spPr>
          <a:xfrm>
            <a:off x="1737360" y="4075633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Semi-soft</a:t>
            </a:r>
            <a:endParaRPr lang="en-US" sz="576" dirty="0"/>
          </a:p>
        </p:txBody>
      </p:sp>
      <p:sp>
        <p:nvSpPr>
          <p:cNvPr id="45" name="Text 43"/>
          <p:cNvSpPr txBox="1"/>
          <p:nvPr/>
        </p:nvSpPr>
        <p:spPr>
          <a:xfrm>
            <a:off x="2590800" y="4075633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amber brown</a:t>
            </a:r>
            <a:endParaRPr lang="en-US" sz="576" dirty="0"/>
          </a:p>
        </p:txBody>
      </p:sp>
      <p:sp>
        <p:nvSpPr>
          <p:cNvPr id="46" name="Text 44"/>
          <p:cNvSpPr txBox="1"/>
          <p:nvPr/>
        </p:nvSpPr>
        <p:spPr>
          <a:xfrm>
            <a:off x="3779520" y="4075633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Jiroft &amp; Kahnoj, Kerman</a:t>
            </a:r>
            <a:endParaRPr lang="en-US" sz="576" dirty="0"/>
          </a:p>
        </p:txBody>
      </p:sp>
      <p:sp>
        <p:nvSpPr>
          <p:cNvPr id="47" name="Text 45"/>
          <p:cNvSpPr txBox="1"/>
          <p:nvPr/>
        </p:nvSpPr>
        <p:spPr>
          <a:xfrm>
            <a:off x="5273040" y="4075633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trays, bakery and dessert supply</a:t>
            </a:r>
            <a:endParaRPr lang="en-US" sz="576" dirty="0"/>
          </a:p>
        </p:txBody>
      </p:sp>
      <p:sp>
        <p:nvSpPr>
          <p:cNvPr id="48" name="Shape 46"/>
          <p:cNvSpPr/>
          <p:nvPr/>
        </p:nvSpPr>
        <p:spPr>
          <a:xfrm>
            <a:off x="518160" y="4383024"/>
            <a:ext cx="6522720" cy="353568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48640" y="445968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Najafi</a:t>
            </a:r>
            <a:endParaRPr lang="en-US" sz="576" dirty="0"/>
          </a:p>
        </p:txBody>
      </p:sp>
      <p:sp>
        <p:nvSpPr>
          <p:cNvPr id="50" name="Text 48"/>
          <p:cNvSpPr txBox="1"/>
          <p:nvPr/>
        </p:nvSpPr>
        <p:spPr>
          <a:xfrm>
            <a:off x="1737360" y="4459681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576" dirty="0"/>
          </a:p>
        </p:txBody>
      </p:sp>
      <p:sp>
        <p:nvSpPr>
          <p:cNvPr id="51" name="Text 49"/>
          <p:cNvSpPr txBox="1"/>
          <p:nvPr/>
        </p:nvSpPr>
        <p:spPr>
          <a:xfrm>
            <a:off x="2590800" y="445968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brown to black</a:t>
            </a:r>
            <a:endParaRPr lang="en-US" sz="576" dirty="0"/>
          </a:p>
        </p:txBody>
      </p:sp>
      <p:sp>
        <p:nvSpPr>
          <p:cNvPr id="52" name="Text 50"/>
          <p:cNvSpPr txBox="1"/>
          <p:nvPr/>
        </p:nvSpPr>
        <p:spPr>
          <a:xfrm>
            <a:off x="3779520" y="4459681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Saravan &amp; Bam, Sistan / Kerman</a:t>
            </a:r>
            <a:endParaRPr lang="en-US" sz="576" dirty="0"/>
          </a:p>
        </p:txBody>
      </p:sp>
      <p:sp>
        <p:nvSpPr>
          <p:cNvPr id="53" name="Text 51"/>
          <p:cNvSpPr txBox="1"/>
          <p:nvPr/>
        </p:nvSpPr>
        <p:spPr>
          <a:xfrm>
            <a:off x="5273040" y="445968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Retail, traditional food processing</a:t>
            </a:r>
            <a:endParaRPr lang="en-US" sz="576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4843729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Lasht</a:t>
            </a:r>
            <a:endParaRPr lang="en-US" sz="576" dirty="0"/>
          </a:p>
        </p:txBody>
      </p:sp>
      <p:sp>
        <p:nvSpPr>
          <p:cNvPr id="55" name="Text 53"/>
          <p:cNvSpPr txBox="1"/>
          <p:nvPr/>
        </p:nvSpPr>
        <p:spPr>
          <a:xfrm>
            <a:off x="1737360" y="4843729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576" dirty="0"/>
          </a:p>
        </p:txBody>
      </p:sp>
      <p:sp>
        <p:nvSpPr>
          <p:cNvPr id="56" name="Text 54"/>
          <p:cNvSpPr txBox="1"/>
          <p:nvPr/>
        </p:nvSpPr>
        <p:spPr>
          <a:xfrm>
            <a:off x="2590800" y="4843729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brown</a:t>
            </a:r>
            <a:endParaRPr lang="en-US" sz="576" dirty="0"/>
          </a:p>
        </p:txBody>
      </p:sp>
      <p:sp>
        <p:nvSpPr>
          <p:cNvPr id="57" name="Text 55"/>
          <p:cNvSpPr txBox="1"/>
          <p:nvPr/>
        </p:nvSpPr>
        <p:spPr>
          <a:xfrm>
            <a:off x="3779520" y="4843729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Dashtestan, Fars</a:t>
            </a:r>
            <a:endParaRPr lang="en-US" sz="576" dirty="0"/>
          </a:p>
        </p:txBody>
      </p:sp>
      <p:sp>
        <p:nvSpPr>
          <p:cNvPr id="58" name="Text 56"/>
          <p:cNvSpPr txBox="1"/>
          <p:nvPr/>
        </p:nvSpPr>
        <p:spPr>
          <a:xfrm>
            <a:off x="5273040" y="484372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shipments, industrial processing, cooking</a:t>
            </a:r>
            <a:endParaRPr lang="en-US" sz="576" dirty="0"/>
          </a:p>
        </p:txBody>
      </p:sp>
      <p:sp>
        <p:nvSpPr>
          <p:cNvPr id="59" name="Shape 57"/>
          <p:cNvSpPr/>
          <p:nvPr/>
        </p:nvSpPr>
        <p:spPr>
          <a:xfrm>
            <a:off x="518160" y="5151120"/>
            <a:ext cx="6522720" cy="353568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48640" y="5227777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Morki</a:t>
            </a:r>
            <a:endParaRPr lang="en-US" sz="576" dirty="0"/>
          </a:p>
        </p:txBody>
      </p:sp>
      <p:sp>
        <p:nvSpPr>
          <p:cNvPr id="61" name="Text 59"/>
          <p:cNvSpPr txBox="1"/>
          <p:nvPr/>
        </p:nvSpPr>
        <p:spPr>
          <a:xfrm>
            <a:off x="1737360" y="5227777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576" dirty="0"/>
          </a:p>
        </p:txBody>
      </p:sp>
      <p:sp>
        <p:nvSpPr>
          <p:cNvPr id="62" name="Text 60"/>
          <p:cNvSpPr txBox="1"/>
          <p:nvPr/>
        </p:nvSpPr>
        <p:spPr>
          <a:xfrm>
            <a:off x="2590800" y="5227777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to medium brown</a:t>
            </a:r>
            <a:endParaRPr lang="en-US" sz="576" dirty="0"/>
          </a:p>
        </p:txBody>
      </p:sp>
      <p:sp>
        <p:nvSpPr>
          <p:cNvPr id="63" name="Text 61"/>
          <p:cNvSpPr txBox="1"/>
          <p:nvPr/>
        </p:nvSpPr>
        <p:spPr>
          <a:xfrm>
            <a:off x="3779520" y="5227777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Kazerun &amp; Dashtestan, Fars</a:t>
            </a:r>
            <a:endParaRPr lang="en-US" sz="576" dirty="0"/>
          </a:p>
        </p:txBody>
      </p:sp>
      <p:sp>
        <p:nvSpPr>
          <p:cNvPr id="64" name="Text 62"/>
          <p:cNvSpPr txBox="1"/>
          <p:nvPr/>
        </p:nvSpPr>
        <p:spPr>
          <a:xfrm>
            <a:off x="5273040" y="5227777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boxes, retail, catering and hospitality</a:t>
            </a:r>
            <a:endParaRPr lang="en-US" sz="576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5611825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Deglet en-Nour</a:t>
            </a:r>
            <a:endParaRPr lang="en-US" sz="576" dirty="0"/>
          </a:p>
        </p:txBody>
      </p:sp>
      <p:sp>
        <p:nvSpPr>
          <p:cNvPr id="66" name="Text 64"/>
          <p:cNvSpPr txBox="1"/>
          <p:nvPr/>
        </p:nvSpPr>
        <p:spPr>
          <a:xfrm>
            <a:off x="1737360" y="5611825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576" dirty="0"/>
          </a:p>
        </p:txBody>
      </p:sp>
      <p:sp>
        <p:nvSpPr>
          <p:cNvPr id="67" name="Text 65"/>
          <p:cNvSpPr txBox="1"/>
          <p:nvPr/>
        </p:nvSpPr>
        <p:spPr>
          <a:xfrm>
            <a:off x="2590800" y="5611825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 golden brown</a:t>
            </a:r>
            <a:endParaRPr lang="en-US" sz="576" dirty="0"/>
          </a:p>
        </p:txBody>
      </p:sp>
      <p:sp>
        <p:nvSpPr>
          <p:cNvPr id="68" name="Text 66"/>
          <p:cNvSpPr txBox="1"/>
          <p:nvPr/>
        </p:nvSpPr>
        <p:spPr>
          <a:xfrm>
            <a:off x="3779520" y="5611825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Abadan &amp; Khorramshahr, Khuzestan</a:t>
            </a:r>
            <a:endParaRPr lang="en-US" sz="576" dirty="0"/>
          </a:p>
        </p:txBody>
      </p:sp>
      <p:sp>
        <p:nvSpPr>
          <p:cNvPr id="69" name="Text 67"/>
          <p:cNvSpPr txBox="1"/>
          <p:nvPr/>
        </p:nvSpPr>
        <p:spPr>
          <a:xfrm>
            <a:off x="5273040" y="5611825"/>
            <a:ext cx="1737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retail boxes, bakery and confectionery</a:t>
            </a:r>
            <a:endParaRPr lang="en-US" sz="576" dirty="0"/>
          </a:p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</a:t>
            </a:r>
            <a:endParaRPr lang="en-US" sz="576" dirty="0"/>
          </a:p>
        </p:txBody>
      </p:sp>
      <p:sp>
        <p:nvSpPr>
          <p:cNvPr id="70" name="Shape 68"/>
          <p:cNvSpPr/>
          <p:nvPr/>
        </p:nvSpPr>
        <p:spPr>
          <a:xfrm>
            <a:off x="518160" y="5919216"/>
            <a:ext cx="6522720" cy="353568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48640" y="5995873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Barhi</a:t>
            </a:r>
            <a:endParaRPr lang="en-US" sz="576" dirty="0"/>
          </a:p>
        </p:txBody>
      </p:sp>
      <p:sp>
        <p:nvSpPr>
          <p:cNvPr id="72" name="Text 70"/>
          <p:cNvSpPr txBox="1"/>
          <p:nvPr/>
        </p:nvSpPr>
        <p:spPr>
          <a:xfrm>
            <a:off x="1737360" y="5995873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576" dirty="0"/>
          </a:p>
        </p:txBody>
      </p:sp>
      <p:sp>
        <p:nvSpPr>
          <p:cNvPr id="73" name="Text 71"/>
          <p:cNvSpPr txBox="1"/>
          <p:nvPr/>
        </p:nvSpPr>
        <p:spPr>
          <a:xfrm>
            <a:off x="2590800" y="5995873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brown</a:t>
            </a:r>
            <a:endParaRPr lang="en-US" sz="576" dirty="0"/>
          </a:p>
        </p:txBody>
      </p:sp>
      <p:sp>
        <p:nvSpPr>
          <p:cNvPr id="74" name="Text 72"/>
          <p:cNvSpPr txBox="1"/>
          <p:nvPr/>
        </p:nvSpPr>
        <p:spPr>
          <a:xfrm>
            <a:off x="3779520" y="5995873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Saravan, Sistan &amp; Baluchestan</a:t>
            </a:r>
            <a:endParaRPr lang="en-US" sz="576" dirty="0"/>
          </a:p>
        </p:txBody>
      </p:sp>
      <p:sp>
        <p:nvSpPr>
          <p:cNvPr id="75" name="Text 73"/>
          <p:cNvSpPr txBox="1"/>
          <p:nvPr/>
        </p:nvSpPr>
        <p:spPr>
          <a:xfrm>
            <a:off x="5273040" y="5995873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snacking, food manufacturing</a:t>
            </a:r>
            <a:endParaRPr lang="en-US" sz="576" dirty="0"/>
          </a:p>
        </p:txBody>
      </p:sp>
      <p:sp>
        <p:nvSpPr>
          <p:cNvPr id="76" name="Text 74"/>
          <p:cNvSpPr txBox="1"/>
          <p:nvPr/>
        </p:nvSpPr>
        <p:spPr>
          <a:xfrm>
            <a:off x="548640" y="637992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Harani</a:t>
            </a:r>
            <a:endParaRPr lang="en-US" sz="576" dirty="0"/>
          </a:p>
        </p:txBody>
      </p:sp>
      <p:sp>
        <p:nvSpPr>
          <p:cNvPr id="77" name="Text 75"/>
          <p:cNvSpPr txBox="1"/>
          <p:nvPr/>
        </p:nvSpPr>
        <p:spPr>
          <a:xfrm>
            <a:off x="1737360" y="6379921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576" dirty="0"/>
          </a:p>
        </p:txBody>
      </p:sp>
      <p:sp>
        <p:nvSpPr>
          <p:cNvPr id="78" name="Text 76"/>
          <p:cNvSpPr txBox="1"/>
          <p:nvPr/>
        </p:nvSpPr>
        <p:spPr>
          <a:xfrm>
            <a:off x="2590800" y="6379921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Amber brown</a:t>
            </a:r>
            <a:endParaRPr lang="en-US" sz="576" dirty="0"/>
          </a:p>
        </p:txBody>
      </p:sp>
      <p:sp>
        <p:nvSpPr>
          <p:cNvPr id="79" name="Text 77"/>
          <p:cNvSpPr txBox="1"/>
          <p:nvPr/>
        </p:nvSpPr>
        <p:spPr>
          <a:xfrm>
            <a:off x="3779520" y="6379921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Jahrom, Fars</a:t>
            </a:r>
            <a:endParaRPr lang="en-US" sz="576" dirty="0"/>
          </a:p>
        </p:txBody>
      </p:sp>
      <p:sp>
        <p:nvSpPr>
          <p:cNvPr id="80" name="Text 78"/>
          <p:cNvSpPr txBox="1"/>
          <p:nvPr/>
        </p:nvSpPr>
        <p:spPr>
          <a:xfrm>
            <a:off x="5273040" y="637992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retail and corporate gifting</a:t>
            </a:r>
            <a:endParaRPr lang="en-US" sz="576" dirty="0"/>
          </a:p>
        </p:txBody>
      </p:sp>
      <p:sp>
        <p:nvSpPr>
          <p:cNvPr id="81" name="Shape 79"/>
          <p:cNvSpPr/>
          <p:nvPr/>
        </p:nvSpPr>
        <p:spPr>
          <a:xfrm>
            <a:off x="518160" y="6687312"/>
            <a:ext cx="6522720" cy="353568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548640" y="6763969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Piarom</a:t>
            </a:r>
            <a:endParaRPr lang="en-US" sz="576" dirty="0"/>
          </a:p>
        </p:txBody>
      </p:sp>
      <p:sp>
        <p:nvSpPr>
          <p:cNvPr id="83" name="Text 81"/>
          <p:cNvSpPr txBox="1"/>
          <p:nvPr/>
        </p:nvSpPr>
        <p:spPr>
          <a:xfrm>
            <a:off x="1737360" y="6763969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Semi-dry</a:t>
            </a:r>
            <a:endParaRPr lang="en-US" sz="576" dirty="0"/>
          </a:p>
        </p:txBody>
      </p:sp>
      <p:sp>
        <p:nvSpPr>
          <p:cNvPr id="84" name="Text 82"/>
          <p:cNvSpPr txBox="1"/>
          <p:nvPr/>
        </p:nvSpPr>
        <p:spPr>
          <a:xfrm>
            <a:off x="2590800" y="6763969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brown to black</a:t>
            </a:r>
            <a:endParaRPr lang="en-US" sz="576" dirty="0"/>
          </a:p>
        </p:txBody>
      </p:sp>
      <p:sp>
        <p:nvSpPr>
          <p:cNvPr id="85" name="Text 83"/>
          <p:cNvSpPr txBox="1"/>
          <p:nvPr/>
        </p:nvSpPr>
        <p:spPr>
          <a:xfrm>
            <a:off x="3779520" y="6763969"/>
            <a:ext cx="134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Hajiabad, Hormozgan</a:t>
            </a:r>
            <a:endParaRPr lang="en-US" sz="576" dirty="0"/>
          </a:p>
        </p:txBody>
      </p:sp>
      <p:sp>
        <p:nvSpPr>
          <p:cNvPr id="86" name="Text 84"/>
          <p:cNvSpPr txBox="1"/>
          <p:nvPr/>
        </p:nvSpPr>
        <p:spPr>
          <a:xfrm>
            <a:off x="5273040" y="676396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Snacking, premium bulk, gifting</a:t>
            </a:r>
            <a:endParaRPr lang="en-US" sz="576" dirty="0"/>
          </a:p>
        </p:txBody>
      </p:sp>
      <p:sp>
        <p:nvSpPr>
          <p:cNvPr id="87" name="Shape 85"/>
          <p:cNvSpPr/>
          <p:nvPr/>
        </p:nvSpPr>
        <p:spPr>
          <a:xfrm>
            <a:off x="518160" y="7376160"/>
            <a:ext cx="6522720" cy="262128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70560" y="75377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OUR DATES GROW</a:t>
            </a:r>
            <a:endParaRPr lang="en-US" sz="480" dirty="0"/>
          </a:p>
        </p:txBody>
      </p:sp>
      <p:pic>
        <p:nvPicPr>
          <p:cNvPr id="8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7711440"/>
            <a:ext cx="3596640" cy="2133600"/>
          </a:xfrm>
          <a:prstGeom prst="rect">
            <a:avLst/>
          </a:prstGeom>
        </p:spPr>
      </p:pic>
      <p:sp>
        <p:nvSpPr>
          <p:cNvPr id="90" name="Text 87"/>
          <p:cNvSpPr txBox="1"/>
          <p:nvPr/>
        </p:nvSpPr>
        <p:spPr>
          <a:xfrm>
            <a:off x="4328160" y="7792079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04" dirty="0"/>
          </a:p>
        </p:txBody>
      </p:sp>
      <p:sp>
        <p:nvSpPr>
          <p:cNvPr id="91" name="Text 88"/>
          <p:cNvSpPr txBox="1"/>
          <p:nvPr/>
        </p:nvSpPr>
        <p:spPr>
          <a:xfrm>
            <a:off x="4511040" y="7774362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Bam &amp; Kerman</a:t>
            </a:r>
            <a:endParaRPr lang="en-US" sz="648" dirty="0"/>
          </a:p>
        </p:txBody>
      </p:sp>
      <p:sp>
        <p:nvSpPr>
          <p:cNvPr id="92" name="Text 89"/>
          <p:cNvSpPr txBox="1"/>
          <p:nvPr/>
        </p:nvSpPr>
        <p:spPr>
          <a:xfrm>
            <a:off x="4511040" y="7901807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Mazafati · Kimri · Medjoul · Shahani · Najafi</a:t>
            </a:r>
            <a:endParaRPr lang="en-US" sz="504" dirty="0"/>
          </a:p>
        </p:txBody>
      </p:sp>
      <p:sp>
        <p:nvSpPr>
          <p:cNvPr id="93" name="Text 90"/>
          <p:cNvSpPr txBox="1"/>
          <p:nvPr/>
        </p:nvSpPr>
        <p:spPr>
          <a:xfrm>
            <a:off x="4328160" y="8072495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04" dirty="0"/>
          </a:p>
        </p:txBody>
      </p:sp>
      <p:sp>
        <p:nvSpPr>
          <p:cNvPr id="94" name="Text 91"/>
          <p:cNvSpPr txBox="1"/>
          <p:nvPr/>
        </p:nvSpPr>
        <p:spPr>
          <a:xfrm>
            <a:off x="4511040" y="8054778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Dashtestan &amp; Kazerun, Fars</a:t>
            </a:r>
            <a:endParaRPr lang="en-US" sz="648" dirty="0"/>
          </a:p>
        </p:txBody>
      </p:sp>
      <p:sp>
        <p:nvSpPr>
          <p:cNvPr id="95" name="Text 92"/>
          <p:cNvSpPr txBox="1"/>
          <p:nvPr/>
        </p:nvSpPr>
        <p:spPr>
          <a:xfrm>
            <a:off x="4511040" y="8182223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Zahedi · Lasht · Morki · Harani</a:t>
            </a:r>
            <a:endParaRPr lang="en-US" sz="504" dirty="0"/>
          </a:p>
        </p:txBody>
      </p:sp>
      <p:sp>
        <p:nvSpPr>
          <p:cNvPr id="96" name="Text 93"/>
          <p:cNvSpPr txBox="1"/>
          <p:nvPr/>
        </p:nvSpPr>
        <p:spPr>
          <a:xfrm>
            <a:off x="4328160" y="8352911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04" dirty="0"/>
          </a:p>
        </p:txBody>
      </p:sp>
      <p:sp>
        <p:nvSpPr>
          <p:cNvPr id="97" name="Text 94"/>
          <p:cNvSpPr txBox="1"/>
          <p:nvPr/>
        </p:nvSpPr>
        <p:spPr>
          <a:xfrm>
            <a:off x="4511040" y="8335194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Hajiabad, Hormozgan</a:t>
            </a:r>
            <a:endParaRPr lang="en-US" sz="648" dirty="0"/>
          </a:p>
        </p:txBody>
      </p:sp>
      <p:sp>
        <p:nvSpPr>
          <p:cNvPr id="98" name="Text 95"/>
          <p:cNvSpPr txBox="1"/>
          <p:nvPr/>
        </p:nvSpPr>
        <p:spPr>
          <a:xfrm>
            <a:off x="4511040" y="8462639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Piarom</a:t>
            </a:r>
            <a:endParaRPr lang="en-US" sz="504" dirty="0"/>
          </a:p>
        </p:txBody>
      </p:sp>
      <p:sp>
        <p:nvSpPr>
          <p:cNvPr id="99" name="Text 96"/>
          <p:cNvSpPr txBox="1"/>
          <p:nvPr/>
        </p:nvSpPr>
        <p:spPr>
          <a:xfrm>
            <a:off x="4328160" y="8633327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04" dirty="0"/>
          </a:p>
        </p:txBody>
      </p:sp>
      <p:sp>
        <p:nvSpPr>
          <p:cNvPr id="100" name="Text 97"/>
          <p:cNvSpPr txBox="1"/>
          <p:nvPr/>
        </p:nvSpPr>
        <p:spPr>
          <a:xfrm>
            <a:off x="4511040" y="8615610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Saravan, Sistan &amp; Baluchestan</a:t>
            </a:r>
            <a:endParaRPr lang="en-US" sz="648" dirty="0"/>
          </a:p>
        </p:txBody>
      </p:sp>
      <p:sp>
        <p:nvSpPr>
          <p:cNvPr id="101" name="Text 98"/>
          <p:cNvSpPr txBox="1"/>
          <p:nvPr/>
        </p:nvSpPr>
        <p:spPr>
          <a:xfrm>
            <a:off x="4511040" y="8743055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Medjoul · Barhi · Najafi</a:t>
            </a:r>
            <a:endParaRPr lang="en-US" sz="504" dirty="0"/>
          </a:p>
        </p:txBody>
      </p:sp>
      <p:sp>
        <p:nvSpPr>
          <p:cNvPr id="102" name="Text 99"/>
          <p:cNvSpPr txBox="1"/>
          <p:nvPr/>
        </p:nvSpPr>
        <p:spPr>
          <a:xfrm>
            <a:off x="4328160" y="8913743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504" dirty="0"/>
          </a:p>
        </p:txBody>
      </p:sp>
      <p:sp>
        <p:nvSpPr>
          <p:cNvPr id="103" name="Text 100"/>
          <p:cNvSpPr txBox="1"/>
          <p:nvPr/>
        </p:nvSpPr>
        <p:spPr>
          <a:xfrm>
            <a:off x="4511040" y="8896026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Abadan &amp; Khorramshahr, Khuzestan</a:t>
            </a:r>
            <a:endParaRPr lang="en-US" sz="648" dirty="0"/>
          </a:p>
        </p:txBody>
      </p:sp>
      <p:sp>
        <p:nvSpPr>
          <p:cNvPr id="104" name="Text 101"/>
          <p:cNvSpPr txBox="1"/>
          <p:nvPr/>
        </p:nvSpPr>
        <p:spPr>
          <a:xfrm>
            <a:off x="4511040" y="9023471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Deglet en-Nour</a:t>
            </a:r>
            <a:endParaRPr lang="en-US" sz="504" dirty="0"/>
          </a:p>
        </p:txBody>
      </p:sp>
      <p:sp>
        <p:nvSpPr>
          <p:cNvPr id="105" name="Text 102"/>
          <p:cNvSpPr txBox="1"/>
          <p:nvPr/>
        </p:nvSpPr>
        <p:spPr>
          <a:xfrm>
            <a:off x="4328160" y="9194159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504" dirty="0"/>
          </a:p>
        </p:txBody>
      </p:sp>
      <p:sp>
        <p:nvSpPr>
          <p:cNvPr id="106" name="Text 103"/>
          <p:cNvSpPr txBox="1"/>
          <p:nvPr/>
        </p:nvSpPr>
        <p:spPr>
          <a:xfrm>
            <a:off x="4511040" y="9176442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Jiroft &amp; Kahnoj, Kerman</a:t>
            </a:r>
            <a:endParaRPr lang="en-US" sz="648" dirty="0"/>
          </a:p>
        </p:txBody>
      </p:sp>
      <p:sp>
        <p:nvSpPr>
          <p:cNvPr id="107" name="Text 104"/>
          <p:cNvSpPr txBox="1"/>
          <p:nvPr/>
        </p:nvSpPr>
        <p:spPr>
          <a:xfrm>
            <a:off x="4511040" y="9303887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Shahani · Najafi</a:t>
            </a:r>
            <a:endParaRPr lang="en-US" sz="504" dirty="0"/>
          </a:p>
        </p:txBody>
      </p:sp>
      <p:sp>
        <p:nvSpPr>
          <p:cNvPr id="108" name="Text 105"/>
          <p:cNvSpPr txBox="1"/>
          <p:nvPr/>
        </p:nvSpPr>
        <p:spPr>
          <a:xfrm>
            <a:off x="4328160" y="9474575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504" dirty="0"/>
          </a:p>
        </p:txBody>
      </p:sp>
      <p:sp>
        <p:nvSpPr>
          <p:cNvPr id="109" name="Text 106"/>
          <p:cNvSpPr txBox="1"/>
          <p:nvPr/>
        </p:nvSpPr>
        <p:spPr>
          <a:xfrm>
            <a:off x="4511040" y="9456858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Jahrom, Fars</a:t>
            </a:r>
            <a:endParaRPr lang="en-US" sz="648" dirty="0"/>
          </a:p>
        </p:txBody>
      </p:sp>
      <p:sp>
        <p:nvSpPr>
          <p:cNvPr id="110" name="Text 107"/>
          <p:cNvSpPr txBox="1"/>
          <p:nvPr/>
        </p:nvSpPr>
        <p:spPr>
          <a:xfrm>
            <a:off x="4511040" y="9584303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Harani</a:t>
            </a:r>
            <a:endParaRPr lang="en-US" sz="504" dirty="0"/>
          </a:p>
        </p:txBody>
      </p:sp>
      <p:sp>
        <p:nvSpPr>
          <p:cNvPr id="111" name="Text 108"/>
          <p:cNvSpPr txBox="1"/>
          <p:nvPr/>
        </p:nvSpPr>
        <p:spPr>
          <a:xfrm>
            <a:off x="4328160" y="9754991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504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504" dirty="0"/>
          </a:p>
        </p:txBody>
      </p:sp>
      <p:sp>
        <p:nvSpPr>
          <p:cNvPr id="112" name="Text 109"/>
          <p:cNvSpPr txBox="1"/>
          <p:nvPr/>
        </p:nvSpPr>
        <p:spPr>
          <a:xfrm>
            <a:off x="4511040" y="9737274"/>
            <a:ext cx="2529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Kerman city</a:t>
            </a:r>
            <a:endParaRPr lang="en-US" sz="648" dirty="0"/>
          </a:p>
        </p:txBody>
      </p:sp>
      <p:sp>
        <p:nvSpPr>
          <p:cNvPr id="113" name="Text 110"/>
          <p:cNvSpPr txBox="1"/>
          <p:nvPr/>
        </p:nvSpPr>
        <p:spPr>
          <a:xfrm>
            <a:off x="4511040" y="9864719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Shahani</a:t>
            </a:r>
            <a:endParaRPr lang="en-US" sz="504" dirty="0"/>
          </a:p>
        </p:txBody>
      </p:sp>
      <p:sp>
        <p:nvSpPr>
          <p:cNvPr id="114" name="Text 111"/>
          <p:cNvSpPr txBox="1"/>
          <p:nvPr/>
        </p:nvSpPr>
        <p:spPr>
          <a:xfrm>
            <a:off x="670560" y="991958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778E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growing regions of each cultivar. The confirmed origin of your lot is stated in the quotation.</a:t>
            </a:r>
            <a:endParaRPr lang="en-US" sz="50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— HOW WE WORK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Quality Assurance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45720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checkpoints stand between the grove and the container. Each one is recorded, and each one can be shown to a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or an inspector.</a:t>
            </a:r>
            <a:endParaRPr lang="en-US" sz="648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133600"/>
            <a:ext cx="4084320" cy="146304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2133600"/>
            <a:ext cx="2255520" cy="14630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8160" y="366531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84" dirty="0"/>
          </a:p>
        </p:txBody>
      </p:sp>
      <p:sp>
        <p:nvSpPr>
          <p:cNvPr id="18" name="Text 14"/>
          <p:cNvSpPr txBox="1"/>
          <p:nvPr/>
        </p:nvSpPr>
        <p:spPr>
          <a:xfrm>
            <a:off x="853440" y="3848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inspection</a:t>
            </a:r>
            <a:endParaRPr lang="en-US" sz="648" dirty="0"/>
          </a:p>
        </p:txBody>
      </p:sp>
      <p:sp>
        <p:nvSpPr>
          <p:cNvPr id="19" name="Text 15"/>
          <p:cNvSpPr txBox="1"/>
          <p:nvPr/>
        </p:nvSpPr>
        <p:spPr>
          <a:xfrm>
            <a:off x="853440" y="4036619"/>
            <a:ext cx="268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incoming lot is checked for condition, colour and foreign matter before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enters the line. Findings are recorded per lot.</a:t>
            </a:r>
            <a:endParaRPr lang="en-US" sz="576" dirty="0"/>
          </a:p>
        </p:txBody>
      </p:sp>
      <p:sp>
        <p:nvSpPr>
          <p:cNvPr id="20" name="Shape 16"/>
          <p:cNvSpPr/>
          <p:nvPr/>
        </p:nvSpPr>
        <p:spPr>
          <a:xfrm>
            <a:off x="518160" y="4602480"/>
            <a:ext cx="28651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535680" y="366531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84" dirty="0"/>
          </a:p>
        </p:txBody>
      </p:sp>
      <p:sp>
        <p:nvSpPr>
          <p:cNvPr id="22" name="Text 18"/>
          <p:cNvSpPr txBox="1"/>
          <p:nvPr/>
        </p:nvSpPr>
        <p:spPr>
          <a:xfrm>
            <a:off x="3870960" y="3848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 and grading</a:t>
            </a:r>
            <a:endParaRPr lang="en-US" sz="648" dirty="0"/>
          </a:p>
        </p:txBody>
      </p:sp>
      <p:sp>
        <p:nvSpPr>
          <p:cNvPr id="23" name="Text 19"/>
          <p:cNvSpPr txBox="1"/>
          <p:nvPr/>
        </p:nvSpPr>
        <p:spPr>
          <a:xfrm>
            <a:off x="3870960" y="4036619"/>
            <a:ext cx="268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Fruit is sorted by size, colour and condition. The grade agreed for the order is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separated and rejected fruit leaves the line.</a:t>
            </a:r>
            <a:endParaRPr lang="en-US" sz="576" dirty="0"/>
          </a:p>
        </p:txBody>
      </p:sp>
      <p:sp>
        <p:nvSpPr>
          <p:cNvPr id="24" name="Shape 20"/>
          <p:cNvSpPr/>
          <p:nvPr/>
        </p:nvSpPr>
        <p:spPr>
          <a:xfrm>
            <a:off x="3535680" y="4602480"/>
            <a:ext cx="28651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18160" y="488451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84" dirty="0"/>
          </a:p>
        </p:txBody>
      </p:sp>
      <p:sp>
        <p:nvSpPr>
          <p:cNvPr id="26" name="Text 22"/>
          <p:cNvSpPr txBox="1"/>
          <p:nvPr/>
        </p:nvSpPr>
        <p:spPr>
          <a:xfrm>
            <a:off x="853440" y="50677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 and condition control</a:t>
            </a:r>
            <a:endParaRPr lang="en-US" sz="648" dirty="0"/>
          </a:p>
        </p:txBody>
      </p:sp>
      <p:sp>
        <p:nvSpPr>
          <p:cNvPr id="27" name="Text 23"/>
          <p:cNvSpPr txBox="1"/>
          <p:nvPr/>
        </p:nvSpPr>
        <p:spPr>
          <a:xfrm>
            <a:off x="853440" y="5255819"/>
            <a:ext cx="268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Moisture and condition are monitored where the variety requires it. Only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lab-verified figures are quoted in the specification.</a:t>
            </a:r>
            <a:endParaRPr lang="en-US" sz="576" dirty="0"/>
          </a:p>
        </p:txBody>
      </p:sp>
      <p:sp>
        <p:nvSpPr>
          <p:cNvPr id="28" name="Shape 24"/>
          <p:cNvSpPr/>
          <p:nvPr/>
        </p:nvSpPr>
        <p:spPr>
          <a:xfrm>
            <a:off x="518160" y="5821680"/>
            <a:ext cx="28651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3535680" y="488451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584" dirty="0"/>
          </a:p>
        </p:txBody>
      </p:sp>
      <p:sp>
        <p:nvSpPr>
          <p:cNvPr id="30" name="Text 26"/>
          <p:cNvSpPr txBox="1"/>
          <p:nvPr/>
        </p:nvSpPr>
        <p:spPr>
          <a:xfrm>
            <a:off x="3870960" y="50677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packing</a:t>
            </a:r>
            <a:endParaRPr lang="en-US" sz="648" dirty="0"/>
          </a:p>
        </p:txBody>
      </p:sp>
      <p:sp>
        <p:nvSpPr>
          <p:cNvPr id="31" name="Text 27"/>
          <p:cNvSpPr txBox="1"/>
          <p:nvPr/>
        </p:nvSpPr>
        <p:spPr>
          <a:xfrm>
            <a:off x="3870960" y="5255819"/>
            <a:ext cx="268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 happens under controlled conditions, with pack format, net weight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count set by the purchase order.</a:t>
            </a:r>
            <a:endParaRPr lang="en-US" sz="576" dirty="0"/>
          </a:p>
        </p:txBody>
      </p:sp>
      <p:sp>
        <p:nvSpPr>
          <p:cNvPr id="32" name="Shape 28"/>
          <p:cNvSpPr/>
          <p:nvPr/>
        </p:nvSpPr>
        <p:spPr>
          <a:xfrm>
            <a:off x="3535680" y="5821680"/>
            <a:ext cx="28651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18160" y="610371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584" dirty="0"/>
          </a:p>
        </p:txBody>
      </p:sp>
      <p:sp>
        <p:nvSpPr>
          <p:cNvPr id="34" name="Text 30"/>
          <p:cNvSpPr txBox="1"/>
          <p:nvPr/>
        </p:nvSpPr>
        <p:spPr>
          <a:xfrm>
            <a:off x="853440" y="62869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 coding and traceability</a:t>
            </a:r>
            <a:endParaRPr lang="en-US" sz="648" dirty="0"/>
          </a:p>
        </p:txBody>
      </p:sp>
      <p:sp>
        <p:nvSpPr>
          <p:cNvPr id="35" name="Text 31"/>
          <p:cNvSpPr txBox="1"/>
          <p:nvPr/>
        </p:nvSpPr>
        <p:spPr>
          <a:xfrm>
            <a:off x="853440" y="6475019"/>
            <a:ext cx="268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carton carries a lot code that ties it back to its region, source, packing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and inspection record.</a:t>
            </a:r>
            <a:endParaRPr lang="en-US" sz="576" dirty="0"/>
          </a:p>
        </p:txBody>
      </p:sp>
      <p:sp>
        <p:nvSpPr>
          <p:cNvPr id="36" name="Shape 32"/>
          <p:cNvSpPr/>
          <p:nvPr/>
        </p:nvSpPr>
        <p:spPr>
          <a:xfrm>
            <a:off x="518160" y="7040880"/>
            <a:ext cx="28651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3535680" y="610371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6"/>
              </a:lnSpc>
              <a:buNone/>
            </a:pPr>
            <a:r>
              <a:rPr lang="en-US" sz="1584" dirty="0">
                <a:solidFill>
                  <a:srgbClr val="C8A2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584" dirty="0"/>
          </a:p>
        </p:txBody>
      </p:sp>
      <p:sp>
        <p:nvSpPr>
          <p:cNvPr id="38" name="Text 34"/>
          <p:cNvSpPr txBox="1"/>
          <p:nvPr/>
        </p:nvSpPr>
        <p:spPr>
          <a:xfrm>
            <a:off x="3870960" y="62869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Pre-shipment check</a:t>
            </a:r>
            <a:endParaRPr lang="en-US" sz="648" dirty="0"/>
          </a:p>
        </p:txBody>
      </p:sp>
      <p:sp>
        <p:nvSpPr>
          <p:cNvPr id="39" name="Text 35"/>
          <p:cNvSpPr txBox="1"/>
          <p:nvPr/>
        </p:nvSpPr>
        <p:spPr>
          <a:xfrm>
            <a:off x="3870960" y="6475019"/>
            <a:ext cx="2682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final check on count, weight, carton condition and labelling runs before the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is closed and sealed.</a:t>
            </a:r>
            <a:endParaRPr lang="en-US" sz="576" dirty="0"/>
          </a:p>
        </p:txBody>
      </p:sp>
      <p:sp>
        <p:nvSpPr>
          <p:cNvPr id="40" name="Shape 36"/>
          <p:cNvSpPr/>
          <p:nvPr/>
        </p:nvSpPr>
        <p:spPr>
          <a:xfrm>
            <a:off x="3535680" y="7040880"/>
            <a:ext cx="28651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41" name="Shape 37"/>
          <p:cNvSpPr/>
          <p:nvPr/>
        </p:nvSpPr>
        <p:spPr>
          <a:xfrm>
            <a:off x="518160" y="7741920"/>
            <a:ext cx="6522720" cy="213360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42" name="Shape 38"/>
          <p:cNvSpPr/>
          <p:nvPr/>
        </p:nvSpPr>
        <p:spPr>
          <a:xfrm>
            <a:off x="518160" y="774192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01040" y="79035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WE WORK WITH</a:t>
            </a:r>
            <a:endParaRPr lang="en-US" sz="480" dirty="0"/>
          </a:p>
        </p:txBody>
      </p:sp>
      <p:sp>
        <p:nvSpPr>
          <p:cNvPr id="44" name="Text 40"/>
          <p:cNvSpPr txBox="1"/>
          <p:nvPr/>
        </p:nvSpPr>
        <p:spPr>
          <a:xfrm>
            <a:off x="701040" y="8066075"/>
            <a:ext cx="304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exact document set depends on the destination and the incoterm. The list below is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usual export pack — confirm the current requirement for your market with us.</a:t>
            </a:r>
            <a:endParaRPr lang="en-US" sz="576" dirty="0"/>
          </a:p>
        </p:txBody>
      </p:sp>
      <p:sp>
        <p:nvSpPr>
          <p:cNvPr id="45" name="Shape 41"/>
          <p:cNvSpPr/>
          <p:nvPr/>
        </p:nvSpPr>
        <p:spPr>
          <a:xfrm>
            <a:off x="701040" y="863803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792480" y="8614715"/>
            <a:ext cx="18288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invoice</a:t>
            </a:r>
            <a:endParaRPr lang="en-US" sz="576" dirty="0"/>
          </a:p>
        </p:txBody>
      </p:sp>
      <p:sp>
        <p:nvSpPr>
          <p:cNvPr id="47" name="Shape 43"/>
          <p:cNvSpPr/>
          <p:nvPr/>
        </p:nvSpPr>
        <p:spPr>
          <a:xfrm>
            <a:off x="2773680" y="863803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2865120" y="8614715"/>
            <a:ext cx="18288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 list</a:t>
            </a:r>
            <a:endParaRPr lang="en-US" sz="576" dirty="0"/>
          </a:p>
        </p:txBody>
      </p:sp>
      <p:sp>
        <p:nvSpPr>
          <p:cNvPr id="49" name="Shape 45"/>
          <p:cNvSpPr/>
          <p:nvPr/>
        </p:nvSpPr>
        <p:spPr>
          <a:xfrm>
            <a:off x="4846320" y="863803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4937760" y="8614715"/>
            <a:ext cx="18288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Phytosanitary certificate</a:t>
            </a:r>
            <a:endParaRPr lang="en-US" sz="576" dirty="0"/>
          </a:p>
        </p:txBody>
      </p:sp>
      <p:sp>
        <p:nvSpPr>
          <p:cNvPr id="51" name="Shape 47"/>
          <p:cNvSpPr/>
          <p:nvPr/>
        </p:nvSpPr>
        <p:spPr>
          <a:xfrm>
            <a:off x="701040" y="891235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792480" y="8889035"/>
            <a:ext cx="18288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of origin</a:t>
            </a:r>
            <a:endParaRPr lang="en-US" sz="576" dirty="0"/>
          </a:p>
        </p:txBody>
      </p:sp>
      <p:sp>
        <p:nvSpPr>
          <p:cNvPr id="53" name="Shape 49"/>
          <p:cNvSpPr/>
          <p:nvPr/>
        </p:nvSpPr>
        <p:spPr>
          <a:xfrm>
            <a:off x="2773680" y="891235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2865120" y="8889035"/>
            <a:ext cx="18288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Fumigation / treatment certificate</a:t>
            </a:r>
            <a:endParaRPr lang="en-US" sz="576" dirty="0"/>
          </a:p>
        </p:txBody>
      </p:sp>
      <p:sp>
        <p:nvSpPr>
          <p:cNvPr id="55" name="Shape 51"/>
          <p:cNvSpPr/>
          <p:nvPr/>
        </p:nvSpPr>
        <p:spPr>
          <a:xfrm>
            <a:off x="4846320" y="891235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4937760" y="8889035"/>
            <a:ext cx="18288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 documents per incoterm</a:t>
            </a:r>
            <a:endParaRPr lang="en-US" sz="576" dirty="0"/>
          </a:p>
        </p:txBody>
      </p:sp>
      <p:sp>
        <p:nvSpPr>
          <p:cNvPr id="57" name="Text 53"/>
          <p:cNvSpPr txBox="1"/>
          <p:nvPr/>
        </p:nvSpPr>
        <p:spPr>
          <a:xfrm>
            <a:off x="701040" y="930998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778E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[EXPORT DOCUMENTS CONFIRMED PER DESTINATION]</a:t>
            </a:r>
            <a:endParaRPr lang="en-US" sz="504" dirty="0"/>
          </a:p>
        </p:txBody>
      </p:sp>
      <p:sp>
        <p:nvSpPr>
          <p:cNvPr id="58" name="Text 54"/>
          <p:cNvSpPr txBox="1"/>
          <p:nvPr/>
        </p:nvSpPr>
        <p:spPr>
          <a:xfrm>
            <a:off x="518160" y="1001102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 and grading at [FACILITY NAME], [CITY] — [DESCRIBE THE LINE].</a:t>
            </a:r>
            <a:endParaRPr lang="en-US" sz="5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— HOW IT ARRIVES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Packaging Options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51816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 are fragile and moisture-sensitive. The pack format is chosen for the destination, the shelf and the retailer’s planogram — not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factory that filled it.</a:t>
            </a:r>
            <a:endParaRPr lang="en-US" sz="648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133600"/>
            <a:ext cx="3169920" cy="152400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2133600"/>
            <a:ext cx="1584960" cy="152400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2133600"/>
            <a:ext cx="1584960" cy="1524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8160" y="3901440"/>
            <a:ext cx="2042160" cy="170688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19" name="Shape 14"/>
          <p:cNvSpPr/>
          <p:nvPr/>
        </p:nvSpPr>
        <p:spPr>
          <a:xfrm>
            <a:off x="518160" y="3901440"/>
            <a:ext cx="27432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40080" y="4045562"/>
            <a:ext cx="17983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Retail tray + film</a:t>
            </a:r>
            <a:endParaRPr lang="en-US" sz="912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4256075"/>
            <a:ext cx="17983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Sealed tray over-wrap, stacked and cartonised.</a:t>
            </a:r>
            <a:endParaRPr lang="en-US" sz="576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45812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weight</a:t>
            </a:r>
            <a:endParaRPr lang="en-US" sz="48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4701978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[NET WEIGHT]</a:t>
            </a:r>
            <a:endParaRPr lang="en-US" sz="648" dirty="0"/>
          </a:p>
        </p:txBody>
      </p:sp>
      <p:sp>
        <p:nvSpPr>
          <p:cNvPr id="24" name="Text 19"/>
          <p:cNvSpPr txBox="1"/>
          <p:nvPr/>
        </p:nvSpPr>
        <p:spPr>
          <a:xfrm>
            <a:off x="640080" y="48738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per carton</a:t>
            </a:r>
            <a:endParaRPr lang="en-US" sz="48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4994586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[UNITS]</a:t>
            </a:r>
            <a:endParaRPr lang="en-US" sz="648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51664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size</a:t>
            </a:r>
            <a:endParaRPr lang="en-US" sz="48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5287194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 × W × H]</a:t>
            </a:r>
            <a:endParaRPr lang="en-US" sz="648" dirty="0"/>
          </a:p>
        </p:txBody>
      </p:sp>
      <p:sp>
        <p:nvSpPr>
          <p:cNvPr id="28" name="Shape 23"/>
          <p:cNvSpPr/>
          <p:nvPr/>
        </p:nvSpPr>
        <p:spPr>
          <a:xfrm>
            <a:off x="2758440" y="3901440"/>
            <a:ext cx="2042160" cy="170688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29" name="Shape 24"/>
          <p:cNvSpPr/>
          <p:nvPr/>
        </p:nvSpPr>
        <p:spPr>
          <a:xfrm>
            <a:off x="2758440" y="3901440"/>
            <a:ext cx="27432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2880360" y="4045562"/>
            <a:ext cx="17983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Clamshell box</a:t>
            </a:r>
            <a:endParaRPr lang="en-US" sz="912" dirty="0"/>
          </a:p>
        </p:txBody>
      </p:sp>
      <p:sp>
        <p:nvSpPr>
          <p:cNvPr id="31" name="Text 26"/>
          <p:cNvSpPr txBox="1"/>
          <p:nvPr/>
        </p:nvSpPr>
        <p:spPr>
          <a:xfrm>
            <a:off x="2880360" y="4256075"/>
            <a:ext cx="17983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Clear-lidded box for premium retail and gifting.</a:t>
            </a:r>
            <a:endParaRPr lang="en-US" sz="576" dirty="0"/>
          </a:p>
        </p:txBody>
      </p:sp>
      <p:sp>
        <p:nvSpPr>
          <p:cNvPr id="32" name="Text 27"/>
          <p:cNvSpPr txBox="1"/>
          <p:nvPr/>
        </p:nvSpPr>
        <p:spPr>
          <a:xfrm>
            <a:off x="2880360" y="45812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weight</a:t>
            </a:r>
            <a:endParaRPr lang="en-US" sz="480" dirty="0"/>
          </a:p>
        </p:txBody>
      </p:sp>
      <p:sp>
        <p:nvSpPr>
          <p:cNvPr id="33" name="Text 28"/>
          <p:cNvSpPr txBox="1"/>
          <p:nvPr/>
        </p:nvSpPr>
        <p:spPr>
          <a:xfrm>
            <a:off x="2880360" y="4701978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[NET WEIGHT]</a:t>
            </a:r>
            <a:endParaRPr lang="en-US" sz="648" dirty="0"/>
          </a:p>
        </p:txBody>
      </p:sp>
      <p:sp>
        <p:nvSpPr>
          <p:cNvPr id="34" name="Text 29"/>
          <p:cNvSpPr txBox="1"/>
          <p:nvPr/>
        </p:nvSpPr>
        <p:spPr>
          <a:xfrm>
            <a:off x="2880360" y="48738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per carton</a:t>
            </a:r>
            <a:endParaRPr lang="en-US" sz="480" dirty="0"/>
          </a:p>
        </p:txBody>
      </p:sp>
      <p:sp>
        <p:nvSpPr>
          <p:cNvPr id="35" name="Text 30"/>
          <p:cNvSpPr txBox="1"/>
          <p:nvPr/>
        </p:nvSpPr>
        <p:spPr>
          <a:xfrm>
            <a:off x="2880360" y="4994586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[UNITS]</a:t>
            </a:r>
            <a:endParaRPr lang="en-US" sz="648" dirty="0"/>
          </a:p>
        </p:txBody>
      </p:sp>
      <p:sp>
        <p:nvSpPr>
          <p:cNvPr id="36" name="Text 31"/>
          <p:cNvSpPr txBox="1"/>
          <p:nvPr/>
        </p:nvSpPr>
        <p:spPr>
          <a:xfrm>
            <a:off x="2880360" y="51664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size</a:t>
            </a:r>
            <a:endParaRPr lang="en-US" sz="480" dirty="0"/>
          </a:p>
        </p:txBody>
      </p:sp>
      <p:sp>
        <p:nvSpPr>
          <p:cNvPr id="37" name="Text 32"/>
          <p:cNvSpPr txBox="1"/>
          <p:nvPr/>
        </p:nvSpPr>
        <p:spPr>
          <a:xfrm>
            <a:off x="2880360" y="5287194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 × W × H]</a:t>
            </a:r>
            <a:endParaRPr lang="en-US" sz="648" dirty="0"/>
          </a:p>
        </p:txBody>
      </p:sp>
      <p:sp>
        <p:nvSpPr>
          <p:cNvPr id="38" name="Shape 33"/>
          <p:cNvSpPr/>
          <p:nvPr/>
        </p:nvSpPr>
        <p:spPr>
          <a:xfrm>
            <a:off x="4998720" y="3901440"/>
            <a:ext cx="2042160" cy="170688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39" name="Shape 34"/>
          <p:cNvSpPr/>
          <p:nvPr/>
        </p:nvSpPr>
        <p:spPr>
          <a:xfrm>
            <a:off x="4998720" y="3901440"/>
            <a:ext cx="27432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5120640" y="4045562"/>
            <a:ext cx="17983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Pouch / doypack</a:t>
            </a:r>
            <a:endParaRPr lang="en-US" sz="912" dirty="0"/>
          </a:p>
        </p:txBody>
      </p:sp>
      <p:sp>
        <p:nvSpPr>
          <p:cNvPr id="41" name="Text 36"/>
          <p:cNvSpPr txBox="1"/>
          <p:nvPr/>
        </p:nvSpPr>
        <p:spPr>
          <a:xfrm>
            <a:off x="5120640" y="4256075"/>
            <a:ext cx="17983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Stand-up pouch for value and high-volume retail.</a:t>
            </a:r>
            <a:endParaRPr lang="en-US" sz="576" dirty="0"/>
          </a:p>
        </p:txBody>
      </p:sp>
      <p:sp>
        <p:nvSpPr>
          <p:cNvPr id="42" name="Text 37"/>
          <p:cNvSpPr txBox="1"/>
          <p:nvPr/>
        </p:nvSpPr>
        <p:spPr>
          <a:xfrm>
            <a:off x="5120640" y="45812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weight</a:t>
            </a:r>
            <a:endParaRPr lang="en-US" sz="480" dirty="0"/>
          </a:p>
        </p:txBody>
      </p:sp>
      <p:sp>
        <p:nvSpPr>
          <p:cNvPr id="43" name="Text 38"/>
          <p:cNvSpPr txBox="1"/>
          <p:nvPr/>
        </p:nvSpPr>
        <p:spPr>
          <a:xfrm>
            <a:off x="5120640" y="4701978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[NET WEIGHT]</a:t>
            </a:r>
            <a:endParaRPr lang="en-US" sz="648" dirty="0"/>
          </a:p>
        </p:txBody>
      </p:sp>
      <p:sp>
        <p:nvSpPr>
          <p:cNvPr id="44" name="Text 39"/>
          <p:cNvSpPr txBox="1"/>
          <p:nvPr/>
        </p:nvSpPr>
        <p:spPr>
          <a:xfrm>
            <a:off x="5120640" y="48738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per carton</a:t>
            </a:r>
            <a:endParaRPr lang="en-US" sz="480" dirty="0"/>
          </a:p>
        </p:txBody>
      </p:sp>
      <p:sp>
        <p:nvSpPr>
          <p:cNvPr id="45" name="Text 40"/>
          <p:cNvSpPr txBox="1"/>
          <p:nvPr/>
        </p:nvSpPr>
        <p:spPr>
          <a:xfrm>
            <a:off x="5120640" y="4994586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[UNITS]</a:t>
            </a:r>
            <a:endParaRPr lang="en-US" sz="648" dirty="0"/>
          </a:p>
        </p:txBody>
      </p:sp>
      <p:sp>
        <p:nvSpPr>
          <p:cNvPr id="46" name="Text 41"/>
          <p:cNvSpPr txBox="1"/>
          <p:nvPr/>
        </p:nvSpPr>
        <p:spPr>
          <a:xfrm>
            <a:off x="5120640" y="51664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size</a:t>
            </a:r>
            <a:endParaRPr lang="en-US" sz="480" dirty="0"/>
          </a:p>
        </p:txBody>
      </p:sp>
      <p:sp>
        <p:nvSpPr>
          <p:cNvPr id="47" name="Text 42"/>
          <p:cNvSpPr txBox="1"/>
          <p:nvPr/>
        </p:nvSpPr>
        <p:spPr>
          <a:xfrm>
            <a:off x="5120640" y="5287194"/>
            <a:ext cx="17983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 × W × H]</a:t>
            </a:r>
            <a:endParaRPr lang="en-US" sz="648" dirty="0"/>
          </a:p>
        </p:txBody>
      </p:sp>
      <p:sp>
        <p:nvSpPr>
          <p:cNvPr id="48" name="Text 43"/>
          <p:cNvSpPr txBox="1"/>
          <p:nvPr/>
        </p:nvSpPr>
        <p:spPr>
          <a:xfrm>
            <a:off x="518160" y="5861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AND PRIVATE LABEL</a:t>
            </a:r>
            <a:endParaRPr lang="en-US" sz="480" dirty="0"/>
          </a:p>
        </p:txBody>
      </p:sp>
      <p:sp>
        <p:nvSpPr>
          <p:cNvPr id="49" name="Shape 44"/>
          <p:cNvSpPr/>
          <p:nvPr/>
        </p:nvSpPr>
        <p:spPr>
          <a:xfrm>
            <a:off x="518160" y="5998464"/>
            <a:ext cx="6522720" cy="9144"/>
          </a:xfrm>
          <a:prstGeom prst="rect">
            <a:avLst/>
          </a:prstGeom>
          <a:solidFill>
            <a:srgbClr val="C8BCAC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518160" y="614868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Bulk carton</a:t>
            </a:r>
            <a:endParaRPr lang="en-US" sz="912" dirty="0"/>
          </a:p>
        </p:txBody>
      </p:sp>
      <p:sp>
        <p:nvSpPr>
          <p:cNvPr id="51" name="Text 46"/>
          <p:cNvSpPr txBox="1"/>
          <p:nvPr/>
        </p:nvSpPr>
        <p:spPr>
          <a:xfrm>
            <a:off x="518160" y="6359195"/>
            <a:ext cx="19507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export carton for wholesale buyers.</a:t>
            </a:r>
            <a:endParaRPr lang="en-US" sz="576" dirty="0"/>
          </a:p>
        </p:txBody>
      </p:sp>
      <p:sp>
        <p:nvSpPr>
          <p:cNvPr id="52" name="Text 47"/>
          <p:cNvSpPr txBox="1"/>
          <p:nvPr/>
        </p:nvSpPr>
        <p:spPr>
          <a:xfrm>
            <a:off x="518160" y="6597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weight</a:t>
            </a:r>
            <a:endParaRPr lang="en-US" sz="504" dirty="0"/>
          </a:p>
        </p:txBody>
      </p:sp>
      <p:sp>
        <p:nvSpPr>
          <p:cNvPr id="53" name="Text 48"/>
          <p:cNvSpPr txBox="1"/>
          <p:nvPr/>
        </p:nvSpPr>
        <p:spPr>
          <a:xfrm>
            <a:off x="1432560" y="659726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[NET WEIGHT]</a:t>
            </a:r>
            <a:endParaRPr lang="en-US" sz="504" dirty="0"/>
          </a:p>
        </p:txBody>
      </p:sp>
      <p:sp>
        <p:nvSpPr>
          <p:cNvPr id="54" name="Text 49"/>
          <p:cNvSpPr txBox="1"/>
          <p:nvPr/>
        </p:nvSpPr>
        <p:spPr>
          <a:xfrm>
            <a:off x="518160" y="679843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per carton</a:t>
            </a:r>
            <a:endParaRPr lang="en-US" sz="504" dirty="0"/>
          </a:p>
        </p:txBody>
      </p:sp>
      <p:sp>
        <p:nvSpPr>
          <p:cNvPr id="55" name="Text 50"/>
          <p:cNvSpPr txBox="1"/>
          <p:nvPr/>
        </p:nvSpPr>
        <p:spPr>
          <a:xfrm>
            <a:off x="1432560" y="679843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[UNITS]</a:t>
            </a:r>
            <a:endParaRPr lang="en-US" sz="504" dirty="0"/>
          </a:p>
        </p:txBody>
      </p:sp>
      <p:sp>
        <p:nvSpPr>
          <p:cNvPr id="56" name="Text 51"/>
          <p:cNvSpPr txBox="1"/>
          <p:nvPr/>
        </p:nvSpPr>
        <p:spPr>
          <a:xfrm>
            <a:off x="518160" y="699959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size</a:t>
            </a:r>
            <a:endParaRPr lang="en-US" sz="504" dirty="0"/>
          </a:p>
        </p:txBody>
      </p:sp>
      <p:sp>
        <p:nvSpPr>
          <p:cNvPr id="57" name="Text 52"/>
          <p:cNvSpPr txBox="1"/>
          <p:nvPr/>
        </p:nvSpPr>
        <p:spPr>
          <a:xfrm>
            <a:off x="1432560" y="699959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 × W × H]</a:t>
            </a:r>
            <a:endParaRPr lang="en-US" sz="504" dirty="0"/>
          </a:p>
        </p:txBody>
      </p:sp>
      <p:sp>
        <p:nvSpPr>
          <p:cNvPr id="58" name="Text 53"/>
          <p:cNvSpPr txBox="1"/>
          <p:nvPr/>
        </p:nvSpPr>
        <p:spPr>
          <a:xfrm>
            <a:off x="2758440" y="614868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Private label</a:t>
            </a:r>
            <a:endParaRPr lang="en-US" sz="912" dirty="0"/>
          </a:p>
        </p:txBody>
      </p:sp>
      <p:sp>
        <p:nvSpPr>
          <p:cNvPr id="59" name="Text 54"/>
          <p:cNvSpPr txBox="1"/>
          <p:nvPr/>
        </p:nvSpPr>
        <p:spPr>
          <a:xfrm>
            <a:off x="2758440" y="6359195"/>
            <a:ext cx="19507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brand, our pack house.</a:t>
            </a:r>
            <a:endParaRPr lang="en-US" sz="576" dirty="0"/>
          </a:p>
        </p:txBody>
      </p:sp>
      <p:sp>
        <p:nvSpPr>
          <p:cNvPr id="60" name="Text 55"/>
          <p:cNvSpPr txBox="1"/>
          <p:nvPr/>
        </p:nvSpPr>
        <p:spPr>
          <a:xfrm>
            <a:off x="2758440" y="6597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run</a:t>
            </a:r>
            <a:endParaRPr lang="en-US" sz="504" dirty="0"/>
          </a:p>
        </p:txBody>
      </p:sp>
      <p:sp>
        <p:nvSpPr>
          <p:cNvPr id="61" name="Text 56"/>
          <p:cNvSpPr txBox="1"/>
          <p:nvPr/>
        </p:nvSpPr>
        <p:spPr>
          <a:xfrm>
            <a:off x="3672840" y="659726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[MINIMUM RUN]</a:t>
            </a:r>
            <a:endParaRPr lang="en-US" sz="504" dirty="0"/>
          </a:p>
        </p:txBody>
      </p:sp>
      <p:sp>
        <p:nvSpPr>
          <p:cNvPr id="62" name="Text 57"/>
          <p:cNvSpPr txBox="1"/>
          <p:nvPr/>
        </p:nvSpPr>
        <p:spPr>
          <a:xfrm>
            <a:off x="2758440" y="679843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artwork</a:t>
            </a:r>
            <a:endParaRPr lang="en-US" sz="504" dirty="0"/>
          </a:p>
        </p:txBody>
      </p:sp>
      <p:sp>
        <p:nvSpPr>
          <p:cNvPr id="63" name="Text 58"/>
          <p:cNvSpPr txBox="1"/>
          <p:nvPr/>
        </p:nvSpPr>
        <p:spPr>
          <a:xfrm>
            <a:off x="3672840" y="679843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[BUYER ARTWORK]</a:t>
            </a:r>
            <a:endParaRPr lang="en-US" sz="504" dirty="0"/>
          </a:p>
        </p:txBody>
      </p:sp>
      <p:sp>
        <p:nvSpPr>
          <p:cNvPr id="64" name="Text 59"/>
          <p:cNvSpPr txBox="1"/>
          <p:nvPr/>
        </p:nvSpPr>
        <p:spPr>
          <a:xfrm>
            <a:off x="2758440" y="699959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</a:t>
            </a:r>
            <a:endParaRPr lang="en-US" sz="504" dirty="0"/>
          </a:p>
        </p:txBody>
      </p:sp>
      <p:sp>
        <p:nvSpPr>
          <p:cNvPr id="65" name="Text 60"/>
          <p:cNvSpPr txBox="1"/>
          <p:nvPr/>
        </p:nvSpPr>
        <p:spPr>
          <a:xfrm>
            <a:off x="3672840" y="699959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[LEAD TIME]</a:t>
            </a:r>
            <a:endParaRPr lang="en-US" sz="504" dirty="0"/>
          </a:p>
        </p:txBody>
      </p:sp>
      <p:sp>
        <p:nvSpPr>
          <p:cNvPr id="66" name="Text 61"/>
          <p:cNvSpPr txBox="1"/>
          <p:nvPr/>
        </p:nvSpPr>
        <p:spPr>
          <a:xfrm>
            <a:off x="4998720" y="6148682"/>
            <a:ext cx="36576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Pallet &amp; container</a:t>
            </a:r>
            <a:endParaRPr lang="en-US" sz="912" dirty="0"/>
          </a:p>
        </p:txBody>
      </p:sp>
      <p:sp>
        <p:nvSpPr>
          <p:cNvPr id="67" name="Text 62"/>
          <p:cNvSpPr txBox="1"/>
          <p:nvPr/>
        </p:nvSpPr>
        <p:spPr>
          <a:xfrm>
            <a:off x="4998720" y="6359195"/>
            <a:ext cx="195072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shipment is built.</a:t>
            </a:r>
            <a:endParaRPr lang="en-US" sz="576" dirty="0"/>
          </a:p>
        </p:txBody>
      </p:sp>
      <p:sp>
        <p:nvSpPr>
          <p:cNvPr id="68" name="Text 63"/>
          <p:cNvSpPr txBox="1"/>
          <p:nvPr/>
        </p:nvSpPr>
        <p:spPr>
          <a:xfrm>
            <a:off x="4998720" y="6597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Pallet size</a:t>
            </a:r>
            <a:endParaRPr lang="en-US" sz="504" dirty="0"/>
          </a:p>
        </p:txBody>
      </p:sp>
      <p:sp>
        <p:nvSpPr>
          <p:cNvPr id="69" name="Text 64"/>
          <p:cNvSpPr txBox="1"/>
          <p:nvPr/>
        </p:nvSpPr>
        <p:spPr>
          <a:xfrm>
            <a:off x="5913120" y="659726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[PALLET SIZE]</a:t>
            </a:r>
            <a:endParaRPr lang="en-US" sz="504" dirty="0"/>
          </a:p>
        </p:txBody>
      </p:sp>
      <p:sp>
        <p:nvSpPr>
          <p:cNvPr id="70" name="Text 65"/>
          <p:cNvSpPr txBox="1"/>
          <p:nvPr/>
        </p:nvSpPr>
        <p:spPr>
          <a:xfrm>
            <a:off x="4998720" y="679843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</a:t>
            </a:r>
            <a:endParaRPr lang="en-US" sz="504" dirty="0"/>
          </a:p>
        </p:txBody>
      </p:sp>
      <p:sp>
        <p:nvSpPr>
          <p:cNvPr id="71" name="Text 66"/>
          <p:cNvSpPr txBox="1"/>
          <p:nvPr/>
        </p:nvSpPr>
        <p:spPr>
          <a:xfrm>
            <a:off x="5913120" y="679843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[20FT / 40FT / 40HC]</a:t>
            </a:r>
            <a:endParaRPr lang="en-US" sz="504" dirty="0"/>
          </a:p>
        </p:txBody>
      </p:sp>
      <p:sp>
        <p:nvSpPr>
          <p:cNvPr id="72" name="Text 67"/>
          <p:cNvSpPr txBox="1"/>
          <p:nvPr/>
        </p:nvSpPr>
        <p:spPr>
          <a:xfrm>
            <a:off x="4998720" y="699959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plan</a:t>
            </a:r>
            <a:endParaRPr lang="en-US" sz="504" dirty="0"/>
          </a:p>
        </p:txBody>
      </p:sp>
      <p:sp>
        <p:nvSpPr>
          <p:cNvPr id="73" name="Text 68"/>
          <p:cNvSpPr txBox="1"/>
          <p:nvPr/>
        </p:nvSpPr>
        <p:spPr>
          <a:xfrm>
            <a:off x="5913120" y="6999599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[LOAD PLAN]</a:t>
            </a:r>
            <a:endParaRPr lang="en-US" sz="504" dirty="0"/>
          </a:p>
        </p:txBody>
      </p:sp>
      <p:sp>
        <p:nvSpPr>
          <p:cNvPr id="74" name="Text 69"/>
          <p:cNvSpPr txBox="1"/>
          <p:nvPr/>
        </p:nvSpPr>
        <p:spPr>
          <a:xfrm>
            <a:off x="518160" y="7385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AND PALLET DATA</a:t>
            </a:r>
            <a:endParaRPr lang="en-US" sz="480" dirty="0"/>
          </a:p>
        </p:txBody>
      </p:sp>
      <p:sp>
        <p:nvSpPr>
          <p:cNvPr id="75" name="Text 70"/>
          <p:cNvSpPr txBox="1"/>
          <p:nvPr/>
        </p:nvSpPr>
        <p:spPr>
          <a:xfrm>
            <a:off x="518160" y="7568641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export carton</a:t>
            </a:r>
            <a:endParaRPr lang="en-US" sz="576" dirty="0"/>
          </a:p>
        </p:txBody>
      </p:sp>
      <p:sp>
        <p:nvSpPr>
          <p:cNvPr id="76" name="Text 71"/>
          <p:cNvSpPr txBox="1"/>
          <p:nvPr/>
        </p:nvSpPr>
        <p:spPr>
          <a:xfrm>
            <a:off x="2996184" y="7568641"/>
            <a:ext cx="3130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 × W × H] · [NET WEIGHT] · [UNITS PER CARTON]</a:t>
            </a:r>
            <a:endParaRPr lang="en-US" sz="576" dirty="0"/>
          </a:p>
        </p:txBody>
      </p:sp>
      <p:sp>
        <p:nvSpPr>
          <p:cNvPr id="77" name="Text 72"/>
          <p:cNvSpPr txBox="1"/>
          <p:nvPr/>
        </p:nvSpPr>
        <p:spPr>
          <a:xfrm>
            <a:off x="6126480" y="7568260"/>
            <a:ext cx="85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78" name="Shape 73"/>
          <p:cNvSpPr/>
          <p:nvPr/>
        </p:nvSpPr>
        <p:spPr>
          <a:xfrm>
            <a:off x="518160" y="776020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9" name="Text 74"/>
          <p:cNvSpPr txBox="1"/>
          <p:nvPr/>
        </p:nvSpPr>
        <p:spPr>
          <a:xfrm>
            <a:off x="518160" y="784905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carton</a:t>
            </a:r>
            <a:endParaRPr lang="en-US" sz="576" dirty="0"/>
          </a:p>
        </p:txBody>
      </p:sp>
      <p:sp>
        <p:nvSpPr>
          <p:cNvPr id="80" name="Text 75"/>
          <p:cNvSpPr txBox="1"/>
          <p:nvPr/>
        </p:nvSpPr>
        <p:spPr>
          <a:xfrm>
            <a:off x="2996184" y="7849057"/>
            <a:ext cx="3130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 × W × H] · [UNITS PER CARTON]</a:t>
            </a:r>
            <a:endParaRPr lang="en-US" sz="576" dirty="0"/>
          </a:p>
        </p:txBody>
      </p:sp>
      <p:sp>
        <p:nvSpPr>
          <p:cNvPr id="81" name="Text 76"/>
          <p:cNvSpPr txBox="1"/>
          <p:nvPr/>
        </p:nvSpPr>
        <p:spPr>
          <a:xfrm>
            <a:off x="6126480" y="7848676"/>
            <a:ext cx="85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82" name="Shape 77"/>
          <p:cNvSpPr/>
          <p:nvPr/>
        </p:nvSpPr>
        <p:spPr>
          <a:xfrm>
            <a:off x="518160" y="804062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518160" y="812947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Pallet / container load</a:t>
            </a:r>
            <a:endParaRPr lang="en-US" sz="576" dirty="0"/>
          </a:p>
        </p:txBody>
      </p:sp>
      <p:sp>
        <p:nvSpPr>
          <p:cNvPr id="84" name="Text 79"/>
          <p:cNvSpPr txBox="1"/>
          <p:nvPr/>
        </p:nvSpPr>
        <p:spPr>
          <a:xfrm>
            <a:off x="2996184" y="8129473"/>
            <a:ext cx="3130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576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[PALLET DIMENSIONS] · [20FT / 40FT / 40HC] · [PALLETS PER CONTAINER]</a:t>
            </a:r>
            <a:endParaRPr lang="en-US" sz="576" dirty="0"/>
          </a:p>
        </p:txBody>
      </p:sp>
      <p:sp>
        <p:nvSpPr>
          <p:cNvPr id="85" name="Text 80"/>
          <p:cNvSpPr txBox="1"/>
          <p:nvPr/>
        </p:nvSpPr>
        <p:spPr>
          <a:xfrm>
            <a:off x="6126480" y="8129092"/>
            <a:ext cx="85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480" dirty="0"/>
          </a:p>
        </p:txBody>
      </p:sp>
      <p:sp>
        <p:nvSpPr>
          <p:cNvPr id="86" name="Shape 81"/>
          <p:cNvSpPr/>
          <p:nvPr/>
        </p:nvSpPr>
        <p:spPr>
          <a:xfrm>
            <a:off x="518160" y="8839200"/>
            <a:ext cx="6522720" cy="115824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87" name="Shape 82"/>
          <p:cNvSpPr/>
          <p:nvPr/>
        </p:nvSpPr>
        <p:spPr>
          <a:xfrm>
            <a:off x="518160" y="883920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88" name="Text 83"/>
          <p:cNvSpPr txBox="1"/>
          <p:nvPr/>
        </p:nvSpPr>
        <p:spPr>
          <a:xfrm>
            <a:off x="701040" y="90008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PRIVATE LABEL RUN WORKS</a:t>
            </a:r>
            <a:endParaRPr lang="en-US" sz="480" dirty="0"/>
          </a:p>
        </p:txBody>
      </p:sp>
      <p:sp>
        <p:nvSpPr>
          <p:cNvPr id="89" name="Text 84"/>
          <p:cNvSpPr txBox="1"/>
          <p:nvPr/>
        </p:nvSpPr>
        <p:spPr>
          <a:xfrm>
            <a:off x="701040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48" dirty="0"/>
          </a:p>
        </p:txBody>
      </p:sp>
      <p:sp>
        <p:nvSpPr>
          <p:cNvPr id="90" name="Text 85"/>
          <p:cNvSpPr txBox="1"/>
          <p:nvPr/>
        </p:nvSpPr>
        <p:spPr>
          <a:xfrm>
            <a:off x="871728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artwork</a:t>
            </a:r>
            <a:endParaRPr lang="en-US" sz="648" dirty="0"/>
          </a:p>
        </p:txBody>
      </p:sp>
      <p:sp>
        <p:nvSpPr>
          <p:cNvPr id="91" name="Text 86"/>
          <p:cNvSpPr txBox="1"/>
          <p:nvPr/>
        </p:nvSpPr>
        <p:spPr>
          <a:xfrm>
            <a:off x="701040" y="9340463"/>
            <a:ext cx="1341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Print-ready label files, or we propose a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you can adapt.</a:t>
            </a:r>
            <a:endParaRPr lang="en-US" sz="504" dirty="0"/>
          </a:p>
        </p:txBody>
      </p:sp>
      <p:sp>
        <p:nvSpPr>
          <p:cNvPr id="92" name="Text 87"/>
          <p:cNvSpPr txBox="1"/>
          <p:nvPr/>
        </p:nvSpPr>
        <p:spPr>
          <a:xfrm>
            <a:off x="2316480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48" dirty="0"/>
          </a:p>
        </p:txBody>
      </p:sp>
      <p:sp>
        <p:nvSpPr>
          <p:cNvPr id="93" name="Text 88"/>
          <p:cNvSpPr txBox="1"/>
          <p:nvPr/>
        </p:nvSpPr>
        <p:spPr>
          <a:xfrm>
            <a:off x="2487168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proof</a:t>
            </a:r>
            <a:endParaRPr lang="en-US" sz="648" dirty="0"/>
          </a:p>
        </p:txBody>
      </p:sp>
      <p:sp>
        <p:nvSpPr>
          <p:cNvPr id="94" name="Text 89"/>
          <p:cNvSpPr txBox="1"/>
          <p:nvPr/>
        </p:nvSpPr>
        <p:spPr>
          <a:xfrm>
            <a:off x="2316480" y="9340463"/>
            <a:ext cx="1341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print a physical proof for your sign-off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production.</a:t>
            </a:r>
            <a:endParaRPr lang="en-US" sz="504" dirty="0"/>
          </a:p>
        </p:txBody>
      </p:sp>
      <p:sp>
        <p:nvSpPr>
          <p:cNvPr id="95" name="Text 90"/>
          <p:cNvSpPr txBox="1"/>
          <p:nvPr/>
        </p:nvSpPr>
        <p:spPr>
          <a:xfrm>
            <a:off x="3931920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48" dirty="0"/>
          </a:p>
        </p:txBody>
      </p:sp>
      <p:sp>
        <p:nvSpPr>
          <p:cNvPr id="96" name="Text 91"/>
          <p:cNvSpPr txBox="1"/>
          <p:nvPr/>
        </p:nvSpPr>
        <p:spPr>
          <a:xfrm>
            <a:off x="4102608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648" dirty="0"/>
          </a:p>
        </p:txBody>
      </p:sp>
      <p:sp>
        <p:nvSpPr>
          <p:cNvPr id="97" name="Text 92"/>
          <p:cNvSpPr txBox="1"/>
          <p:nvPr/>
        </p:nvSpPr>
        <p:spPr>
          <a:xfrm>
            <a:off x="3931920" y="9340463"/>
            <a:ext cx="1341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 to your artwork, with the agreed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weight and count.</a:t>
            </a:r>
            <a:endParaRPr lang="en-US" sz="504" dirty="0"/>
          </a:p>
        </p:txBody>
      </p:sp>
      <p:sp>
        <p:nvSpPr>
          <p:cNvPr id="98" name="Text 93"/>
          <p:cNvSpPr txBox="1"/>
          <p:nvPr/>
        </p:nvSpPr>
        <p:spPr>
          <a:xfrm>
            <a:off x="5547360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48" dirty="0"/>
          </a:p>
        </p:txBody>
      </p:sp>
      <p:sp>
        <p:nvSpPr>
          <p:cNvPr id="99" name="Text 94"/>
          <p:cNvSpPr txBox="1"/>
          <p:nvPr/>
        </p:nvSpPr>
        <p:spPr>
          <a:xfrm>
            <a:off x="5718048" y="918253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648" dirty="0"/>
          </a:p>
        </p:txBody>
      </p:sp>
      <p:sp>
        <p:nvSpPr>
          <p:cNvPr id="100" name="Text 95"/>
          <p:cNvSpPr txBox="1"/>
          <p:nvPr/>
        </p:nvSpPr>
        <p:spPr>
          <a:xfrm>
            <a:off x="5547360" y="9340463"/>
            <a:ext cx="1341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marks, labels and paperwork issued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shipment.</a:t>
            </a:r>
            <a:endParaRPr lang="en-US" sz="50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7F3E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8160" y="34850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68" kern="0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696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&amp; LOGISTICS</a:t>
            </a:r>
            <a:endParaRPr lang="en-US" sz="456" dirty="0"/>
          </a:p>
        </p:txBody>
      </p:sp>
      <p:sp>
        <p:nvSpPr>
          <p:cNvPr id="5" name="Text 3"/>
          <p:cNvSpPr txBox="1"/>
          <p:nvPr/>
        </p:nvSpPr>
        <p:spPr>
          <a:xfrm>
            <a:off x="6370320" y="366960"/>
            <a:ext cx="67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456" dirty="0"/>
          </a:p>
        </p:txBody>
      </p:sp>
      <p:sp>
        <p:nvSpPr>
          <p:cNvPr id="6" name="Shape 4"/>
          <p:cNvSpPr/>
          <p:nvPr/>
        </p:nvSpPr>
        <p:spPr>
          <a:xfrm>
            <a:off x="518160" y="512064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7" name="Shape 5"/>
          <p:cNvSpPr/>
          <p:nvPr/>
        </p:nvSpPr>
        <p:spPr>
          <a:xfrm>
            <a:off x="518160" y="10168128"/>
            <a:ext cx="6522720" cy="9144"/>
          </a:xfrm>
          <a:prstGeom prst="rect">
            <a:avLst/>
          </a:prstGeom>
          <a:solidFill>
            <a:srgbClr val="E1D9C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8160" y="10279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FARVAND · PREMIUM IRANIAN DATES</a:t>
            </a:r>
            <a:endParaRPr lang="en-US" sz="456" dirty="0"/>
          </a:p>
        </p:txBody>
      </p:sp>
      <p:sp>
        <p:nvSpPr>
          <p:cNvPr id="9" name="Text 7"/>
          <p:cNvSpPr txBox="1"/>
          <p:nvPr/>
        </p:nvSpPr>
        <p:spPr>
          <a:xfrm>
            <a:off x="518160" y="10279056"/>
            <a:ext cx="652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EXPORT CATALOG · [YEAR]</a:t>
            </a:r>
            <a:endParaRPr lang="en-US" sz="456" dirty="0"/>
          </a:p>
        </p:txBody>
      </p:sp>
      <p:sp>
        <p:nvSpPr>
          <p:cNvPr id="10" name="Text 8"/>
          <p:cNvSpPr txBox="1"/>
          <p:nvPr/>
        </p:nvSpPr>
        <p:spPr>
          <a:xfrm>
            <a:off x="6431280" y="10279056"/>
            <a:ext cx="60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456" dirty="0"/>
          </a:p>
        </p:txBody>
      </p:sp>
      <p:sp>
        <p:nvSpPr>
          <p:cNvPr id="11" name="Text 9"/>
          <p:cNvSpPr txBox="1"/>
          <p:nvPr/>
        </p:nvSpPr>
        <p:spPr>
          <a:xfrm>
            <a:off x="518160" y="101107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— COMMERCIAL TERMS</a:t>
            </a:r>
            <a:endParaRPr lang="en-US" sz="552" dirty="0"/>
          </a:p>
        </p:txBody>
      </p:sp>
      <p:sp>
        <p:nvSpPr>
          <p:cNvPr id="12" name="Text 10"/>
          <p:cNvSpPr txBox="1"/>
          <p:nvPr/>
        </p:nvSpPr>
        <p:spPr>
          <a:xfrm>
            <a:off x="518160" y="1165506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1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Export &amp; Logistics</a:t>
            </a:r>
            <a:endParaRPr lang="en-US" sz="2112" dirty="0"/>
          </a:p>
        </p:txBody>
      </p:sp>
      <p:sp>
        <p:nvSpPr>
          <p:cNvPr id="13" name="Shape 11"/>
          <p:cNvSpPr/>
          <p:nvPr/>
        </p:nvSpPr>
        <p:spPr>
          <a:xfrm>
            <a:off x="518160" y="1609344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160" y="1827105"/>
            <a:ext cx="51816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terms are the part of a date business that decides whether an order works. Everything below is agreed in writing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production.</a:t>
            </a:r>
            <a:endParaRPr lang="en-US" sz="648" dirty="0"/>
          </a:p>
        </p:txBody>
      </p:sp>
      <p:sp>
        <p:nvSpPr>
          <p:cNvPr id="15" name="Shape 13"/>
          <p:cNvSpPr/>
          <p:nvPr/>
        </p:nvSpPr>
        <p:spPr>
          <a:xfrm>
            <a:off x="518160" y="21336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518160" y="21336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1312" y="22342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ORDER QUANTITY</a:t>
            </a:r>
            <a:endParaRPr lang="en-US" sz="480" dirty="0"/>
          </a:p>
        </p:txBody>
      </p:sp>
      <p:sp>
        <p:nvSpPr>
          <p:cNvPr id="18" name="Text 16"/>
          <p:cNvSpPr txBox="1"/>
          <p:nvPr/>
        </p:nvSpPr>
        <p:spPr>
          <a:xfrm>
            <a:off x="591312" y="23813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[MOQ]</a:t>
            </a:r>
            <a:endParaRPr lang="en-US" sz="912" dirty="0"/>
          </a:p>
        </p:txBody>
      </p:sp>
      <p:sp>
        <p:nvSpPr>
          <p:cNvPr id="19" name="Text 17"/>
          <p:cNvSpPr txBox="1"/>
          <p:nvPr/>
        </p:nvSpPr>
        <p:spPr>
          <a:xfrm>
            <a:off x="591312" y="26348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20" name="Shape 18"/>
          <p:cNvSpPr/>
          <p:nvPr/>
        </p:nvSpPr>
        <p:spPr>
          <a:xfrm>
            <a:off x="2191512" y="21336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1512" y="21336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64664" y="22342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SUPPLY CAPACITY</a:t>
            </a:r>
            <a:endParaRPr lang="en-US" sz="480" dirty="0"/>
          </a:p>
        </p:txBody>
      </p:sp>
      <p:sp>
        <p:nvSpPr>
          <p:cNvPr id="23" name="Text 21"/>
          <p:cNvSpPr txBox="1"/>
          <p:nvPr/>
        </p:nvSpPr>
        <p:spPr>
          <a:xfrm>
            <a:off x="2264664" y="23813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[CAPACITY] MT</a:t>
            </a:r>
            <a:endParaRPr lang="en-US" sz="912" dirty="0"/>
          </a:p>
        </p:txBody>
      </p:sp>
      <p:sp>
        <p:nvSpPr>
          <p:cNvPr id="24" name="Text 22"/>
          <p:cNvSpPr txBox="1"/>
          <p:nvPr/>
        </p:nvSpPr>
        <p:spPr>
          <a:xfrm>
            <a:off x="2264664" y="26348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25" name="Shape 23"/>
          <p:cNvSpPr/>
          <p:nvPr/>
        </p:nvSpPr>
        <p:spPr>
          <a:xfrm>
            <a:off x="3864864" y="21336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4864" y="21336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38016" y="22342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</a:t>
            </a:r>
            <a:endParaRPr lang="en-US" sz="480" dirty="0"/>
          </a:p>
        </p:txBody>
      </p:sp>
      <p:sp>
        <p:nvSpPr>
          <p:cNvPr id="28" name="Text 26"/>
          <p:cNvSpPr txBox="1"/>
          <p:nvPr/>
        </p:nvSpPr>
        <p:spPr>
          <a:xfrm>
            <a:off x="3938016" y="23813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[LEAD TIME]</a:t>
            </a:r>
            <a:endParaRPr lang="en-US" sz="912" dirty="0"/>
          </a:p>
        </p:txBody>
      </p:sp>
      <p:sp>
        <p:nvSpPr>
          <p:cNvPr id="29" name="Text 27"/>
          <p:cNvSpPr txBox="1"/>
          <p:nvPr/>
        </p:nvSpPr>
        <p:spPr>
          <a:xfrm>
            <a:off x="3938016" y="26348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30" name="Shape 28"/>
          <p:cNvSpPr/>
          <p:nvPr/>
        </p:nvSpPr>
        <p:spPr>
          <a:xfrm>
            <a:off x="5538216" y="21336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31" name="Shape 29"/>
          <p:cNvSpPr/>
          <p:nvPr/>
        </p:nvSpPr>
        <p:spPr>
          <a:xfrm>
            <a:off x="5538216" y="21336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11368" y="22342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INCOTERMS</a:t>
            </a:r>
            <a:endParaRPr lang="en-US" sz="480" dirty="0"/>
          </a:p>
        </p:txBody>
      </p:sp>
      <p:sp>
        <p:nvSpPr>
          <p:cNvPr id="33" name="Text 31"/>
          <p:cNvSpPr txBox="1"/>
          <p:nvPr/>
        </p:nvSpPr>
        <p:spPr>
          <a:xfrm>
            <a:off x="5611368" y="23813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[EXW / FOB / CIF]</a:t>
            </a:r>
            <a:endParaRPr lang="en-US" sz="912" dirty="0"/>
          </a:p>
        </p:txBody>
      </p:sp>
      <p:sp>
        <p:nvSpPr>
          <p:cNvPr id="34" name="Text 32"/>
          <p:cNvSpPr txBox="1"/>
          <p:nvPr/>
        </p:nvSpPr>
        <p:spPr>
          <a:xfrm>
            <a:off x="5611368" y="26348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35" name="Shape 33"/>
          <p:cNvSpPr/>
          <p:nvPr/>
        </p:nvSpPr>
        <p:spPr>
          <a:xfrm>
            <a:off x="518160" y="30480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36" name="Shape 34"/>
          <p:cNvSpPr/>
          <p:nvPr/>
        </p:nvSpPr>
        <p:spPr>
          <a:xfrm>
            <a:off x="518160" y="30480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1312" y="31486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OF LOADING</a:t>
            </a:r>
            <a:endParaRPr lang="en-US" sz="480" dirty="0"/>
          </a:p>
        </p:txBody>
      </p:sp>
      <p:sp>
        <p:nvSpPr>
          <p:cNvPr id="38" name="Text 36"/>
          <p:cNvSpPr txBox="1"/>
          <p:nvPr/>
        </p:nvSpPr>
        <p:spPr>
          <a:xfrm>
            <a:off x="591312" y="32957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[PORT OF LOADING]</a:t>
            </a:r>
            <a:endParaRPr lang="en-US" sz="912" dirty="0"/>
          </a:p>
        </p:txBody>
      </p:sp>
      <p:sp>
        <p:nvSpPr>
          <p:cNvPr id="39" name="Text 37"/>
          <p:cNvSpPr txBox="1"/>
          <p:nvPr/>
        </p:nvSpPr>
        <p:spPr>
          <a:xfrm>
            <a:off x="591312" y="3549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40" name="Shape 38"/>
          <p:cNvSpPr/>
          <p:nvPr/>
        </p:nvSpPr>
        <p:spPr>
          <a:xfrm>
            <a:off x="2191512" y="30480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1512" y="30480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264664" y="31486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TERMS</a:t>
            </a:r>
            <a:endParaRPr lang="en-US" sz="480" dirty="0"/>
          </a:p>
        </p:txBody>
      </p:sp>
      <p:sp>
        <p:nvSpPr>
          <p:cNvPr id="43" name="Text 41"/>
          <p:cNvSpPr txBox="1"/>
          <p:nvPr/>
        </p:nvSpPr>
        <p:spPr>
          <a:xfrm>
            <a:off x="2264664" y="32957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[PAYMENT TERMS]</a:t>
            </a:r>
            <a:endParaRPr lang="en-US" sz="912" dirty="0"/>
          </a:p>
        </p:txBody>
      </p:sp>
      <p:sp>
        <p:nvSpPr>
          <p:cNvPr id="44" name="Text 42"/>
          <p:cNvSpPr txBox="1"/>
          <p:nvPr/>
        </p:nvSpPr>
        <p:spPr>
          <a:xfrm>
            <a:off x="2264664" y="3549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45" name="Shape 43"/>
          <p:cNvSpPr/>
          <p:nvPr/>
        </p:nvSpPr>
        <p:spPr>
          <a:xfrm>
            <a:off x="3864864" y="30480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46" name="Shape 44"/>
          <p:cNvSpPr/>
          <p:nvPr/>
        </p:nvSpPr>
        <p:spPr>
          <a:xfrm>
            <a:off x="3864864" y="30480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938016" y="31486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LOADING</a:t>
            </a:r>
            <a:endParaRPr lang="en-US" sz="480" dirty="0"/>
          </a:p>
        </p:txBody>
      </p:sp>
      <p:sp>
        <p:nvSpPr>
          <p:cNvPr id="48" name="Text 46"/>
          <p:cNvSpPr txBox="1"/>
          <p:nvPr/>
        </p:nvSpPr>
        <p:spPr>
          <a:xfrm>
            <a:off x="3938016" y="32957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[20FT / 40FT / 40HC]</a:t>
            </a:r>
            <a:endParaRPr lang="en-US" sz="912" dirty="0"/>
          </a:p>
        </p:txBody>
      </p:sp>
      <p:sp>
        <p:nvSpPr>
          <p:cNvPr id="49" name="Text 47"/>
          <p:cNvSpPr txBox="1"/>
          <p:nvPr/>
        </p:nvSpPr>
        <p:spPr>
          <a:xfrm>
            <a:off x="3938016" y="3549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sp>
        <p:nvSpPr>
          <p:cNvPr id="50" name="Shape 48"/>
          <p:cNvSpPr/>
          <p:nvPr/>
        </p:nvSpPr>
        <p:spPr>
          <a:xfrm>
            <a:off x="5538216" y="3048000"/>
            <a:ext cx="1310640" cy="731520"/>
          </a:xfrm>
          <a:prstGeom prst="rect">
            <a:avLst/>
          </a:prstGeom>
          <a:solidFill>
            <a:srgbClr val="EEECE2"/>
          </a:solidFill>
          <a:ln/>
        </p:spPr>
      </p:sp>
      <p:sp>
        <p:nvSpPr>
          <p:cNvPr id="51" name="Shape 49"/>
          <p:cNvSpPr/>
          <p:nvPr/>
        </p:nvSpPr>
        <p:spPr>
          <a:xfrm>
            <a:off x="5538216" y="3048000"/>
            <a:ext cx="131064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611368" y="3148660"/>
            <a:ext cx="115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977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POLICY</a:t>
            </a:r>
            <a:endParaRPr lang="en-US" sz="480" dirty="0"/>
          </a:p>
        </p:txBody>
      </p:sp>
      <p:sp>
        <p:nvSpPr>
          <p:cNvPr id="53" name="Text 51"/>
          <p:cNvSpPr txBox="1"/>
          <p:nvPr/>
        </p:nvSpPr>
        <p:spPr>
          <a:xfrm>
            <a:off x="5611368" y="3295754"/>
            <a:ext cx="115824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0F3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[SAMPLE POLICY]</a:t>
            </a:r>
            <a:endParaRPr lang="en-US" sz="912" dirty="0"/>
          </a:p>
        </p:txBody>
      </p:sp>
      <p:sp>
        <p:nvSpPr>
          <p:cNvPr id="54" name="Text 52"/>
          <p:cNvSpPr txBox="1"/>
          <p:nvPr/>
        </p:nvSpPr>
        <p:spPr>
          <a:xfrm>
            <a:off x="5611368" y="354926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BCAD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supplied</a:t>
            </a:r>
            <a:endParaRPr lang="en-US" sz="504" dirty="0"/>
          </a:p>
        </p:txBody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4145280"/>
            <a:ext cx="3169920" cy="1524000"/>
          </a:xfrm>
          <a:prstGeom prst="rect">
            <a:avLst/>
          </a:prstGeom>
        </p:spPr>
      </p:pic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4145280"/>
            <a:ext cx="1584960" cy="1524000"/>
          </a:xfrm>
          <a:prstGeom prst="rect">
            <a:avLst/>
          </a:prstGeom>
        </p:spPr>
      </p:pic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0" y="4145280"/>
            <a:ext cx="1584960" cy="1524000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518160" y="58613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MARKETS</a:t>
            </a:r>
            <a:endParaRPr lang="en-US" sz="480" dirty="0"/>
          </a:p>
        </p:txBody>
      </p:sp>
      <p:sp>
        <p:nvSpPr>
          <p:cNvPr id="59" name="Shape 54"/>
          <p:cNvSpPr/>
          <p:nvPr/>
        </p:nvSpPr>
        <p:spPr>
          <a:xfrm>
            <a:off x="518160" y="6004560"/>
            <a:ext cx="792480" cy="18288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518160" y="6066720"/>
            <a:ext cx="79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86" kern="0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</a:t>
            </a:r>
            <a:endParaRPr lang="en-US" sz="456" dirty="0"/>
          </a:p>
        </p:txBody>
      </p:sp>
      <p:sp>
        <p:nvSpPr>
          <p:cNvPr id="61" name="Shape 56"/>
          <p:cNvSpPr/>
          <p:nvPr/>
        </p:nvSpPr>
        <p:spPr>
          <a:xfrm>
            <a:off x="1493520" y="6004560"/>
            <a:ext cx="975360" cy="182880"/>
          </a:xfrm>
          <a:prstGeom prst="rect">
            <a:avLst/>
          </a:prstGeom>
          <a:ln w="42">
            <a:solidFill>
              <a:srgbClr val="C8BCAC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1493520" y="6066720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86" kern="0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[MARKET 2]</a:t>
            </a:r>
            <a:endParaRPr lang="en-US" sz="456" dirty="0"/>
          </a:p>
        </p:txBody>
      </p:sp>
      <p:sp>
        <p:nvSpPr>
          <p:cNvPr id="63" name="Shape 58"/>
          <p:cNvSpPr/>
          <p:nvPr/>
        </p:nvSpPr>
        <p:spPr>
          <a:xfrm>
            <a:off x="2651760" y="6004560"/>
            <a:ext cx="975360" cy="182880"/>
          </a:xfrm>
          <a:prstGeom prst="rect">
            <a:avLst/>
          </a:prstGeom>
          <a:ln w="42">
            <a:solidFill>
              <a:srgbClr val="C8BCAC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2651760" y="6066720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86" kern="0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[MARKET 3]</a:t>
            </a:r>
            <a:endParaRPr lang="en-US" sz="456" dirty="0"/>
          </a:p>
        </p:txBody>
      </p:sp>
      <p:sp>
        <p:nvSpPr>
          <p:cNvPr id="65" name="Shape 60"/>
          <p:cNvSpPr/>
          <p:nvPr/>
        </p:nvSpPr>
        <p:spPr>
          <a:xfrm>
            <a:off x="3810000" y="6004560"/>
            <a:ext cx="975360" cy="182880"/>
          </a:xfrm>
          <a:prstGeom prst="rect">
            <a:avLst/>
          </a:prstGeom>
          <a:ln w="42">
            <a:solidFill>
              <a:srgbClr val="C8BCAC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3810000" y="6066720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86" kern="0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[MARKET 4]</a:t>
            </a:r>
            <a:endParaRPr lang="en-US" sz="456" dirty="0"/>
          </a:p>
        </p:txBody>
      </p:sp>
      <p:sp>
        <p:nvSpPr>
          <p:cNvPr id="67" name="Shape 62"/>
          <p:cNvSpPr/>
          <p:nvPr/>
        </p:nvSpPr>
        <p:spPr>
          <a:xfrm>
            <a:off x="4968240" y="6004560"/>
            <a:ext cx="975360" cy="182880"/>
          </a:xfrm>
          <a:prstGeom prst="rect">
            <a:avLst/>
          </a:prstGeom>
          <a:ln w="42">
            <a:solidFill>
              <a:srgbClr val="C8BCAC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4968240" y="6066720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"/>
              </a:lnSpc>
              <a:buNone/>
            </a:pPr>
            <a:r>
              <a:rPr lang="en-US" sz="456" spc="86" kern="0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[MARKET 5]</a:t>
            </a:r>
            <a:endParaRPr lang="en-US" sz="456" dirty="0"/>
          </a:p>
        </p:txBody>
      </p:sp>
      <p:sp>
        <p:nvSpPr>
          <p:cNvPr id="69" name="Text 64"/>
          <p:cNvSpPr txBox="1"/>
          <p:nvPr/>
        </p:nvSpPr>
        <p:spPr>
          <a:xfrm>
            <a:off x="518160" y="6362529"/>
            <a:ext cx="33528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is our priority market. We work with importers, wholesale distributors and retail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5B3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chains — and we quote against the specification they already sell, not ours.</a:t>
            </a:r>
            <a:endParaRPr lang="en-US" sz="648" dirty="0"/>
          </a:p>
        </p:txBody>
      </p:sp>
      <p:sp>
        <p:nvSpPr>
          <p:cNvPr id="70" name="Shape 65"/>
          <p:cNvSpPr/>
          <p:nvPr/>
        </p:nvSpPr>
        <p:spPr>
          <a:xfrm>
            <a:off x="4328160" y="6278880"/>
            <a:ext cx="2712720" cy="975360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71" name="Shape 66"/>
          <p:cNvSpPr/>
          <p:nvPr/>
        </p:nvSpPr>
        <p:spPr>
          <a:xfrm>
            <a:off x="4328160" y="6278880"/>
            <a:ext cx="12192" cy="975360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72" name="Text 67"/>
          <p:cNvSpPr txBox="1"/>
          <p:nvPr/>
        </p:nvSpPr>
        <p:spPr>
          <a:xfrm>
            <a:off x="4480560" y="64405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&amp; DOCUMENTS</a:t>
            </a:r>
            <a:endParaRPr lang="en-US" sz="480" dirty="0"/>
          </a:p>
        </p:txBody>
      </p:sp>
      <p:sp>
        <p:nvSpPr>
          <p:cNvPr id="73" name="Text 68"/>
          <p:cNvSpPr txBox="1"/>
          <p:nvPr/>
        </p:nvSpPr>
        <p:spPr>
          <a:xfrm>
            <a:off x="4480560" y="6603035"/>
            <a:ext cx="243840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shipment is accompanied by the documents your customs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 asks for, issued before the container is sealed. [ADD: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POLICY, INSURANCE, TEMPERATURE OR CARE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FOR SOFT DATES.]</a:t>
            </a:r>
            <a:endParaRPr lang="en-US" sz="576" dirty="0"/>
          </a:p>
        </p:txBody>
      </p:sp>
      <p:sp>
        <p:nvSpPr>
          <p:cNvPr id="74" name="Text 69"/>
          <p:cNvSpPr txBox="1"/>
          <p:nvPr/>
        </p:nvSpPr>
        <p:spPr>
          <a:xfrm>
            <a:off x="518160" y="75073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 ORDER RUNS</a:t>
            </a:r>
            <a:endParaRPr lang="en-US" sz="480" dirty="0"/>
          </a:p>
        </p:txBody>
      </p:sp>
      <p:sp>
        <p:nvSpPr>
          <p:cNvPr id="75" name="Shape 70"/>
          <p:cNvSpPr/>
          <p:nvPr/>
        </p:nvSpPr>
        <p:spPr>
          <a:xfrm>
            <a:off x="518160" y="7644384"/>
            <a:ext cx="6522720" cy="9144"/>
          </a:xfrm>
          <a:prstGeom prst="rect">
            <a:avLst/>
          </a:prstGeom>
          <a:solidFill>
            <a:srgbClr val="C8BCAC"/>
          </a:solidFill>
          <a:ln/>
        </p:spPr>
      </p:sp>
      <p:sp>
        <p:nvSpPr>
          <p:cNvPr id="76" name="Text 71"/>
          <p:cNvSpPr txBox="1"/>
          <p:nvPr/>
        </p:nvSpPr>
        <p:spPr>
          <a:xfrm>
            <a:off x="518160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48" dirty="0"/>
          </a:p>
        </p:txBody>
      </p:sp>
      <p:sp>
        <p:nvSpPr>
          <p:cNvPr id="77" name="Text 72"/>
          <p:cNvSpPr txBox="1"/>
          <p:nvPr/>
        </p:nvSpPr>
        <p:spPr>
          <a:xfrm>
            <a:off x="688848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Inquiry</a:t>
            </a:r>
            <a:endParaRPr lang="en-US" sz="648" dirty="0"/>
          </a:p>
        </p:txBody>
      </p:sp>
      <p:sp>
        <p:nvSpPr>
          <p:cNvPr id="78" name="Text 73"/>
          <p:cNvSpPr txBox="1"/>
          <p:nvPr/>
        </p:nvSpPr>
        <p:spPr>
          <a:xfrm>
            <a:off x="518160" y="7956671"/>
            <a:ext cx="131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Variety, pack, quantity and destination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port.</a:t>
            </a:r>
            <a:endParaRPr lang="en-US" sz="504" dirty="0"/>
          </a:p>
        </p:txBody>
      </p:sp>
      <p:sp>
        <p:nvSpPr>
          <p:cNvPr id="79" name="Text 74"/>
          <p:cNvSpPr txBox="1"/>
          <p:nvPr/>
        </p:nvSpPr>
        <p:spPr>
          <a:xfrm>
            <a:off x="2191512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48" dirty="0"/>
          </a:p>
        </p:txBody>
      </p:sp>
      <p:sp>
        <p:nvSpPr>
          <p:cNvPr id="80" name="Text 75"/>
          <p:cNvSpPr txBox="1"/>
          <p:nvPr/>
        </p:nvSpPr>
        <p:spPr>
          <a:xfrm>
            <a:off x="2362200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 &amp; quotation</a:t>
            </a:r>
            <a:endParaRPr lang="en-US" sz="648" dirty="0"/>
          </a:p>
        </p:txBody>
      </p:sp>
      <p:sp>
        <p:nvSpPr>
          <p:cNvPr id="81" name="Text 76"/>
          <p:cNvSpPr txBox="1"/>
          <p:nvPr/>
        </p:nvSpPr>
        <p:spPr>
          <a:xfrm>
            <a:off x="2191512" y="7956671"/>
            <a:ext cx="131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Grade, count, moisture and price, in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writing.</a:t>
            </a:r>
            <a:endParaRPr lang="en-US" sz="504" dirty="0"/>
          </a:p>
        </p:txBody>
      </p:sp>
      <p:sp>
        <p:nvSpPr>
          <p:cNvPr id="82" name="Text 77"/>
          <p:cNvSpPr txBox="1"/>
          <p:nvPr/>
        </p:nvSpPr>
        <p:spPr>
          <a:xfrm>
            <a:off x="3864864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48" dirty="0"/>
          </a:p>
        </p:txBody>
      </p:sp>
      <p:sp>
        <p:nvSpPr>
          <p:cNvPr id="83" name="Text 78"/>
          <p:cNvSpPr txBox="1"/>
          <p:nvPr/>
        </p:nvSpPr>
        <p:spPr>
          <a:xfrm>
            <a:off x="4035552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&amp; packing</a:t>
            </a:r>
            <a:endParaRPr lang="en-US" sz="648" dirty="0"/>
          </a:p>
        </p:txBody>
      </p:sp>
      <p:sp>
        <p:nvSpPr>
          <p:cNvPr id="84" name="Text 79"/>
          <p:cNvSpPr txBox="1"/>
          <p:nvPr/>
        </p:nvSpPr>
        <p:spPr>
          <a:xfrm>
            <a:off x="3864864" y="7956671"/>
            <a:ext cx="131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Sourcing, sorting, packing and lot coding.</a:t>
            </a:r>
            <a:endParaRPr lang="en-US" sz="504" dirty="0"/>
          </a:p>
        </p:txBody>
      </p:sp>
      <p:sp>
        <p:nvSpPr>
          <p:cNvPr id="85" name="Text 80"/>
          <p:cNvSpPr txBox="1"/>
          <p:nvPr/>
        </p:nvSpPr>
        <p:spPr>
          <a:xfrm>
            <a:off x="5538216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48" dirty="0"/>
          </a:p>
        </p:txBody>
      </p:sp>
      <p:sp>
        <p:nvSpPr>
          <p:cNvPr id="86" name="Text 81"/>
          <p:cNvSpPr txBox="1"/>
          <p:nvPr/>
        </p:nvSpPr>
        <p:spPr>
          <a:xfrm>
            <a:off x="5708904" y="7780458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0F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&amp; shipment</a:t>
            </a:r>
            <a:endParaRPr lang="en-US" sz="648" dirty="0"/>
          </a:p>
        </p:txBody>
      </p:sp>
      <p:sp>
        <p:nvSpPr>
          <p:cNvPr id="87" name="Text 82"/>
          <p:cNvSpPr txBox="1"/>
          <p:nvPr/>
        </p:nvSpPr>
        <p:spPr>
          <a:xfrm>
            <a:off x="5538216" y="7956671"/>
            <a:ext cx="131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papers issued, container sealed,</a:t>
            </a:r>
            <a:endParaRPr lang="en-US" sz="504" dirty="0"/>
          </a:p>
          <a:p>
            <a:pPr algn="l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927B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 loaded.</a:t>
            </a:r>
            <a:endParaRPr lang="en-US" sz="504" dirty="0"/>
          </a:p>
        </p:txBody>
      </p:sp>
      <p:sp>
        <p:nvSpPr>
          <p:cNvPr id="88" name="Shape 83"/>
          <p:cNvSpPr/>
          <p:nvPr/>
        </p:nvSpPr>
        <p:spPr>
          <a:xfrm>
            <a:off x="0" y="8351520"/>
            <a:ext cx="7559040" cy="2340864"/>
          </a:xfrm>
          <a:prstGeom prst="rect">
            <a:avLst/>
          </a:prstGeom>
          <a:solidFill>
            <a:srgbClr val="0F3B2E"/>
          </a:solidFill>
          <a:ln/>
        </p:spPr>
      </p:sp>
      <p:pic>
        <p:nvPicPr>
          <p:cNvPr id="8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20" y="8351520"/>
            <a:ext cx="2560320" cy="2340864"/>
          </a:xfrm>
          <a:prstGeom prst="rect">
            <a:avLst/>
          </a:prstGeom>
        </p:spPr>
      </p:pic>
      <p:pic>
        <p:nvPicPr>
          <p:cNvPr id="9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720" y="8351520"/>
            <a:ext cx="2560320" cy="2340864"/>
          </a:xfrm>
          <a:prstGeom prst="rect">
            <a:avLst/>
          </a:prstGeom>
        </p:spPr>
      </p:pic>
      <p:sp>
        <p:nvSpPr>
          <p:cNvPr id="91" name="Shape 84"/>
          <p:cNvSpPr/>
          <p:nvPr/>
        </p:nvSpPr>
        <p:spPr>
          <a:xfrm>
            <a:off x="518160" y="862584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92" name="Text 85"/>
          <p:cNvSpPr txBox="1"/>
          <p:nvPr/>
        </p:nvSpPr>
        <p:spPr>
          <a:xfrm>
            <a:off x="518160" y="8755929"/>
            <a:ext cx="41148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Serving buyers in India and beyond.</a:t>
            </a:r>
            <a:endParaRPr lang="en-US" sz="1440" dirty="0"/>
          </a:p>
        </p:txBody>
      </p:sp>
      <p:sp>
        <p:nvSpPr>
          <p:cNvPr id="93" name="Text 86"/>
          <p:cNvSpPr txBox="1"/>
          <p:nvPr/>
        </p:nvSpPr>
        <p:spPr>
          <a:xfrm>
            <a:off x="518160" y="9163355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shown in brackets are agreed with the buyer before order confirmation. We do not publish figures we cannot</a:t>
            </a:r>
            <a:endParaRPr lang="en-US" sz="576" dirty="0"/>
          </a:p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honour — the quotation is the commitment, and it is written to be kept.</a:t>
            </a:r>
            <a:endParaRPr lang="en-US" sz="57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0F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457200"/>
            <a:ext cx="280416" cy="2804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6112" y="461553"/>
            <a:ext cx="365760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1104" spc="216" kern="0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1104" dirty="0"/>
          </a:p>
        </p:txBody>
      </p:sp>
      <p:sp>
        <p:nvSpPr>
          <p:cNvPr id="5" name="Text 2"/>
          <p:cNvSpPr txBox="1"/>
          <p:nvPr/>
        </p:nvSpPr>
        <p:spPr>
          <a:xfrm>
            <a:off x="902208" y="67766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08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Iranian Dates</a:t>
            </a:r>
            <a:endParaRPr lang="en-US" sz="408" dirty="0"/>
          </a:p>
        </p:txBody>
      </p:sp>
      <p:sp>
        <p:nvSpPr>
          <p:cNvPr id="6" name="Text 3"/>
          <p:cNvSpPr txBox="1"/>
          <p:nvPr/>
        </p:nvSpPr>
        <p:spPr>
          <a:xfrm>
            <a:off x="518160" y="171211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552" spc="125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— NEXT STEP</a:t>
            </a:r>
            <a:endParaRPr lang="en-US" sz="552" dirty="0"/>
          </a:p>
        </p:txBody>
      </p:sp>
      <p:sp>
        <p:nvSpPr>
          <p:cNvPr id="7" name="Text 4"/>
          <p:cNvSpPr txBox="1"/>
          <p:nvPr/>
        </p:nvSpPr>
        <p:spPr>
          <a:xfrm>
            <a:off x="518160" y="1864986"/>
            <a:ext cx="54864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2"/>
              </a:lnSpc>
              <a:buNone/>
            </a:pPr>
            <a:r>
              <a:rPr lang="en-US" sz="2496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Request a Quotation</a:t>
            </a:r>
            <a:endParaRPr lang="en-US" sz="2496" dirty="0"/>
          </a:p>
        </p:txBody>
      </p:sp>
      <p:sp>
        <p:nvSpPr>
          <p:cNvPr id="8" name="Shape 5"/>
          <p:cNvSpPr/>
          <p:nvPr/>
        </p:nvSpPr>
        <p:spPr>
          <a:xfrm>
            <a:off x="518160" y="243840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8160" y="2674449"/>
            <a:ext cx="350520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us the variety, the pack format, the quantity and the destination port. We will reply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 specification and an offer — and with anything we cannot do this season stated</a:t>
            </a:r>
            <a:endParaRPr lang="en-US" sz="648" dirty="0"/>
          </a:p>
          <a:p>
            <a:pPr algn="l" indent="0" marL="0">
              <a:lnSpc>
                <a:spcPts val="1008"/>
              </a:lnSpc>
              <a:buNone/>
            </a:pPr>
            <a:r>
              <a:rPr lang="en-US" sz="648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plainly.</a:t>
            </a:r>
            <a:endParaRPr lang="en-US" sz="648" dirty="0"/>
          </a:p>
        </p:txBody>
      </p:sp>
      <p:sp>
        <p:nvSpPr>
          <p:cNvPr id="10" name="Shape 7"/>
          <p:cNvSpPr/>
          <p:nvPr/>
        </p:nvSpPr>
        <p:spPr>
          <a:xfrm>
            <a:off x="518160" y="3596640"/>
            <a:ext cx="182880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8160" y="36851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480" dirty="0"/>
          </a:p>
        </p:txBody>
      </p:sp>
      <p:sp>
        <p:nvSpPr>
          <p:cNvPr id="12" name="Text 9"/>
          <p:cNvSpPr txBox="1"/>
          <p:nvPr/>
        </p:nvSpPr>
        <p:spPr>
          <a:xfrm>
            <a:off x="518160" y="3824154"/>
            <a:ext cx="1889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[CONTACT EMAIL]</a:t>
            </a:r>
            <a:endParaRPr lang="en-US" sz="648" dirty="0"/>
          </a:p>
        </p:txBody>
      </p:sp>
      <p:sp>
        <p:nvSpPr>
          <p:cNvPr id="13" name="Shape 10"/>
          <p:cNvSpPr/>
          <p:nvPr/>
        </p:nvSpPr>
        <p:spPr>
          <a:xfrm>
            <a:off x="2757424" y="3596640"/>
            <a:ext cx="182880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57424" y="36851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480" dirty="0"/>
          </a:p>
        </p:txBody>
      </p:sp>
      <p:sp>
        <p:nvSpPr>
          <p:cNvPr id="15" name="Text 12"/>
          <p:cNvSpPr txBox="1"/>
          <p:nvPr/>
        </p:nvSpPr>
        <p:spPr>
          <a:xfrm>
            <a:off x="2757424" y="3824154"/>
            <a:ext cx="1889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[WHATSAPP NUMBER]</a:t>
            </a:r>
            <a:endParaRPr lang="en-US" sz="648" dirty="0"/>
          </a:p>
        </p:txBody>
      </p:sp>
      <p:sp>
        <p:nvSpPr>
          <p:cNvPr id="16" name="Shape 13"/>
          <p:cNvSpPr/>
          <p:nvPr/>
        </p:nvSpPr>
        <p:spPr>
          <a:xfrm>
            <a:off x="4996688" y="3596640"/>
            <a:ext cx="182880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6688" y="36851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480" dirty="0"/>
          </a:p>
        </p:txBody>
      </p:sp>
      <p:sp>
        <p:nvSpPr>
          <p:cNvPr id="18" name="Text 15"/>
          <p:cNvSpPr txBox="1"/>
          <p:nvPr/>
        </p:nvSpPr>
        <p:spPr>
          <a:xfrm>
            <a:off x="4996688" y="3824154"/>
            <a:ext cx="1889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[WEBSITE]</a:t>
            </a:r>
            <a:endParaRPr lang="en-US" sz="648" dirty="0"/>
          </a:p>
        </p:txBody>
      </p:sp>
      <p:sp>
        <p:nvSpPr>
          <p:cNvPr id="19" name="Shape 16"/>
          <p:cNvSpPr/>
          <p:nvPr/>
        </p:nvSpPr>
        <p:spPr>
          <a:xfrm>
            <a:off x="518160" y="4236720"/>
            <a:ext cx="182880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8160" y="43251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</a:t>
            </a:r>
            <a:endParaRPr lang="en-US" sz="480" dirty="0"/>
          </a:p>
        </p:txBody>
      </p:sp>
      <p:sp>
        <p:nvSpPr>
          <p:cNvPr id="21" name="Text 18"/>
          <p:cNvSpPr txBox="1"/>
          <p:nvPr/>
        </p:nvSpPr>
        <p:spPr>
          <a:xfrm>
            <a:off x="518160" y="4464234"/>
            <a:ext cx="1889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[COMPANY LEGAL NAME]</a:t>
            </a:r>
            <a:endParaRPr lang="en-US" sz="648" dirty="0"/>
          </a:p>
        </p:txBody>
      </p:sp>
      <p:sp>
        <p:nvSpPr>
          <p:cNvPr id="22" name="Shape 19"/>
          <p:cNvSpPr/>
          <p:nvPr/>
        </p:nvSpPr>
        <p:spPr>
          <a:xfrm>
            <a:off x="2757424" y="4236720"/>
            <a:ext cx="182880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757424" y="43251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</a:t>
            </a:r>
            <a:endParaRPr lang="en-US" sz="480" dirty="0"/>
          </a:p>
        </p:txBody>
      </p:sp>
      <p:sp>
        <p:nvSpPr>
          <p:cNvPr id="24" name="Text 21"/>
          <p:cNvSpPr txBox="1"/>
          <p:nvPr/>
        </p:nvSpPr>
        <p:spPr>
          <a:xfrm>
            <a:off x="2757424" y="4464234"/>
            <a:ext cx="1889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[STREET, CITY, POSTAL CODE, COUNTRY]</a:t>
            </a:r>
            <a:endParaRPr lang="en-US" sz="648" dirty="0"/>
          </a:p>
        </p:txBody>
      </p:sp>
      <p:sp>
        <p:nvSpPr>
          <p:cNvPr id="25" name="Shape 22"/>
          <p:cNvSpPr/>
          <p:nvPr/>
        </p:nvSpPr>
        <p:spPr>
          <a:xfrm>
            <a:off x="4996688" y="4236720"/>
            <a:ext cx="1828800" cy="9144"/>
          </a:xfrm>
          <a:prstGeom prst="rect">
            <a:avLst/>
          </a:prstGeom>
          <a:solidFill>
            <a:srgbClr val="778E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996688" y="43251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</a:t>
            </a:r>
            <a:endParaRPr lang="en-US" sz="480" dirty="0"/>
          </a:p>
        </p:txBody>
      </p:sp>
      <p:sp>
        <p:nvSpPr>
          <p:cNvPr id="27" name="Text 24"/>
          <p:cNvSpPr txBox="1"/>
          <p:nvPr/>
        </p:nvSpPr>
        <p:spPr>
          <a:xfrm>
            <a:off x="4996688" y="4464234"/>
            <a:ext cx="1889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[WORKING HOURS · TIME ZONE]</a:t>
            </a:r>
            <a:endParaRPr lang="en-US" sz="648" dirty="0"/>
          </a:p>
        </p:txBody>
      </p:sp>
      <p:sp>
        <p:nvSpPr>
          <p:cNvPr id="28" name="Shape 25"/>
          <p:cNvSpPr/>
          <p:nvPr/>
        </p:nvSpPr>
        <p:spPr>
          <a:xfrm>
            <a:off x="518160" y="4998720"/>
            <a:ext cx="3291840" cy="2133600"/>
          </a:xfrm>
          <a:prstGeom prst="rect">
            <a:avLst/>
          </a:prstGeom>
          <a:solidFill>
            <a:srgbClr val="0B2C23"/>
          </a:solidFill>
          <a:ln/>
        </p:spPr>
      </p:sp>
      <p:sp>
        <p:nvSpPr>
          <p:cNvPr id="29" name="Shape 26"/>
          <p:cNvSpPr/>
          <p:nvPr/>
        </p:nvSpPr>
        <p:spPr>
          <a:xfrm>
            <a:off x="518160" y="499872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01040" y="51603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INCLUDE</a:t>
            </a:r>
            <a:endParaRPr lang="en-US" sz="480" dirty="0"/>
          </a:p>
        </p:txBody>
      </p:sp>
      <p:sp>
        <p:nvSpPr>
          <p:cNvPr id="31" name="Shape 28"/>
          <p:cNvSpPr/>
          <p:nvPr/>
        </p:nvSpPr>
        <p:spPr>
          <a:xfrm>
            <a:off x="701040" y="5462016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0768" y="5438699"/>
            <a:ext cx="27432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Variety and grade, or the shelf you are filling</a:t>
            </a:r>
            <a:endParaRPr lang="en-US" sz="576" dirty="0"/>
          </a:p>
        </p:txBody>
      </p:sp>
      <p:sp>
        <p:nvSpPr>
          <p:cNvPr id="33" name="Shape 30"/>
          <p:cNvSpPr/>
          <p:nvPr/>
        </p:nvSpPr>
        <p:spPr>
          <a:xfrm>
            <a:off x="701040" y="5754624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10768" y="5731307"/>
            <a:ext cx="27432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format and net weight</a:t>
            </a:r>
            <a:endParaRPr lang="en-US" sz="576" dirty="0"/>
          </a:p>
        </p:txBody>
      </p:sp>
      <p:sp>
        <p:nvSpPr>
          <p:cNvPr id="35" name="Shape 32"/>
          <p:cNvSpPr/>
          <p:nvPr/>
        </p:nvSpPr>
        <p:spPr>
          <a:xfrm>
            <a:off x="701040" y="6047232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10768" y="6023915"/>
            <a:ext cx="27432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Quantity, in cartons or tonnes</a:t>
            </a:r>
            <a:endParaRPr lang="en-US" sz="576" dirty="0"/>
          </a:p>
        </p:txBody>
      </p:sp>
      <p:sp>
        <p:nvSpPr>
          <p:cNvPr id="37" name="Shape 34"/>
          <p:cNvSpPr/>
          <p:nvPr/>
        </p:nvSpPr>
        <p:spPr>
          <a:xfrm>
            <a:off x="701040" y="6339840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10768" y="6316523"/>
            <a:ext cx="27432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port and incoterm</a:t>
            </a:r>
            <a:endParaRPr lang="en-US" sz="576" dirty="0"/>
          </a:p>
        </p:txBody>
      </p:sp>
      <p:sp>
        <p:nvSpPr>
          <p:cNvPr id="39" name="Shape 36"/>
          <p:cNvSpPr/>
          <p:nvPr/>
        </p:nvSpPr>
        <p:spPr>
          <a:xfrm>
            <a:off x="701040" y="6632448"/>
            <a:ext cx="24384" cy="2438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10768" y="6609131"/>
            <a:ext cx="27432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576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delivery date</a:t>
            </a:r>
            <a:endParaRPr lang="en-US" sz="576" dirty="0"/>
          </a:p>
        </p:txBody>
      </p:sp>
      <p:sp>
        <p:nvSpPr>
          <p:cNvPr id="41" name="Shape 38"/>
          <p:cNvSpPr/>
          <p:nvPr/>
        </p:nvSpPr>
        <p:spPr>
          <a:xfrm>
            <a:off x="4328160" y="4998720"/>
            <a:ext cx="2712720" cy="2133600"/>
          </a:xfrm>
          <a:prstGeom prst="rect">
            <a:avLst/>
          </a:prstGeom>
          <a:ln w="42">
            <a:solidFill>
              <a:srgbClr val="C8A25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328160" y="5312740"/>
            <a:ext cx="271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FOR THE FULL RANGE</a:t>
            </a:r>
            <a:endParaRPr lang="en-US" sz="480" dirty="0"/>
          </a:p>
        </p:txBody>
      </p:sp>
      <p:sp>
        <p:nvSpPr>
          <p:cNvPr id="43" name="Shape 40"/>
          <p:cNvSpPr/>
          <p:nvPr/>
        </p:nvSpPr>
        <p:spPr>
          <a:xfrm>
            <a:off x="4892040" y="5516880"/>
            <a:ext cx="975360" cy="975360"/>
          </a:xfrm>
          <a:prstGeom prst="rect">
            <a:avLst/>
          </a:prstGeom>
          <a:ln w="42">
            <a:solidFill>
              <a:srgbClr val="778E8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892040" y="5952820"/>
            <a:ext cx="97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"/>
              </a:lnSpc>
              <a:buNone/>
            </a:pPr>
            <a:r>
              <a:rPr lang="en-US" sz="480" spc="82" kern="0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[QR CODE]</a:t>
            </a:r>
            <a:endParaRPr lang="en-US" sz="480" dirty="0"/>
          </a:p>
        </p:txBody>
      </p:sp>
      <p:sp>
        <p:nvSpPr>
          <p:cNvPr id="45" name="Text 42"/>
          <p:cNvSpPr txBox="1"/>
          <p:nvPr/>
        </p:nvSpPr>
        <p:spPr>
          <a:xfrm>
            <a:off x="4328160" y="6652698"/>
            <a:ext cx="271272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F7F3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[WEBSITE]</a:t>
            </a:r>
            <a:endParaRPr lang="en-US" sz="648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7376160"/>
            <a:ext cx="2011680" cy="1158240"/>
          </a:xfrm>
          <a:prstGeom prst="rect">
            <a:avLst/>
          </a:prstGeom>
        </p:spPr>
      </p:pic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80" y="7376160"/>
            <a:ext cx="2011680" cy="1158240"/>
          </a:xfrm>
          <a:prstGeom prst="rect">
            <a:avLst/>
          </a:prstGeom>
        </p:spPr>
      </p:pic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7376160"/>
            <a:ext cx="2011680" cy="1158240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0" y="8778240"/>
            <a:ext cx="7559040" cy="1914144"/>
          </a:xfrm>
          <a:prstGeom prst="rect">
            <a:avLst/>
          </a:prstGeom>
          <a:solidFill>
            <a:srgbClr val="0B2C23"/>
          </a:solidFill>
          <a:ln/>
        </p:spPr>
      </p:sp>
      <p:sp>
        <p:nvSpPr>
          <p:cNvPr id="50" name="Shape 44"/>
          <p:cNvSpPr/>
          <p:nvPr/>
        </p:nvSpPr>
        <p:spPr>
          <a:xfrm>
            <a:off x="518160" y="8991600"/>
            <a:ext cx="365760" cy="9144"/>
          </a:xfrm>
          <a:prstGeom prst="rect">
            <a:avLst/>
          </a:prstGeom>
          <a:solidFill>
            <a:srgbClr val="C8A25A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518160" y="9111374"/>
            <a:ext cx="365760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728" spc="288" kern="0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FARVAND</a:t>
            </a:r>
            <a:endParaRPr lang="en-US" sz="1728" dirty="0"/>
          </a:p>
        </p:txBody>
      </p:sp>
      <p:sp>
        <p:nvSpPr>
          <p:cNvPr id="52" name="Text 46"/>
          <p:cNvSpPr txBox="1"/>
          <p:nvPr/>
        </p:nvSpPr>
        <p:spPr>
          <a:xfrm>
            <a:off x="518160" y="9517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"/>
              </a:lnSpc>
              <a:buNone/>
            </a:pPr>
            <a:r>
              <a:rPr lang="en-US" sz="456" spc="106" kern="0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Iranian Dates · Export catalogue · [YEAR]</a:t>
            </a:r>
            <a:endParaRPr lang="en-US" sz="456" dirty="0"/>
          </a:p>
        </p:txBody>
      </p:sp>
      <p:sp>
        <p:nvSpPr>
          <p:cNvPr id="53" name="Text 47"/>
          <p:cNvSpPr txBox="1"/>
          <p:nvPr/>
        </p:nvSpPr>
        <p:spPr>
          <a:xfrm>
            <a:off x="3078480" y="9135722"/>
            <a:ext cx="3962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12" dirty="0">
                <a:solidFill>
                  <a:srgbClr val="F7F3E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 for considering FARVAND.</a:t>
            </a:r>
            <a:endParaRPr lang="en-US" sz="912" dirty="0"/>
          </a:p>
        </p:txBody>
      </p:sp>
      <p:sp>
        <p:nvSpPr>
          <p:cNvPr id="54" name="Text 48"/>
          <p:cNvSpPr txBox="1"/>
          <p:nvPr/>
        </p:nvSpPr>
        <p:spPr>
          <a:xfrm>
            <a:off x="3078480" y="9365418"/>
            <a:ext cx="39624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64"/>
              </a:lnSpc>
              <a:buNone/>
            </a:pPr>
            <a:r>
              <a:rPr lang="en-US" sz="648" b="1" dirty="0">
                <a:solidFill>
                  <a:srgbClr val="C8A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[CONTACT EMAIL] · [WHATSAPP NUMBER] · [WEBSITE]</a:t>
            </a:r>
            <a:endParaRPr lang="en-US" sz="648" dirty="0"/>
          </a:p>
        </p:txBody>
      </p:sp>
      <p:sp>
        <p:nvSpPr>
          <p:cNvPr id="55" name="Text 49"/>
          <p:cNvSpPr txBox="1"/>
          <p:nvPr/>
        </p:nvSpPr>
        <p:spPr>
          <a:xfrm>
            <a:off x="3078480" y="9553823"/>
            <a:ext cx="396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44"/>
              </a:lnSpc>
              <a:buNone/>
            </a:pPr>
            <a:r>
              <a:rPr lang="en-US" sz="504" dirty="0">
                <a:solidFill>
                  <a:srgbClr val="ADB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Kind regards, the FARVAND team — [CITY], [COUNTRY]</a:t>
            </a:r>
            <a:endParaRPr lang="en-US" sz="50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FARVAND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FARVAND — Premium Iranian Dates · B2B Export Catalog</dc:title>
  <dc:subject>Iranian date export catalog</dc:subject>
  <dc:creator>FARVAND</dc:creator>
  <cp:lastModifiedBy>FARVAND</cp:lastModifiedBy>
  <cp:revision>1</cp:revision>
  <dcterms:created xsi:type="dcterms:W3CDTF">2026-10-15T16:01:42Z</dcterms:created>
  <dcterms:modified xsi:type="dcterms:W3CDTF">2026-10-15T16:01:42Z</dcterms:modified>
</cp:coreProperties>
</file>