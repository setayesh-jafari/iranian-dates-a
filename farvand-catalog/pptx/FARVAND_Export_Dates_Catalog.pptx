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040" cy="1069238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59040" cy="1069238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59040" cy="10692384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95072" y="195072"/>
            <a:ext cx="7168896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" name="Shape 1"/>
          <p:cNvSpPr/>
          <p:nvPr/>
        </p:nvSpPr>
        <p:spPr>
          <a:xfrm>
            <a:off x="195072" y="10491216"/>
            <a:ext cx="7168896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7" name="Shape 2"/>
          <p:cNvSpPr/>
          <p:nvPr/>
        </p:nvSpPr>
        <p:spPr>
          <a:xfrm>
            <a:off x="195072" y="195072"/>
            <a:ext cx="9144" cy="1030224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8" name="Shape 3"/>
          <p:cNvSpPr/>
          <p:nvPr/>
        </p:nvSpPr>
        <p:spPr>
          <a:xfrm>
            <a:off x="7357872" y="195072"/>
            <a:ext cx="9144" cy="10302240"/>
          </a:xfrm>
          <a:prstGeom prst="rect">
            <a:avLst/>
          </a:prstGeom>
          <a:solidFill>
            <a:srgbClr val="C8A25A"/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" y="402336"/>
            <a:ext cx="256032" cy="256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71728" y="408408"/>
            <a:ext cx="3657600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buNone/>
            </a:pPr>
            <a:r>
              <a:rPr lang="en-US" sz="1056" spc="216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1056" dirty="0"/>
          </a:p>
        </p:txBody>
      </p:sp>
      <p:sp>
        <p:nvSpPr>
          <p:cNvPr id="11" name="Text 5"/>
          <p:cNvSpPr txBox="1"/>
          <p:nvPr/>
        </p:nvSpPr>
        <p:spPr>
          <a:xfrm>
            <a:off x="877824" y="61061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08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Iranian Dates</a:t>
            </a:r>
            <a:endParaRPr lang="en-US" sz="408" dirty="0"/>
          </a:p>
        </p:txBody>
      </p:sp>
      <p:sp>
        <p:nvSpPr>
          <p:cNvPr id="12" name="Text 6"/>
          <p:cNvSpPr txBox="1"/>
          <p:nvPr/>
        </p:nvSpPr>
        <p:spPr>
          <a:xfrm>
            <a:off x="4297680" y="470592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</a:t>
            </a:r>
            <a:endParaRPr lang="en-US" sz="456" dirty="0"/>
          </a:p>
        </p:txBody>
      </p:sp>
      <p:sp>
        <p:nvSpPr>
          <p:cNvPr id="13" name="Text 7"/>
          <p:cNvSpPr txBox="1"/>
          <p:nvPr/>
        </p:nvSpPr>
        <p:spPr>
          <a:xfrm>
            <a:off x="4297680" y="60470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[YEAR] · EDITION 01</a:t>
            </a:r>
            <a:endParaRPr lang="en-US" sz="456" dirty="0"/>
          </a:p>
        </p:txBody>
      </p:sp>
      <p:sp>
        <p:nvSpPr>
          <p:cNvPr id="14" name="Text 8"/>
          <p:cNvSpPr txBox="1"/>
          <p:nvPr/>
        </p:nvSpPr>
        <p:spPr>
          <a:xfrm>
            <a:off x="518160" y="68022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Iran’s date harvest, packed for world buyers</a:t>
            </a:r>
            <a:endParaRPr lang="en-US" sz="552" dirty="0"/>
          </a:p>
        </p:txBody>
      </p:sp>
      <p:sp>
        <p:nvSpPr>
          <p:cNvPr id="15" name="Text 9"/>
          <p:cNvSpPr txBox="1"/>
          <p:nvPr/>
        </p:nvSpPr>
        <p:spPr>
          <a:xfrm>
            <a:off x="518160" y="6917326"/>
            <a:ext cx="5791200" cy="1063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8"/>
              </a:lnSpc>
              <a:buNone/>
            </a:pPr>
            <a:r>
              <a:rPr lang="en-US" sz="355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Premium Iranian</a:t>
            </a:r>
            <a:endParaRPr lang="en-US" sz="3552" dirty="0"/>
          </a:p>
          <a:p>
            <a:pPr algn="l" indent="0" marL="0">
              <a:lnSpc>
                <a:spcPts val="3888"/>
              </a:lnSpc>
              <a:buNone/>
            </a:pPr>
            <a:r>
              <a:rPr lang="en-US" sz="355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Dates</a:t>
            </a:r>
            <a:endParaRPr lang="en-US" sz="3552" dirty="0"/>
          </a:p>
        </p:txBody>
      </p:sp>
      <p:sp>
        <p:nvSpPr>
          <p:cNvPr id="16" name="Shape 10"/>
          <p:cNvSpPr/>
          <p:nvPr/>
        </p:nvSpPr>
        <p:spPr>
          <a:xfrm>
            <a:off x="518160" y="8132064"/>
            <a:ext cx="45720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518160" y="8374209"/>
            <a:ext cx="3810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sources, grades and packs Iran’s finest export date varieties — from soft Mazafati to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 Zahedi — for importers, wholesalers and distributors who buy by specification.</a:t>
            </a:r>
            <a:endParaRPr lang="en-US" sz="648" dirty="0"/>
          </a:p>
        </p:txBody>
      </p:sp>
      <p:sp>
        <p:nvSpPr>
          <p:cNvPr id="18" name="Shape 12"/>
          <p:cNvSpPr/>
          <p:nvPr/>
        </p:nvSpPr>
        <p:spPr>
          <a:xfrm>
            <a:off x="518160" y="9418320"/>
            <a:ext cx="652272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518160" y="95475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IMPORTERS · WHOLESALERS · DISTRIBUTORS</a:t>
            </a:r>
            <a:endParaRPr lang="en-US" sz="456" dirty="0"/>
          </a:p>
        </p:txBody>
      </p:sp>
      <p:sp>
        <p:nvSpPr>
          <p:cNvPr id="20" name="Text 14"/>
          <p:cNvSpPr txBox="1"/>
          <p:nvPr/>
        </p:nvSpPr>
        <p:spPr>
          <a:xfrm>
            <a:off x="518160" y="954753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[WEBSITE] · [CONTACT EMAIL]</a:t>
            </a:r>
            <a:endParaRPr lang="en-US" sz="45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316480"/>
            <a:ext cx="3230880" cy="432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STORY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— WHO WE ARE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Our Story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is an Iranian date exporter built around one promise: the carton that arrives should be the carton that was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promised.</a:t>
            </a:r>
            <a:endParaRPr lang="en-US" sz="648" dirty="0"/>
          </a:p>
        </p:txBody>
      </p:sp>
      <p:sp>
        <p:nvSpPr>
          <p:cNvPr id="16" name="Text 13"/>
          <p:cNvSpPr txBox="1"/>
          <p:nvPr/>
        </p:nvSpPr>
        <p:spPr>
          <a:xfrm>
            <a:off x="4053840" y="2339169"/>
            <a:ext cx="298704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began in [YEAR] in [CITY], [PROVINCE] — inside the belt where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Iranian dates are grown. What started as [ORIGIN OF THE BUSINESS] grew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 a focused export operation: [PRODUCER / PACKER / EXPORTER] of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Iranian dates for business buyers who buy by specification, not by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photograph.</a:t>
            </a:r>
            <a:endParaRPr lang="en-US" sz="648" dirty="0"/>
          </a:p>
        </p:txBody>
      </p:sp>
      <p:sp>
        <p:nvSpPr>
          <p:cNvPr id="17" name="Text 14"/>
          <p:cNvSpPr txBox="1"/>
          <p:nvPr/>
        </p:nvSpPr>
        <p:spPr>
          <a:xfrm>
            <a:off x="4053840" y="3162129"/>
            <a:ext cx="2987040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we work with [GROWER PARTNERS / OWNED ORCHARDS] across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[REGIONS] to bring together the varieties buyers reorder — soft Mazafati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Medjoul for retail, drier Zahedi and Lasht for long-haul shipping — and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pack them to the standard each market expects.</a:t>
            </a:r>
            <a:endParaRPr lang="en-US" sz="648" dirty="0"/>
          </a:p>
        </p:txBody>
      </p:sp>
      <p:sp>
        <p:nvSpPr>
          <p:cNvPr id="18" name="Text 15"/>
          <p:cNvSpPr txBox="1"/>
          <p:nvPr/>
        </p:nvSpPr>
        <p:spPr>
          <a:xfrm>
            <a:off x="4053840" y="3954609"/>
            <a:ext cx="2987040" cy="460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own operation covers [SCOPE: SOURCING / PROCESSING / PACKING /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SHIPPING]. Everything outside that — [LAB TESTING, CERTIFICATION,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FREIGHT] — is handled by named partners we will name on request.</a:t>
            </a:r>
            <a:endParaRPr lang="en-US" sz="648" dirty="0"/>
          </a:p>
        </p:txBody>
      </p:sp>
      <p:sp>
        <p:nvSpPr>
          <p:cNvPr id="19" name="Text 16"/>
          <p:cNvSpPr txBox="1"/>
          <p:nvPr/>
        </p:nvSpPr>
        <p:spPr>
          <a:xfrm>
            <a:off x="4053840" y="46726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STAND FOR</a:t>
            </a:r>
            <a:endParaRPr lang="en-US" sz="480" dirty="0"/>
          </a:p>
        </p:txBody>
      </p:sp>
      <p:sp>
        <p:nvSpPr>
          <p:cNvPr id="20" name="Text 17"/>
          <p:cNvSpPr txBox="1"/>
          <p:nvPr/>
        </p:nvSpPr>
        <p:spPr>
          <a:xfrm>
            <a:off x="4053840" y="470163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584" dirty="0"/>
          </a:p>
        </p:txBody>
      </p:sp>
      <p:sp>
        <p:nvSpPr>
          <p:cNvPr id="21" name="Text 18"/>
          <p:cNvSpPr txBox="1"/>
          <p:nvPr/>
        </p:nvSpPr>
        <p:spPr>
          <a:xfrm>
            <a:off x="4389120" y="4884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Traceable sourcing</a:t>
            </a:r>
            <a:endParaRPr lang="en-US" sz="648" dirty="0"/>
          </a:p>
        </p:txBody>
      </p:sp>
      <p:sp>
        <p:nvSpPr>
          <p:cNvPr id="22" name="Text 19"/>
          <p:cNvSpPr txBox="1"/>
          <p:nvPr/>
        </p:nvSpPr>
        <p:spPr>
          <a:xfrm>
            <a:off x="4389120" y="5054651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lot is tied to a grower and a harvest window, so a claim can be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checked rather than trusted.</a:t>
            </a:r>
            <a:endParaRPr lang="en-US" sz="576" dirty="0"/>
          </a:p>
        </p:txBody>
      </p:sp>
      <p:sp>
        <p:nvSpPr>
          <p:cNvPr id="23" name="Text 20"/>
          <p:cNvSpPr txBox="1"/>
          <p:nvPr/>
        </p:nvSpPr>
        <p:spPr>
          <a:xfrm>
            <a:off x="4053840" y="531123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584" dirty="0"/>
          </a:p>
        </p:txBody>
      </p:sp>
      <p:sp>
        <p:nvSpPr>
          <p:cNvPr id="24" name="Text 21"/>
          <p:cNvSpPr txBox="1"/>
          <p:nvPr/>
        </p:nvSpPr>
        <p:spPr>
          <a:xfrm>
            <a:off x="4389120" y="5494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Graded to order</a:t>
            </a:r>
            <a:endParaRPr lang="en-US" sz="648" dirty="0"/>
          </a:p>
        </p:txBody>
      </p:sp>
      <p:sp>
        <p:nvSpPr>
          <p:cNvPr id="25" name="Text 22"/>
          <p:cNvSpPr txBox="1"/>
          <p:nvPr/>
        </p:nvSpPr>
        <p:spPr>
          <a:xfrm>
            <a:off x="4389120" y="5664251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Size, count and moisture are agreed before packing, and the same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 is applied to every carton in the order.</a:t>
            </a:r>
            <a:endParaRPr lang="en-US" sz="576" dirty="0"/>
          </a:p>
        </p:txBody>
      </p:sp>
      <p:sp>
        <p:nvSpPr>
          <p:cNvPr id="26" name="Text 23"/>
          <p:cNvSpPr txBox="1"/>
          <p:nvPr/>
        </p:nvSpPr>
        <p:spPr>
          <a:xfrm>
            <a:off x="4053840" y="592083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584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61040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Paperwork that clears</a:t>
            </a:r>
            <a:endParaRPr lang="en-US" sz="648" dirty="0"/>
          </a:p>
        </p:txBody>
      </p:sp>
      <p:sp>
        <p:nvSpPr>
          <p:cNvPr id="28" name="Text 25"/>
          <p:cNvSpPr txBox="1"/>
          <p:nvPr/>
        </p:nvSpPr>
        <p:spPr>
          <a:xfrm>
            <a:off x="4389120" y="6273851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Invoices, packing lists and phytosanitary documentation are prepared with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shipment, not after it.</a:t>
            </a:r>
            <a:endParaRPr lang="en-US" sz="576" dirty="0"/>
          </a:p>
        </p:txBody>
      </p:sp>
      <p:sp>
        <p:nvSpPr>
          <p:cNvPr id="29" name="Text 26"/>
          <p:cNvSpPr txBox="1"/>
          <p:nvPr/>
        </p:nvSpPr>
        <p:spPr>
          <a:xfrm>
            <a:off x="518160" y="68106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 palms in [GROWING REGION], [PROVINCE] — [HARVEST SEASON].</a:t>
            </a:r>
            <a:endParaRPr lang="en-US" sz="504" dirty="0"/>
          </a:p>
        </p:txBody>
      </p:sp>
      <p:sp>
        <p:nvSpPr>
          <p:cNvPr id="30" name="Text 27"/>
          <p:cNvSpPr txBox="1"/>
          <p:nvPr/>
        </p:nvSpPr>
        <p:spPr>
          <a:xfrm>
            <a:off x="518160" y="74768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</a:t>
            </a:r>
            <a:endParaRPr lang="en-US" sz="480" dirty="0"/>
          </a:p>
        </p:txBody>
      </p:sp>
      <p:sp>
        <p:nvSpPr>
          <p:cNvPr id="31" name="Shape 28"/>
          <p:cNvSpPr/>
          <p:nvPr/>
        </p:nvSpPr>
        <p:spPr>
          <a:xfrm>
            <a:off x="518160" y="7613904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8160" y="773364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97733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3" name="Text 30"/>
          <p:cNvSpPr txBox="1"/>
          <p:nvPr/>
        </p:nvSpPr>
        <p:spPr>
          <a:xfrm>
            <a:off x="518160" y="7944155"/>
            <a:ext cx="134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Founded in [CITY] as [ORIGIN OF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BUSINESS].</a:t>
            </a:r>
            <a:endParaRPr lang="en-US" sz="576" dirty="0"/>
          </a:p>
        </p:txBody>
      </p:sp>
      <p:sp>
        <p:nvSpPr>
          <p:cNvPr id="34" name="Text 31"/>
          <p:cNvSpPr txBox="1"/>
          <p:nvPr/>
        </p:nvSpPr>
        <p:spPr>
          <a:xfrm>
            <a:off x="2191512" y="773364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97733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5" name="Text 32"/>
          <p:cNvSpPr txBox="1"/>
          <p:nvPr/>
        </p:nvSpPr>
        <p:spPr>
          <a:xfrm>
            <a:off x="2191512" y="7944155"/>
            <a:ext cx="134112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export shipment to [MARKET].</a:t>
            </a:r>
            <a:endParaRPr lang="en-US" sz="576" dirty="0"/>
          </a:p>
        </p:txBody>
      </p:sp>
      <p:sp>
        <p:nvSpPr>
          <p:cNvPr id="36" name="Text 33"/>
          <p:cNvSpPr txBox="1"/>
          <p:nvPr/>
        </p:nvSpPr>
        <p:spPr>
          <a:xfrm>
            <a:off x="3864864" y="773364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97733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7" name="Text 34"/>
          <p:cNvSpPr txBox="1"/>
          <p:nvPr/>
        </p:nvSpPr>
        <p:spPr>
          <a:xfrm>
            <a:off x="3864864" y="7944155"/>
            <a:ext cx="134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packing and grading facility in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[CITY].</a:t>
            </a:r>
            <a:endParaRPr lang="en-US" sz="576" dirty="0"/>
          </a:p>
        </p:txBody>
      </p:sp>
      <p:sp>
        <p:nvSpPr>
          <p:cNvPr id="38" name="Text 35"/>
          <p:cNvSpPr txBox="1"/>
          <p:nvPr/>
        </p:nvSpPr>
        <p:spPr>
          <a:xfrm>
            <a:off x="5538216" y="773364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97733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[YEAR]</a:t>
            </a:r>
            <a:endParaRPr lang="en-US" sz="912" dirty="0"/>
          </a:p>
        </p:txBody>
      </p:sp>
      <p:sp>
        <p:nvSpPr>
          <p:cNvPr id="39" name="Text 36"/>
          <p:cNvSpPr txBox="1"/>
          <p:nvPr/>
        </p:nvSpPr>
        <p:spPr>
          <a:xfrm>
            <a:off x="5538216" y="7944155"/>
            <a:ext cx="134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[NEW MARKET, CAPACITY OR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CERTIFICATION].</a:t>
            </a:r>
            <a:endParaRPr lang="en-US" sz="576" dirty="0"/>
          </a:p>
        </p:txBody>
      </p:sp>
      <p:sp>
        <p:nvSpPr>
          <p:cNvPr id="40" name="Shape 37"/>
          <p:cNvSpPr/>
          <p:nvPr/>
        </p:nvSpPr>
        <p:spPr>
          <a:xfrm>
            <a:off x="0" y="9022080"/>
            <a:ext cx="7559040" cy="100584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41" name="Shape 38"/>
          <p:cNvSpPr/>
          <p:nvPr/>
        </p:nvSpPr>
        <p:spPr>
          <a:xfrm>
            <a:off x="518160" y="920496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18160" y="9318602"/>
            <a:ext cx="53340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would rather tell you what we do not know yet than let you find it out at the port.</a:t>
            </a:r>
            <a:endParaRPr lang="en-US" sz="912" dirty="0"/>
          </a:p>
        </p:txBody>
      </p:sp>
      <p:sp>
        <p:nvSpPr>
          <p:cNvPr id="43" name="Text 40"/>
          <p:cNvSpPr txBox="1"/>
          <p:nvPr/>
        </p:nvSpPr>
        <p:spPr>
          <a:xfrm>
            <a:off x="518160" y="97367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[FOUNDER / MANAGING DIRECTOR], [TITLE]</a:t>
            </a:r>
            <a:endParaRPr lang="en-US" sz="50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— PRODUCT PORTFOLIO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FARVAND Range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475488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Iran is the world’s largest producer of dates, and the varieties are not interchangeable: they differ in moisture, colour, size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way they behave in a carton. These are the varieties we source and export.</a:t>
            </a:r>
            <a:endParaRPr lang="en-US" sz="648" dirty="0"/>
          </a:p>
        </p:txBody>
      </p:sp>
      <p:sp>
        <p:nvSpPr>
          <p:cNvPr id="15" name="Shape 13"/>
          <p:cNvSpPr/>
          <p:nvPr/>
        </p:nvSpPr>
        <p:spPr>
          <a:xfrm>
            <a:off x="518160" y="2438400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8160" y="2533754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Mazafati</a:t>
            </a:r>
            <a:endParaRPr lang="en-US" sz="912" dirty="0"/>
          </a:p>
        </p:txBody>
      </p:sp>
      <p:sp>
        <p:nvSpPr>
          <p:cNvPr id="17" name="Text 15"/>
          <p:cNvSpPr txBox="1"/>
          <p:nvPr/>
        </p:nvSpPr>
        <p:spPr>
          <a:xfrm>
            <a:off x="518160" y="27524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18" name="Text 16"/>
          <p:cNvSpPr txBox="1"/>
          <p:nvPr/>
        </p:nvSpPr>
        <p:spPr>
          <a:xfrm>
            <a:off x="518160" y="2908859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Dark, glossy and thin-skinned — the benchmark soft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 of Iran and the variety buyers reorder most.</a:t>
            </a:r>
            <a:endParaRPr lang="en-US" sz="576" dirty="0"/>
          </a:p>
        </p:txBody>
      </p:sp>
      <p:sp>
        <p:nvSpPr>
          <p:cNvPr id="19" name="Text 17"/>
          <p:cNvSpPr txBox="1"/>
          <p:nvPr/>
        </p:nvSpPr>
        <p:spPr>
          <a:xfrm>
            <a:off x="518160" y="3281039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packs, gifting, food manufacturing</a:t>
            </a:r>
            <a:endParaRPr lang="en-US" sz="504" dirty="0"/>
          </a:p>
        </p:txBody>
      </p:sp>
      <p:sp>
        <p:nvSpPr>
          <p:cNvPr id="20" name="Shape 18"/>
          <p:cNvSpPr/>
          <p:nvPr/>
        </p:nvSpPr>
        <p:spPr>
          <a:xfrm>
            <a:off x="2757424" y="2438400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57424" y="2533754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Medjoul</a:t>
            </a:r>
            <a:endParaRPr lang="en-US" sz="912" dirty="0"/>
          </a:p>
        </p:txBody>
      </p:sp>
      <p:sp>
        <p:nvSpPr>
          <p:cNvPr id="22" name="Text 20"/>
          <p:cNvSpPr txBox="1"/>
          <p:nvPr/>
        </p:nvSpPr>
        <p:spPr>
          <a:xfrm>
            <a:off x="2757424" y="27524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23" name="Text 21"/>
          <p:cNvSpPr txBox="1"/>
          <p:nvPr/>
        </p:nvSpPr>
        <p:spPr>
          <a:xfrm>
            <a:off x="2757424" y="2908859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Large, caramel-brown and very high in sugar.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gifting date of the range.</a:t>
            </a:r>
            <a:endParaRPr lang="en-US" sz="576" dirty="0"/>
          </a:p>
        </p:txBody>
      </p:sp>
      <p:sp>
        <p:nvSpPr>
          <p:cNvPr id="24" name="Text 22"/>
          <p:cNvSpPr txBox="1"/>
          <p:nvPr/>
        </p:nvSpPr>
        <p:spPr>
          <a:xfrm>
            <a:off x="2757424" y="3281039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gifting, retail, seasonal gift packs</a:t>
            </a:r>
            <a:endParaRPr lang="en-US" sz="504" dirty="0"/>
          </a:p>
        </p:txBody>
      </p:sp>
      <p:sp>
        <p:nvSpPr>
          <p:cNvPr id="25" name="Shape 23"/>
          <p:cNvSpPr/>
          <p:nvPr/>
        </p:nvSpPr>
        <p:spPr>
          <a:xfrm>
            <a:off x="4996688" y="2438400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6688" y="2533754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Zahedi</a:t>
            </a:r>
            <a:endParaRPr lang="en-US" sz="912" dirty="0"/>
          </a:p>
        </p:txBody>
      </p:sp>
      <p:sp>
        <p:nvSpPr>
          <p:cNvPr id="27" name="Text 25"/>
          <p:cNvSpPr txBox="1"/>
          <p:nvPr/>
        </p:nvSpPr>
        <p:spPr>
          <a:xfrm>
            <a:off x="4996688" y="27524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28" name="Text 26"/>
          <p:cNvSpPr txBox="1"/>
          <p:nvPr/>
        </p:nvSpPr>
        <p:spPr>
          <a:xfrm>
            <a:off x="4996688" y="2908859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Golden, wrinkled and firm with a long shelf life.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choice for long-haul shipping.</a:t>
            </a:r>
            <a:endParaRPr lang="en-US" sz="576" dirty="0"/>
          </a:p>
        </p:txBody>
      </p:sp>
      <p:sp>
        <p:nvSpPr>
          <p:cNvPr id="29" name="Text 27"/>
          <p:cNvSpPr txBox="1"/>
          <p:nvPr/>
        </p:nvSpPr>
        <p:spPr>
          <a:xfrm>
            <a:off x="4996688" y="3281039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Long-haul shipping, bulk, cooking and processing</a:t>
            </a:r>
            <a:endParaRPr lang="en-US" sz="504" dirty="0"/>
          </a:p>
        </p:txBody>
      </p:sp>
      <p:sp>
        <p:nvSpPr>
          <p:cNvPr id="30" name="Shape 28"/>
          <p:cNvSpPr/>
          <p:nvPr/>
        </p:nvSpPr>
        <p:spPr>
          <a:xfrm>
            <a:off x="518160" y="3572256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8160" y="3667610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Kimri</a:t>
            </a:r>
            <a:endParaRPr lang="en-US" sz="912" dirty="0"/>
          </a:p>
        </p:txBody>
      </p:sp>
      <p:sp>
        <p:nvSpPr>
          <p:cNvPr id="32" name="Text 30"/>
          <p:cNvSpPr txBox="1"/>
          <p:nvPr/>
        </p:nvSpPr>
        <p:spPr>
          <a:xfrm>
            <a:off x="518160" y="38862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33" name="Text 31"/>
          <p:cNvSpPr txBox="1"/>
          <p:nvPr/>
        </p:nvSpPr>
        <p:spPr>
          <a:xfrm>
            <a:off x="518160" y="4042715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 and intensely sweet. Packs densely, so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cost per kilo stays competitive.</a:t>
            </a:r>
            <a:endParaRPr lang="en-US" sz="576" dirty="0"/>
          </a:p>
        </p:txBody>
      </p:sp>
      <p:sp>
        <p:nvSpPr>
          <p:cNvPr id="34" name="Text 32"/>
          <p:cNvSpPr txBox="1"/>
          <p:nvPr/>
        </p:nvSpPr>
        <p:spPr>
          <a:xfrm>
            <a:off x="518160" y="4414895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pouches, value packs, high-volume orders</a:t>
            </a:r>
            <a:endParaRPr lang="en-US" sz="504" dirty="0"/>
          </a:p>
        </p:txBody>
      </p:sp>
      <p:sp>
        <p:nvSpPr>
          <p:cNvPr id="35" name="Shape 33"/>
          <p:cNvSpPr/>
          <p:nvPr/>
        </p:nvSpPr>
        <p:spPr>
          <a:xfrm>
            <a:off x="2757424" y="3572256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757424" y="3667610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Shahani</a:t>
            </a:r>
            <a:endParaRPr lang="en-US" sz="912" dirty="0"/>
          </a:p>
        </p:txBody>
      </p:sp>
      <p:sp>
        <p:nvSpPr>
          <p:cNvPr id="37" name="Text 35"/>
          <p:cNvSpPr txBox="1"/>
          <p:nvPr/>
        </p:nvSpPr>
        <p:spPr>
          <a:xfrm>
            <a:off x="2757424" y="38862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Semi-soft</a:t>
            </a:r>
            <a:endParaRPr lang="en-US" sz="480" dirty="0"/>
          </a:p>
        </p:txBody>
      </p:sp>
      <p:sp>
        <p:nvSpPr>
          <p:cNvPr id="38" name="Text 36"/>
          <p:cNvSpPr txBox="1"/>
          <p:nvPr/>
        </p:nvSpPr>
        <p:spPr>
          <a:xfrm>
            <a:off x="2757424" y="4042715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Mid-size amber fruit with a delicate, tender skin and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clean, mild sweetness.</a:t>
            </a:r>
            <a:endParaRPr lang="en-US" sz="576" dirty="0"/>
          </a:p>
        </p:txBody>
      </p:sp>
      <p:sp>
        <p:nvSpPr>
          <p:cNvPr id="39" name="Text 37"/>
          <p:cNvSpPr txBox="1"/>
          <p:nvPr/>
        </p:nvSpPr>
        <p:spPr>
          <a:xfrm>
            <a:off x="2757424" y="4414895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trays, bakery and dessert supply</a:t>
            </a:r>
            <a:endParaRPr lang="en-US" sz="504" dirty="0"/>
          </a:p>
        </p:txBody>
      </p:sp>
      <p:sp>
        <p:nvSpPr>
          <p:cNvPr id="40" name="Shape 38"/>
          <p:cNvSpPr/>
          <p:nvPr/>
        </p:nvSpPr>
        <p:spPr>
          <a:xfrm>
            <a:off x="4996688" y="3572256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96688" y="3667610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Najafi</a:t>
            </a:r>
            <a:endParaRPr lang="en-US" sz="912" dirty="0"/>
          </a:p>
        </p:txBody>
      </p:sp>
      <p:sp>
        <p:nvSpPr>
          <p:cNvPr id="42" name="Text 40"/>
          <p:cNvSpPr txBox="1"/>
          <p:nvPr/>
        </p:nvSpPr>
        <p:spPr>
          <a:xfrm>
            <a:off x="4996688" y="38862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43" name="Text 41"/>
          <p:cNvSpPr txBox="1"/>
          <p:nvPr/>
        </p:nvSpPr>
        <p:spPr>
          <a:xfrm>
            <a:off x="4996688" y="4042715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very dark and soft. A traditional Najaf cultivar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 loyal regional following.</a:t>
            </a:r>
            <a:endParaRPr lang="en-US" sz="576" dirty="0"/>
          </a:p>
        </p:txBody>
      </p:sp>
      <p:sp>
        <p:nvSpPr>
          <p:cNvPr id="44" name="Text 42"/>
          <p:cNvSpPr txBox="1"/>
          <p:nvPr/>
        </p:nvSpPr>
        <p:spPr>
          <a:xfrm>
            <a:off x="4996688" y="4414895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Retail, traditional food processing</a:t>
            </a:r>
            <a:endParaRPr lang="en-US" sz="504" dirty="0"/>
          </a:p>
        </p:txBody>
      </p:sp>
      <p:sp>
        <p:nvSpPr>
          <p:cNvPr id="45" name="Shape 43"/>
          <p:cNvSpPr/>
          <p:nvPr/>
        </p:nvSpPr>
        <p:spPr>
          <a:xfrm>
            <a:off x="518160" y="4706112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18160" y="4801466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Lasht</a:t>
            </a:r>
            <a:endParaRPr lang="en-US" sz="912" dirty="0"/>
          </a:p>
        </p:txBody>
      </p:sp>
      <p:sp>
        <p:nvSpPr>
          <p:cNvPr id="47" name="Text 45"/>
          <p:cNvSpPr txBox="1"/>
          <p:nvPr/>
        </p:nvSpPr>
        <p:spPr>
          <a:xfrm>
            <a:off x="518160" y="50201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48" name="Text 46"/>
          <p:cNvSpPr txBox="1"/>
          <p:nvPr/>
        </p:nvSpPr>
        <p:spPr>
          <a:xfrm>
            <a:off x="518160" y="5176571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Brown, wrinkled and firm — the workhorse of Iranian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cooking and industrial processing.</a:t>
            </a:r>
            <a:endParaRPr lang="en-US" sz="576" dirty="0"/>
          </a:p>
        </p:txBody>
      </p:sp>
      <p:sp>
        <p:nvSpPr>
          <p:cNvPr id="49" name="Text 47"/>
          <p:cNvSpPr txBox="1"/>
          <p:nvPr/>
        </p:nvSpPr>
        <p:spPr>
          <a:xfrm>
            <a:off x="518160" y="5548751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shipments, industrial processing, cooking</a:t>
            </a:r>
            <a:endParaRPr lang="en-US" sz="504" dirty="0"/>
          </a:p>
        </p:txBody>
      </p:sp>
      <p:sp>
        <p:nvSpPr>
          <p:cNvPr id="50" name="Shape 48"/>
          <p:cNvSpPr/>
          <p:nvPr/>
        </p:nvSpPr>
        <p:spPr>
          <a:xfrm>
            <a:off x="2757424" y="4706112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757424" y="4801466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Morki</a:t>
            </a:r>
            <a:endParaRPr lang="en-US" sz="912" dirty="0"/>
          </a:p>
        </p:txBody>
      </p:sp>
      <p:sp>
        <p:nvSpPr>
          <p:cNvPr id="52" name="Text 50"/>
          <p:cNvSpPr txBox="1"/>
          <p:nvPr/>
        </p:nvSpPr>
        <p:spPr>
          <a:xfrm>
            <a:off x="2757424" y="50201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53" name="Text 51"/>
          <p:cNvSpPr txBox="1"/>
          <p:nvPr/>
        </p:nvSpPr>
        <p:spPr>
          <a:xfrm>
            <a:off x="2757424" y="5176571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brown and moderately dry, with a firm bite that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holds well in a mixed gift box.</a:t>
            </a:r>
            <a:endParaRPr lang="en-US" sz="576" dirty="0"/>
          </a:p>
        </p:txBody>
      </p:sp>
      <p:sp>
        <p:nvSpPr>
          <p:cNvPr id="54" name="Text 52"/>
          <p:cNvSpPr txBox="1"/>
          <p:nvPr/>
        </p:nvSpPr>
        <p:spPr>
          <a:xfrm>
            <a:off x="2757424" y="5548751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boxes, retail, catering and hospitality</a:t>
            </a:r>
            <a:endParaRPr lang="en-US" sz="504" dirty="0"/>
          </a:p>
        </p:txBody>
      </p:sp>
      <p:sp>
        <p:nvSpPr>
          <p:cNvPr id="55" name="Shape 53"/>
          <p:cNvSpPr/>
          <p:nvPr/>
        </p:nvSpPr>
        <p:spPr>
          <a:xfrm>
            <a:off x="4996688" y="4706112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996688" y="4801466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Deglet en-Nour</a:t>
            </a:r>
            <a:endParaRPr lang="en-US" sz="912" dirty="0"/>
          </a:p>
        </p:txBody>
      </p:sp>
      <p:sp>
        <p:nvSpPr>
          <p:cNvPr id="57" name="Text 55"/>
          <p:cNvSpPr txBox="1"/>
          <p:nvPr/>
        </p:nvSpPr>
        <p:spPr>
          <a:xfrm>
            <a:off x="4996688" y="50201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58" name="Text 56"/>
          <p:cNvSpPr txBox="1"/>
          <p:nvPr/>
        </p:nvSpPr>
        <p:spPr>
          <a:xfrm>
            <a:off x="4996688" y="5176571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Pale amber with a mild, honeyed flavour and a light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 that eats easily.</a:t>
            </a:r>
            <a:endParaRPr lang="en-US" sz="576" dirty="0"/>
          </a:p>
        </p:txBody>
      </p:sp>
      <p:sp>
        <p:nvSpPr>
          <p:cNvPr id="59" name="Text 57"/>
          <p:cNvSpPr txBox="1"/>
          <p:nvPr/>
        </p:nvSpPr>
        <p:spPr>
          <a:xfrm>
            <a:off x="4996688" y="5548751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retail boxes, bakery and confectionery supply</a:t>
            </a:r>
            <a:endParaRPr lang="en-US" sz="504" dirty="0"/>
          </a:p>
        </p:txBody>
      </p:sp>
      <p:sp>
        <p:nvSpPr>
          <p:cNvPr id="60" name="Shape 58"/>
          <p:cNvSpPr/>
          <p:nvPr/>
        </p:nvSpPr>
        <p:spPr>
          <a:xfrm>
            <a:off x="518160" y="5839968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18160" y="5935322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Barhi</a:t>
            </a:r>
            <a:endParaRPr lang="en-US" sz="912" dirty="0"/>
          </a:p>
        </p:txBody>
      </p:sp>
      <p:sp>
        <p:nvSpPr>
          <p:cNvPr id="62" name="Text 60"/>
          <p:cNvSpPr txBox="1"/>
          <p:nvPr/>
        </p:nvSpPr>
        <p:spPr>
          <a:xfrm>
            <a:off x="518160" y="61539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63" name="Text 61"/>
          <p:cNvSpPr txBox="1"/>
          <p:nvPr/>
        </p:nvSpPr>
        <p:spPr>
          <a:xfrm>
            <a:off x="518160" y="6310427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soft and mild, with low fibre — a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straightforward snacking date.</a:t>
            </a:r>
            <a:endParaRPr lang="en-US" sz="576" dirty="0"/>
          </a:p>
        </p:txBody>
      </p:sp>
      <p:sp>
        <p:nvSpPr>
          <p:cNvPr id="64" name="Text 62"/>
          <p:cNvSpPr txBox="1"/>
          <p:nvPr/>
        </p:nvSpPr>
        <p:spPr>
          <a:xfrm>
            <a:off x="518160" y="6682607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snacking, food manufacturing</a:t>
            </a:r>
            <a:endParaRPr lang="en-US" sz="504" dirty="0"/>
          </a:p>
        </p:txBody>
      </p:sp>
      <p:sp>
        <p:nvSpPr>
          <p:cNvPr id="65" name="Shape 63"/>
          <p:cNvSpPr/>
          <p:nvPr/>
        </p:nvSpPr>
        <p:spPr>
          <a:xfrm>
            <a:off x="2757424" y="5839968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2757424" y="5935322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Harani (Sukkari)</a:t>
            </a:r>
            <a:endParaRPr lang="en-US" sz="912" dirty="0"/>
          </a:p>
        </p:txBody>
      </p:sp>
      <p:sp>
        <p:nvSpPr>
          <p:cNvPr id="67" name="Text 65"/>
          <p:cNvSpPr txBox="1"/>
          <p:nvPr/>
        </p:nvSpPr>
        <p:spPr>
          <a:xfrm>
            <a:off x="2757424" y="61539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68" name="Text 66"/>
          <p:cNvSpPr txBox="1"/>
          <p:nvPr/>
        </p:nvSpPr>
        <p:spPr>
          <a:xfrm>
            <a:off x="2757424" y="6310427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Soft, amber and very sweet. A premium soft date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sold in smaller, higher-value packs.</a:t>
            </a:r>
            <a:endParaRPr lang="en-US" sz="576" dirty="0"/>
          </a:p>
        </p:txBody>
      </p:sp>
      <p:sp>
        <p:nvSpPr>
          <p:cNvPr id="69" name="Text 67"/>
          <p:cNvSpPr txBox="1"/>
          <p:nvPr/>
        </p:nvSpPr>
        <p:spPr>
          <a:xfrm>
            <a:off x="2757424" y="6682607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retail and corporate gifting</a:t>
            </a:r>
            <a:endParaRPr lang="en-US" sz="504" dirty="0"/>
          </a:p>
        </p:txBody>
      </p:sp>
      <p:sp>
        <p:nvSpPr>
          <p:cNvPr id="70" name="Shape 68"/>
          <p:cNvSpPr/>
          <p:nvPr/>
        </p:nvSpPr>
        <p:spPr>
          <a:xfrm>
            <a:off x="4996688" y="5839968"/>
            <a:ext cx="195072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996688" y="5935322"/>
            <a:ext cx="18288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Piarom</a:t>
            </a:r>
            <a:endParaRPr lang="en-US" sz="912" dirty="0"/>
          </a:p>
        </p:txBody>
      </p:sp>
      <p:sp>
        <p:nvSpPr>
          <p:cNvPr id="72" name="Text 70"/>
          <p:cNvSpPr txBox="1"/>
          <p:nvPr/>
        </p:nvSpPr>
        <p:spPr>
          <a:xfrm>
            <a:off x="4996688" y="61539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73" name="Text 71"/>
          <p:cNvSpPr txBox="1"/>
          <p:nvPr/>
        </p:nvSpPr>
        <p:spPr>
          <a:xfrm>
            <a:off x="4996688" y="6310427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dark, dry and chewy — the date most often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described as the chocolate date.</a:t>
            </a:r>
            <a:endParaRPr lang="en-US" sz="576" dirty="0"/>
          </a:p>
        </p:txBody>
      </p:sp>
      <p:sp>
        <p:nvSpPr>
          <p:cNvPr id="74" name="Text 72"/>
          <p:cNvSpPr txBox="1"/>
          <p:nvPr/>
        </p:nvSpPr>
        <p:spPr>
          <a:xfrm>
            <a:off x="4996688" y="6682607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Snacking, premium bulk, gifting</a:t>
            </a:r>
            <a:endParaRPr lang="en-US" sz="504" dirty="0"/>
          </a:p>
        </p:txBody>
      </p:sp>
      <p:sp>
        <p:nvSpPr>
          <p:cNvPr id="75" name="Shape 73"/>
          <p:cNvSpPr/>
          <p:nvPr/>
        </p:nvSpPr>
        <p:spPr>
          <a:xfrm>
            <a:off x="518160" y="7132320"/>
            <a:ext cx="6522720" cy="9144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701040" y="727644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Not sure which variety fits your market?</a:t>
            </a:r>
            <a:endParaRPr lang="en-US" sz="912" dirty="0"/>
          </a:p>
        </p:txBody>
      </p:sp>
      <p:sp>
        <p:nvSpPr>
          <p:cNvPr id="77" name="Text 75"/>
          <p:cNvSpPr txBox="1"/>
          <p:nvPr/>
        </p:nvSpPr>
        <p:spPr>
          <a:xfrm>
            <a:off x="701040" y="7517435"/>
            <a:ext cx="3596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us the variety, the pack and the destination port. We will confirm what we can source this season,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cannot, and what the specification would be — before you ask for a price.</a:t>
            </a:r>
            <a:endParaRPr lang="en-US" sz="576" dirty="0"/>
          </a:p>
        </p:txBody>
      </p:sp>
      <p:sp>
        <p:nvSpPr>
          <p:cNvPr id="78" name="Text 76"/>
          <p:cNvSpPr txBox="1"/>
          <p:nvPr/>
        </p:nvSpPr>
        <p:spPr>
          <a:xfrm>
            <a:off x="4724400" y="7306922"/>
            <a:ext cx="2133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[CONTACT EMAIL]</a:t>
            </a:r>
            <a:endParaRPr lang="en-US" sz="912" dirty="0"/>
          </a:p>
        </p:txBody>
      </p:sp>
      <p:sp>
        <p:nvSpPr>
          <p:cNvPr id="79" name="Text 77"/>
          <p:cNvSpPr txBox="1"/>
          <p:nvPr/>
        </p:nvSpPr>
        <p:spPr>
          <a:xfrm>
            <a:off x="4724400" y="7542143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reply within [RESPONSE TIME] on working days.</a:t>
            </a:r>
            <a:endParaRPr lang="en-US" sz="504" dirty="0"/>
          </a:p>
        </p:txBody>
      </p:sp>
      <p:sp>
        <p:nvSpPr>
          <p:cNvPr id="80" name="Text 78"/>
          <p:cNvSpPr txBox="1"/>
          <p:nvPr/>
        </p:nvSpPr>
        <p:spPr>
          <a:xfrm>
            <a:off x="518160" y="8304143"/>
            <a:ext cx="5486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Cultivar traits shown are typical industry values and vary with growing season, region and grade. Confirm the current-season specification with FARVAND before ordering.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Availability of each variety depends on the harvest window.</a:t>
            </a:r>
            <a:endParaRPr lang="en-US" sz="50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377440"/>
            <a:ext cx="341376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MAZAFATI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— FLAGSHIP VARIETY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Mazafati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20624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requested Iranian date in the world. Dark, glossy, thin-skinned and naturally sweet — and the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 our buyers reorder most.</a:t>
            </a:r>
            <a:endParaRPr lang="en-US" sz="648" dirty="0"/>
          </a:p>
        </p:txBody>
      </p:sp>
      <p:sp>
        <p:nvSpPr>
          <p:cNvPr id="16" name="Text 13"/>
          <p:cNvSpPr txBox="1"/>
          <p:nvPr/>
        </p:nvSpPr>
        <p:spPr>
          <a:xfrm>
            <a:off x="4267200" y="23866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A GLANCE</a:t>
            </a:r>
            <a:endParaRPr lang="en-US" sz="480" dirty="0"/>
          </a:p>
        </p:txBody>
      </p:sp>
      <p:sp>
        <p:nvSpPr>
          <p:cNvPr id="17" name="Text 14"/>
          <p:cNvSpPr txBox="1"/>
          <p:nvPr/>
        </p:nvSpPr>
        <p:spPr>
          <a:xfrm>
            <a:off x="4267200" y="25695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</a:t>
            </a:r>
            <a:endParaRPr lang="en-US" sz="480" dirty="0"/>
          </a:p>
        </p:txBody>
      </p:sp>
      <p:sp>
        <p:nvSpPr>
          <p:cNvPr id="18" name="Text 15"/>
          <p:cNvSpPr txBox="1"/>
          <p:nvPr/>
        </p:nvSpPr>
        <p:spPr>
          <a:xfrm>
            <a:off x="4267200" y="2684202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</a:t>
            </a:r>
            <a:endParaRPr lang="en-US" sz="648" dirty="0"/>
          </a:p>
        </p:txBody>
      </p:sp>
      <p:sp>
        <p:nvSpPr>
          <p:cNvPr id="19" name="Text 16"/>
          <p:cNvSpPr txBox="1"/>
          <p:nvPr/>
        </p:nvSpPr>
        <p:spPr>
          <a:xfrm>
            <a:off x="4267200" y="29231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20" name="Text 17"/>
          <p:cNvSpPr txBox="1"/>
          <p:nvPr/>
        </p:nvSpPr>
        <p:spPr>
          <a:xfrm>
            <a:off x="4267200" y="3037770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(semi-moist)</a:t>
            </a:r>
            <a:endParaRPr lang="en-US" sz="648" dirty="0"/>
          </a:p>
        </p:txBody>
      </p:sp>
      <p:sp>
        <p:nvSpPr>
          <p:cNvPr id="21" name="Text 18"/>
          <p:cNvSpPr txBox="1"/>
          <p:nvPr/>
        </p:nvSpPr>
        <p:spPr>
          <a:xfrm>
            <a:off x="4267200" y="32766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ORIGIN</a:t>
            </a:r>
            <a:endParaRPr lang="en-US" sz="480" dirty="0"/>
          </a:p>
        </p:txBody>
      </p:sp>
      <p:sp>
        <p:nvSpPr>
          <p:cNvPr id="22" name="Text 19"/>
          <p:cNvSpPr txBox="1"/>
          <p:nvPr/>
        </p:nvSpPr>
        <p:spPr>
          <a:xfrm>
            <a:off x="4267200" y="3391338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[GROWING REGION], Iran</a:t>
            </a:r>
            <a:endParaRPr lang="en-US" sz="648" dirty="0"/>
          </a:p>
        </p:txBody>
      </p:sp>
      <p:sp>
        <p:nvSpPr>
          <p:cNvPr id="23" name="Text 20"/>
          <p:cNvSpPr txBox="1"/>
          <p:nvPr/>
        </p:nvSpPr>
        <p:spPr>
          <a:xfrm>
            <a:off x="4267200" y="36302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24" name="Text 21"/>
          <p:cNvSpPr txBox="1"/>
          <p:nvPr/>
        </p:nvSpPr>
        <p:spPr>
          <a:xfrm>
            <a:off x="4267200" y="3744906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 to near-black</a:t>
            </a:r>
            <a:endParaRPr lang="en-US" sz="648" dirty="0"/>
          </a:p>
        </p:txBody>
      </p:sp>
      <p:sp>
        <p:nvSpPr>
          <p:cNvPr id="25" name="Text 22"/>
          <p:cNvSpPr txBox="1"/>
          <p:nvPr/>
        </p:nvSpPr>
        <p:spPr>
          <a:xfrm>
            <a:off x="4267200" y="39838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26" name="Text 23"/>
          <p:cNvSpPr txBox="1"/>
          <p:nvPr/>
        </p:nvSpPr>
        <p:spPr>
          <a:xfrm>
            <a:off x="4267200" y="4098474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 and glossy</a:t>
            </a:r>
            <a:endParaRPr lang="en-US" sz="648" dirty="0"/>
          </a:p>
        </p:txBody>
      </p:sp>
      <p:sp>
        <p:nvSpPr>
          <p:cNvPr id="27" name="Text 24"/>
          <p:cNvSpPr txBox="1"/>
          <p:nvPr/>
        </p:nvSpPr>
        <p:spPr>
          <a:xfrm>
            <a:off x="4267200" y="4337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</a:t>
            </a:r>
            <a:endParaRPr lang="en-US" sz="480" dirty="0"/>
          </a:p>
        </p:txBody>
      </p:sp>
      <p:sp>
        <p:nvSpPr>
          <p:cNvPr id="28" name="Text 25"/>
          <p:cNvSpPr txBox="1"/>
          <p:nvPr/>
        </p:nvSpPr>
        <p:spPr>
          <a:xfrm>
            <a:off x="4267200" y="4452042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Naturally sweet, caramel-like</a:t>
            </a:r>
            <a:endParaRPr lang="en-US" sz="648" dirty="0"/>
          </a:p>
        </p:txBody>
      </p:sp>
      <p:sp>
        <p:nvSpPr>
          <p:cNvPr id="29" name="Text 26"/>
          <p:cNvSpPr txBox="1"/>
          <p:nvPr/>
        </p:nvSpPr>
        <p:spPr>
          <a:xfrm>
            <a:off x="4267200" y="48250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0" name="Text 27"/>
          <p:cNvSpPr txBox="1"/>
          <p:nvPr/>
        </p:nvSpPr>
        <p:spPr>
          <a:xfrm>
            <a:off x="426720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1" name="Text 28"/>
          <p:cNvSpPr txBox="1"/>
          <p:nvPr/>
        </p:nvSpPr>
        <p:spPr>
          <a:xfrm>
            <a:off x="515112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480" dirty="0"/>
          </a:p>
        </p:txBody>
      </p:sp>
      <p:sp>
        <p:nvSpPr>
          <p:cNvPr id="32" name="Shape 29"/>
          <p:cNvSpPr/>
          <p:nvPr/>
        </p:nvSpPr>
        <p:spPr>
          <a:xfrm>
            <a:off x="4267200" y="5071872"/>
            <a:ext cx="268224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267200" y="516681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34" name="Text 31"/>
          <p:cNvSpPr txBox="1"/>
          <p:nvPr/>
        </p:nvSpPr>
        <p:spPr>
          <a:xfrm>
            <a:off x="5151120" y="5166817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[SIZE OR COUNT PER KG]</a:t>
            </a:r>
            <a:endParaRPr lang="en-US" sz="576" dirty="0"/>
          </a:p>
        </p:txBody>
      </p:sp>
      <p:sp>
        <p:nvSpPr>
          <p:cNvPr id="35" name="Text 32"/>
          <p:cNvSpPr txBox="1"/>
          <p:nvPr/>
        </p:nvSpPr>
        <p:spPr>
          <a:xfrm>
            <a:off x="6217920" y="516643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36" name="Shape 33"/>
          <p:cNvSpPr/>
          <p:nvPr/>
        </p:nvSpPr>
        <p:spPr>
          <a:xfrm>
            <a:off x="4267200" y="5370576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67200" y="545942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38" name="Text 35"/>
          <p:cNvSpPr txBox="1"/>
          <p:nvPr/>
        </p:nvSpPr>
        <p:spPr>
          <a:xfrm>
            <a:off x="5151120" y="5459425"/>
            <a:ext cx="106680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 LAB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VERIFIED]</a:t>
            </a:r>
            <a:endParaRPr lang="en-US" sz="576" dirty="0"/>
          </a:p>
        </p:txBody>
      </p:sp>
      <p:sp>
        <p:nvSpPr>
          <p:cNvPr id="39" name="Text 36"/>
          <p:cNvSpPr txBox="1"/>
          <p:nvPr/>
        </p:nvSpPr>
        <p:spPr>
          <a:xfrm>
            <a:off x="6217920" y="5459044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0" name="Shape 37"/>
          <p:cNvSpPr/>
          <p:nvPr/>
        </p:nvSpPr>
        <p:spPr>
          <a:xfrm>
            <a:off x="4267200" y="5663184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67200" y="575203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</a:t>
            </a:r>
            <a:endParaRPr lang="en-US" sz="576" dirty="0"/>
          </a:p>
        </p:txBody>
      </p:sp>
      <p:sp>
        <p:nvSpPr>
          <p:cNvPr id="42" name="Text 39"/>
          <p:cNvSpPr txBox="1"/>
          <p:nvPr/>
        </p:nvSpPr>
        <p:spPr>
          <a:xfrm>
            <a:off x="5151120" y="5752033"/>
            <a:ext cx="106680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[RETAIL PACK + BULK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CARTON]</a:t>
            </a:r>
            <a:endParaRPr lang="en-US" sz="576" dirty="0"/>
          </a:p>
        </p:txBody>
      </p:sp>
      <p:sp>
        <p:nvSpPr>
          <p:cNvPr id="43" name="Text 40"/>
          <p:cNvSpPr txBox="1"/>
          <p:nvPr/>
        </p:nvSpPr>
        <p:spPr>
          <a:xfrm>
            <a:off x="6217920" y="575165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4" name="Shape 41"/>
          <p:cNvSpPr/>
          <p:nvPr/>
        </p:nvSpPr>
        <p:spPr>
          <a:xfrm>
            <a:off x="4267200" y="5955792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267200" y="60446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46" name="Text 43"/>
          <p:cNvSpPr txBox="1"/>
          <p:nvPr/>
        </p:nvSpPr>
        <p:spPr>
          <a:xfrm>
            <a:off x="5151120" y="6044641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47" name="Text 44"/>
          <p:cNvSpPr txBox="1"/>
          <p:nvPr/>
        </p:nvSpPr>
        <p:spPr>
          <a:xfrm>
            <a:off x="6217920" y="60442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8" name="Text 45"/>
          <p:cNvSpPr txBox="1"/>
          <p:nvPr/>
        </p:nvSpPr>
        <p:spPr>
          <a:xfrm>
            <a:off x="518160" y="76901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BUYERS CHOOSE IT</a:t>
            </a:r>
            <a:endParaRPr lang="en-US" sz="480" dirty="0"/>
          </a:p>
        </p:txBody>
      </p:sp>
      <p:sp>
        <p:nvSpPr>
          <p:cNvPr id="49" name="Shape 46"/>
          <p:cNvSpPr/>
          <p:nvPr/>
        </p:nvSpPr>
        <p:spPr>
          <a:xfrm>
            <a:off x="518160" y="7906512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27888" y="7883195"/>
            <a:ext cx="32308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grading and count — the specification is agreed before packing, not after.</a:t>
            </a:r>
            <a:endParaRPr lang="en-US" sz="576" dirty="0"/>
          </a:p>
        </p:txBody>
      </p:sp>
      <p:sp>
        <p:nvSpPr>
          <p:cNvPr id="51" name="Shape 48"/>
          <p:cNvSpPr/>
          <p:nvPr/>
        </p:nvSpPr>
        <p:spPr>
          <a:xfrm>
            <a:off x="518160" y="8186928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27888" y="8163611"/>
            <a:ext cx="32308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strongest repeat-demand variety in India, the Gulf and East Africa.</a:t>
            </a:r>
            <a:endParaRPr lang="en-US" sz="576" dirty="0"/>
          </a:p>
        </p:txBody>
      </p:sp>
      <p:sp>
        <p:nvSpPr>
          <p:cNvPr id="53" name="Shape 50"/>
          <p:cNvSpPr/>
          <p:nvPr/>
        </p:nvSpPr>
        <p:spPr>
          <a:xfrm>
            <a:off x="518160" y="8467344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27888" y="8444027"/>
            <a:ext cx="32308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Dense, dark fruit that keeps its retail look through the supply chain.</a:t>
            </a:r>
            <a:endParaRPr lang="en-US" sz="576" dirty="0"/>
          </a:p>
        </p:txBody>
      </p:sp>
      <p:sp>
        <p:nvSpPr>
          <p:cNvPr id="55" name="Text 52"/>
          <p:cNvSpPr txBox="1"/>
          <p:nvPr/>
        </p:nvSpPr>
        <p:spPr>
          <a:xfrm>
            <a:off x="518160" y="74202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 · [GROWING REGION], Iran · [SEASON] pack.</a:t>
            </a:r>
            <a:endParaRPr lang="en-US" sz="504" dirty="0"/>
          </a:p>
        </p:txBody>
      </p:sp>
      <p:sp>
        <p:nvSpPr>
          <p:cNvPr id="56" name="Shape 53"/>
          <p:cNvSpPr/>
          <p:nvPr/>
        </p:nvSpPr>
        <p:spPr>
          <a:xfrm>
            <a:off x="4267200" y="6278880"/>
            <a:ext cx="2682240" cy="10668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57" name="Shape 54"/>
          <p:cNvSpPr/>
          <p:nvPr/>
        </p:nvSpPr>
        <p:spPr>
          <a:xfrm>
            <a:off x="4267200" y="627888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450080" y="6423002"/>
            <a:ext cx="23164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Ready for a Mazafati quote?</a:t>
            </a:r>
            <a:endParaRPr lang="en-US" sz="912" dirty="0"/>
          </a:p>
        </p:txBody>
      </p:sp>
      <p:sp>
        <p:nvSpPr>
          <p:cNvPr id="59" name="Text 56"/>
          <p:cNvSpPr txBox="1"/>
          <p:nvPr/>
        </p:nvSpPr>
        <p:spPr>
          <a:xfrm>
            <a:off x="4450080" y="6663995"/>
            <a:ext cx="2316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us the pack format, the target quantity and the destination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port. We will come back with a specification and an offer.</a:t>
            </a:r>
            <a:endParaRPr lang="en-US" sz="576" dirty="0"/>
          </a:p>
        </p:txBody>
      </p:sp>
      <p:sp>
        <p:nvSpPr>
          <p:cNvPr id="60" name="Text 57"/>
          <p:cNvSpPr txBox="1"/>
          <p:nvPr/>
        </p:nvSpPr>
        <p:spPr>
          <a:xfrm>
            <a:off x="4450080" y="7073322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</a:t>
            </a:r>
            <a:endParaRPr lang="en-US" sz="648" dirty="0"/>
          </a:p>
        </p:txBody>
      </p:sp>
      <p:sp>
        <p:nvSpPr>
          <p:cNvPr id="61" name="Text 58"/>
          <p:cNvSpPr txBox="1"/>
          <p:nvPr/>
        </p:nvSpPr>
        <p:spPr>
          <a:xfrm>
            <a:off x="4267200" y="7629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SNAPSHOT</a:t>
            </a:r>
            <a:endParaRPr lang="en-US" sz="480" dirty="0"/>
          </a:p>
        </p:txBody>
      </p:sp>
      <p:sp>
        <p:nvSpPr>
          <p:cNvPr id="62" name="Text 59"/>
          <p:cNvSpPr txBox="1"/>
          <p:nvPr/>
        </p:nvSpPr>
        <p:spPr>
          <a:xfrm>
            <a:off x="4267200" y="781248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pack</a:t>
            </a:r>
            <a:endParaRPr lang="en-US" sz="576" dirty="0"/>
          </a:p>
        </p:txBody>
      </p:sp>
      <p:sp>
        <p:nvSpPr>
          <p:cNvPr id="63" name="Text 60"/>
          <p:cNvSpPr txBox="1"/>
          <p:nvPr/>
        </p:nvSpPr>
        <p:spPr>
          <a:xfrm>
            <a:off x="5151120" y="7812481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[PACK TYPE] · [NET WEIGHT]</a:t>
            </a:r>
            <a:endParaRPr lang="en-US" sz="576" dirty="0"/>
          </a:p>
        </p:txBody>
      </p:sp>
      <p:sp>
        <p:nvSpPr>
          <p:cNvPr id="64" name="Text 61"/>
          <p:cNvSpPr txBox="1"/>
          <p:nvPr/>
        </p:nvSpPr>
        <p:spPr>
          <a:xfrm>
            <a:off x="6217920" y="781210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5" name="Shape 62"/>
          <p:cNvSpPr/>
          <p:nvPr/>
        </p:nvSpPr>
        <p:spPr>
          <a:xfrm>
            <a:off x="4267200" y="8016240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4267200" y="810508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carton</a:t>
            </a:r>
            <a:endParaRPr lang="en-US" sz="576" dirty="0"/>
          </a:p>
        </p:txBody>
      </p:sp>
      <p:sp>
        <p:nvSpPr>
          <p:cNvPr id="67" name="Text 64"/>
          <p:cNvSpPr txBox="1"/>
          <p:nvPr/>
        </p:nvSpPr>
        <p:spPr>
          <a:xfrm>
            <a:off x="5151120" y="8105089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 · [UNITS]</a:t>
            </a:r>
            <a:endParaRPr lang="en-US" sz="576" dirty="0"/>
          </a:p>
        </p:txBody>
      </p:sp>
      <p:sp>
        <p:nvSpPr>
          <p:cNvPr id="68" name="Text 65"/>
          <p:cNvSpPr txBox="1"/>
          <p:nvPr/>
        </p:nvSpPr>
        <p:spPr>
          <a:xfrm>
            <a:off x="6217920" y="8104708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9" name="Shape 66"/>
          <p:cNvSpPr/>
          <p:nvPr/>
        </p:nvSpPr>
        <p:spPr>
          <a:xfrm>
            <a:off x="4267200" y="8308848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267200" y="839769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76" dirty="0"/>
          </a:p>
        </p:txBody>
      </p:sp>
      <p:sp>
        <p:nvSpPr>
          <p:cNvPr id="71" name="Text 68"/>
          <p:cNvSpPr txBox="1"/>
          <p:nvPr/>
        </p:nvSpPr>
        <p:spPr>
          <a:xfrm>
            <a:off x="5151120" y="8397697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76" dirty="0"/>
          </a:p>
        </p:txBody>
      </p:sp>
      <p:sp>
        <p:nvSpPr>
          <p:cNvPr id="72" name="Text 69"/>
          <p:cNvSpPr txBox="1"/>
          <p:nvPr/>
        </p:nvSpPr>
        <p:spPr>
          <a:xfrm>
            <a:off x="6217920" y="839731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377440"/>
            <a:ext cx="341376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MEDJOUL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— PREMIUM VARIETY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Medjoul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20624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Large, amber-brown and very high in sugar. Medjoul is the gifting date of the range — larger fruit, higher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per kilo, tighter margins.</a:t>
            </a:r>
            <a:endParaRPr lang="en-US" sz="648" dirty="0"/>
          </a:p>
        </p:txBody>
      </p:sp>
      <p:sp>
        <p:nvSpPr>
          <p:cNvPr id="16" name="Text 13"/>
          <p:cNvSpPr txBox="1"/>
          <p:nvPr/>
        </p:nvSpPr>
        <p:spPr>
          <a:xfrm>
            <a:off x="4267200" y="23866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A GLANCE</a:t>
            </a:r>
            <a:endParaRPr lang="en-US" sz="480" dirty="0"/>
          </a:p>
        </p:txBody>
      </p:sp>
      <p:sp>
        <p:nvSpPr>
          <p:cNvPr id="17" name="Text 14"/>
          <p:cNvSpPr txBox="1"/>
          <p:nvPr/>
        </p:nvSpPr>
        <p:spPr>
          <a:xfrm>
            <a:off x="4267200" y="25695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</a:t>
            </a:r>
            <a:endParaRPr lang="en-US" sz="480" dirty="0"/>
          </a:p>
        </p:txBody>
      </p:sp>
      <p:sp>
        <p:nvSpPr>
          <p:cNvPr id="18" name="Text 15"/>
          <p:cNvSpPr txBox="1"/>
          <p:nvPr/>
        </p:nvSpPr>
        <p:spPr>
          <a:xfrm>
            <a:off x="4267200" y="2684202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 (Medjool)</a:t>
            </a:r>
            <a:endParaRPr lang="en-US" sz="648" dirty="0"/>
          </a:p>
        </p:txBody>
      </p:sp>
      <p:sp>
        <p:nvSpPr>
          <p:cNvPr id="19" name="Text 16"/>
          <p:cNvSpPr txBox="1"/>
          <p:nvPr/>
        </p:nvSpPr>
        <p:spPr>
          <a:xfrm>
            <a:off x="4267200" y="29231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20" name="Text 17"/>
          <p:cNvSpPr txBox="1"/>
          <p:nvPr/>
        </p:nvSpPr>
        <p:spPr>
          <a:xfrm>
            <a:off x="4267200" y="3037770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648" dirty="0"/>
          </a:p>
        </p:txBody>
      </p:sp>
      <p:sp>
        <p:nvSpPr>
          <p:cNvPr id="21" name="Text 18"/>
          <p:cNvSpPr txBox="1"/>
          <p:nvPr/>
        </p:nvSpPr>
        <p:spPr>
          <a:xfrm>
            <a:off x="4267200" y="32766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ORIGIN</a:t>
            </a:r>
            <a:endParaRPr lang="en-US" sz="480" dirty="0"/>
          </a:p>
        </p:txBody>
      </p:sp>
      <p:sp>
        <p:nvSpPr>
          <p:cNvPr id="22" name="Text 19"/>
          <p:cNvSpPr txBox="1"/>
          <p:nvPr/>
        </p:nvSpPr>
        <p:spPr>
          <a:xfrm>
            <a:off x="4267200" y="3391338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[GROWING REGION], Iran</a:t>
            </a:r>
            <a:endParaRPr lang="en-US" sz="648" dirty="0"/>
          </a:p>
        </p:txBody>
      </p:sp>
      <p:sp>
        <p:nvSpPr>
          <p:cNvPr id="23" name="Text 20"/>
          <p:cNvSpPr txBox="1"/>
          <p:nvPr/>
        </p:nvSpPr>
        <p:spPr>
          <a:xfrm>
            <a:off x="4267200" y="36302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24" name="Text 21"/>
          <p:cNvSpPr txBox="1"/>
          <p:nvPr/>
        </p:nvSpPr>
        <p:spPr>
          <a:xfrm>
            <a:off x="4267200" y="3744906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to deep brown</a:t>
            </a:r>
            <a:endParaRPr lang="en-US" sz="648" dirty="0"/>
          </a:p>
        </p:txBody>
      </p:sp>
      <p:sp>
        <p:nvSpPr>
          <p:cNvPr id="25" name="Text 22"/>
          <p:cNvSpPr txBox="1"/>
          <p:nvPr/>
        </p:nvSpPr>
        <p:spPr>
          <a:xfrm>
            <a:off x="4267200" y="39838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26" name="Text 23"/>
          <p:cNvSpPr txBox="1"/>
          <p:nvPr/>
        </p:nvSpPr>
        <p:spPr>
          <a:xfrm>
            <a:off x="4267200" y="4098474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Thick and wrinkled</a:t>
            </a:r>
            <a:endParaRPr lang="en-US" sz="648" dirty="0"/>
          </a:p>
        </p:txBody>
      </p:sp>
      <p:sp>
        <p:nvSpPr>
          <p:cNvPr id="27" name="Text 24"/>
          <p:cNvSpPr txBox="1"/>
          <p:nvPr/>
        </p:nvSpPr>
        <p:spPr>
          <a:xfrm>
            <a:off x="4267200" y="43373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</a:t>
            </a:r>
            <a:endParaRPr lang="en-US" sz="480" dirty="0"/>
          </a:p>
        </p:txBody>
      </p:sp>
      <p:sp>
        <p:nvSpPr>
          <p:cNvPr id="28" name="Text 25"/>
          <p:cNvSpPr txBox="1"/>
          <p:nvPr/>
        </p:nvSpPr>
        <p:spPr>
          <a:xfrm>
            <a:off x="4267200" y="4452042"/>
            <a:ext cx="268224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Very sweet, caramel and fig-like</a:t>
            </a:r>
            <a:endParaRPr lang="en-US" sz="648" dirty="0"/>
          </a:p>
        </p:txBody>
      </p:sp>
      <p:sp>
        <p:nvSpPr>
          <p:cNvPr id="29" name="Text 26"/>
          <p:cNvSpPr txBox="1"/>
          <p:nvPr/>
        </p:nvSpPr>
        <p:spPr>
          <a:xfrm>
            <a:off x="4267200" y="48250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0" name="Text 27"/>
          <p:cNvSpPr txBox="1"/>
          <p:nvPr/>
        </p:nvSpPr>
        <p:spPr>
          <a:xfrm>
            <a:off x="426720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31" name="Text 28"/>
          <p:cNvSpPr txBox="1"/>
          <p:nvPr/>
        </p:nvSpPr>
        <p:spPr>
          <a:xfrm>
            <a:off x="5151120" y="4946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480" dirty="0"/>
          </a:p>
        </p:txBody>
      </p:sp>
      <p:sp>
        <p:nvSpPr>
          <p:cNvPr id="32" name="Shape 29"/>
          <p:cNvSpPr/>
          <p:nvPr/>
        </p:nvSpPr>
        <p:spPr>
          <a:xfrm>
            <a:off x="4267200" y="5071872"/>
            <a:ext cx="268224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267200" y="516681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34" name="Text 31"/>
          <p:cNvSpPr txBox="1"/>
          <p:nvPr/>
        </p:nvSpPr>
        <p:spPr>
          <a:xfrm>
            <a:off x="5151120" y="5166817"/>
            <a:ext cx="106680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[COUNT PER KG: LARGE /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 LARGE]</a:t>
            </a:r>
            <a:endParaRPr lang="en-US" sz="576" dirty="0"/>
          </a:p>
        </p:txBody>
      </p:sp>
      <p:sp>
        <p:nvSpPr>
          <p:cNvPr id="35" name="Text 32"/>
          <p:cNvSpPr txBox="1"/>
          <p:nvPr/>
        </p:nvSpPr>
        <p:spPr>
          <a:xfrm>
            <a:off x="6217920" y="516643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36" name="Shape 33"/>
          <p:cNvSpPr/>
          <p:nvPr/>
        </p:nvSpPr>
        <p:spPr>
          <a:xfrm>
            <a:off x="4267200" y="5370576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67200" y="545942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38" name="Text 35"/>
          <p:cNvSpPr txBox="1"/>
          <p:nvPr/>
        </p:nvSpPr>
        <p:spPr>
          <a:xfrm>
            <a:off x="5151120" y="5459425"/>
            <a:ext cx="106680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 LAB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VERIFIED]</a:t>
            </a:r>
            <a:endParaRPr lang="en-US" sz="576" dirty="0"/>
          </a:p>
        </p:txBody>
      </p:sp>
      <p:sp>
        <p:nvSpPr>
          <p:cNvPr id="39" name="Text 36"/>
          <p:cNvSpPr txBox="1"/>
          <p:nvPr/>
        </p:nvSpPr>
        <p:spPr>
          <a:xfrm>
            <a:off x="6217920" y="5459044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0" name="Shape 37"/>
          <p:cNvSpPr/>
          <p:nvPr/>
        </p:nvSpPr>
        <p:spPr>
          <a:xfrm>
            <a:off x="4267200" y="5663184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267200" y="575203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</a:t>
            </a:r>
            <a:endParaRPr lang="en-US" sz="576" dirty="0"/>
          </a:p>
        </p:txBody>
      </p:sp>
      <p:sp>
        <p:nvSpPr>
          <p:cNvPr id="42" name="Text 39"/>
          <p:cNvSpPr txBox="1"/>
          <p:nvPr/>
        </p:nvSpPr>
        <p:spPr>
          <a:xfrm>
            <a:off x="5151120" y="5752033"/>
            <a:ext cx="106680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[TRAY / CLAMSHELL / GIFT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BOX]</a:t>
            </a:r>
            <a:endParaRPr lang="en-US" sz="576" dirty="0"/>
          </a:p>
        </p:txBody>
      </p:sp>
      <p:sp>
        <p:nvSpPr>
          <p:cNvPr id="43" name="Text 40"/>
          <p:cNvSpPr txBox="1"/>
          <p:nvPr/>
        </p:nvSpPr>
        <p:spPr>
          <a:xfrm>
            <a:off x="6217920" y="575165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4" name="Shape 41"/>
          <p:cNvSpPr/>
          <p:nvPr/>
        </p:nvSpPr>
        <p:spPr>
          <a:xfrm>
            <a:off x="4267200" y="5955792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267200" y="60446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46" name="Text 43"/>
          <p:cNvSpPr txBox="1"/>
          <p:nvPr/>
        </p:nvSpPr>
        <p:spPr>
          <a:xfrm>
            <a:off x="5151120" y="6044641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47" name="Text 44"/>
          <p:cNvSpPr txBox="1"/>
          <p:nvPr/>
        </p:nvSpPr>
        <p:spPr>
          <a:xfrm>
            <a:off x="6217920" y="60442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8" name="Text 45"/>
          <p:cNvSpPr txBox="1"/>
          <p:nvPr/>
        </p:nvSpPr>
        <p:spPr>
          <a:xfrm>
            <a:off x="518160" y="76901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BUYERS CHOOSE IT</a:t>
            </a:r>
            <a:endParaRPr lang="en-US" sz="480" dirty="0"/>
          </a:p>
        </p:txBody>
      </p:sp>
      <p:sp>
        <p:nvSpPr>
          <p:cNvPr id="49" name="Shape 46"/>
          <p:cNvSpPr/>
          <p:nvPr/>
        </p:nvSpPr>
        <p:spPr>
          <a:xfrm>
            <a:off x="518160" y="7906512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27888" y="7883195"/>
            <a:ext cx="32308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highest value per kilo in the range — priced for gifting and seasonal packs.</a:t>
            </a:r>
            <a:endParaRPr lang="en-US" sz="576" dirty="0"/>
          </a:p>
        </p:txBody>
      </p:sp>
      <p:sp>
        <p:nvSpPr>
          <p:cNvPr id="51" name="Shape 48"/>
          <p:cNvSpPr/>
          <p:nvPr/>
        </p:nvSpPr>
        <p:spPr>
          <a:xfrm>
            <a:off x="518160" y="8186928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27888" y="8163611"/>
            <a:ext cx="32308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Large, uniform fruit that presents well in clamshell and gift-box formats.</a:t>
            </a:r>
            <a:endParaRPr lang="en-US" sz="576" dirty="0"/>
          </a:p>
        </p:txBody>
      </p:sp>
      <p:sp>
        <p:nvSpPr>
          <p:cNvPr id="53" name="Shape 50"/>
          <p:cNvSpPr/>
          <p:nvPr/>
        </p:nvSpPr>
        <p:spPr>
          <a:xfrm>
            <a:off x="518160" y="8467344"/>
            <a:ext cx="30480" cy="3048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27888" y="8444027"/>
            <a:ext cx="323088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count so premium retail shelves get an even grade, not a mixed one.</a:t>
            </a:r>
            <a:endParaRPr lang="en-US" sz="576" dirty="0"/>
          </a:p>
        </p:txBody>
      </p:sp>
      <p:sp>
        <p:nvSpPr>
          <p:cNvPr id="55" name="Text 52"/>
          <p:cNvSpPr txBox="1"/>
          <p:nvPr/>
        </p:nvSpPr>
        <p:spPr>
          <a:xfrm>
            <a:off x="518160" y="74202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 · [GROWING REGION], Iran · [SEASON] pack.</a:t>
            </a:r>
            <a:endParaRPr lang="en-US" sz="504" dirty="0"/>
          </a:p>
        </p:txBody>
      </p:sp>
      <p:sp>
        <p:nvSpPr>
          <p:cNvPr id="56" name="Shape 53"/>
          <p:cNvSpPr/>
          <p:nvPr/>
        </p:nvSpPr>
        <p:spPr>
          <a:xfrm>
            <a:off x="4267200" y="6278880"/>
            <a:ext cx="2682240" cy="10668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57" name="Shape 54"/>
          <p:cNvSpPr/>
          <p:nvPr/>
        </p:nvSpPr>
        <p:spPr>
          <a:xfrm>
            <a:off x="4267200" y="627888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450080" y="6423002"/>
            <a:ext cx="23164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Ready for a Medjoul quote?</a:t>
            </a:r>
            <a:endParaRPr lang="en-US" sz="912" dirty="0"/>
          </a:p>
        </p:txBody>
      </p:sp>
      <p:sp>
        <p:nvSpPr>
          <p:cNvPr id="59" name="Text 56"/>
          <p:cNvSpPr txBox="1"/>
          <p:nvPr/>
        </p:nvSpPr>
        <p:spPr>
          <a:xfrm>
            <a:off x="4450080" y="6663995"/>
            <a:ext cx="2316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us the grade, the pack and the quantity. We will confirm what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current harvest supports and quote from there.</a:t>
            </a:r>
            <a:endParaRPr lang="en-US" sz="576" dirty="0"/>
          </a:p>
        </p:txBody>
      </p:sp>
      <p:sp>
        <p:nvSpPr>
          <p:cNvPr id="60" name="Text 57"/>
          <p:cNvSpPr txBox="1"/>
          <p:nvPr/>
        </p:nvSpPr>
        <p:spPr>
          <a:xfrm>
            <a:off x="4450080" y="7073322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</a:t>
            </a:r>
            <a:endParaRPr lang="en-US" sz="648" dirty="0"/>
          </a:p>
        </p:txBody>
      </p:sp>
      <p:sp>
        <p:nvSpPr>
          <p:cNvPr id="61" name="Text 58"/>
          <p:cNvSpPr txBox="1"/>
          <p:nvPr/>
        </p:nvSpPr>
        <p:spPr>
          <a:xfrm>
            <a:off x="4267200" y="7629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SNAPSHOT</a:t>
            </a:r>
            <a:endParaRPr lang="en-US" sz="480" dirty="0"/>
          </a:p>
        </p:txBody>
      </p:sp>
      <p:sp>
        <p:nvSpPr>
          <p:cNvPr id="62" name="Text 59"/>
          <p:cNvSpPr txBox="1"/>
          <p:nvPr/>
        </p:nvSpPr>
        <p:spPr>
          <a:xfrm>
            <a:off x="4267200" y="781248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pack</a:t>
            </a:r>
            <a:endParaRPr lang="en-US" sz="576" dirty="0"/>
          </a:p>
        </p:txBody>
      </p:sp>
      <p:sp>
        <p:nvSpPr>
          <p:cNvPr id="63" name="Text 60"/>
          <p:cNvSpPr txBox="1"/>
          <p:nvPr/>
        </p:nvSpPr>
        <p:spPr>
          <a:xfrm>
            <a:off x="5151120" y="7812481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[PACK TYPE] · [NET WEIGHT]</a:t>
            </a:r>
            <a:endParaRPr lang="en-US" sz="576" dirty="0"/>
          </a:p>
        </p:txBody>
      </p:sp>
      <p:sp>
        <p:nvSpPr>
          <p:cNvPr id="64" name="Text 61"/>
          <p:cNvSpPr txBox="1"/>
          <p:nvPr/>
        </p:nvSpPr>
        <p:spPr>
          <a:xfrm>
            <a:off x="6217920" y="781210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5" name="Shape 62"/>
          <p:cNvSpPr/>
          <p:nvPr/>
        </p:nvSpPr>
        <p:spPr>
          <a:xfrm>
            <a:off x="4267200" y="8016240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4267200" y="810508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carton</a:t>
            </a:r>
            <a:endParaRPr lang="en-US" sz="576" dirty="0"/>
          </a:p>
        </p:txBody>
      </p:sp>
      <p:sp>
        <p:nvSpPr>
          <p:cNvPr id="67" name="Text 64"/>
          <p:cNvSpPr txBox="1"/>
          <p:nvPr/>
        </p:nvSpPr>
        <p:spPr>
          <a:xfrm>
            <a:off x="5151120" y="8105089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 · [UNITS]</a:t>
            </a:r>
            <a:endParaRPr lang="en-US" sz="576" dirty="0"/>
          </a:p>
        </p:txBody>
      </p:sp>
      <p:sp>
        <p:nvSpPr>
          <p:cNvPr id="68" name="Text 65"/>
          <p:cNvSpPr txBox="1"/>
          <p:nvPr/>
        </p:nvSpPr>
        <p:spPr>
          <a:xfrm>
            <a:off x="6217920" y="8104708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9" name="Shape 66"/>
          <p:cNvSpPr/>
          <p:nvPr/>
        </p:nvSpPr>
        <p:spPr>
          <a:xfrm>
            <a:off x="4267200" y="8308848"/>
            <a:ext cx="26822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267200" y="839769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76" dirty="0"/>
          </a:p>
        </p:txBody>
      </p:sp>
      <p:sp>
        <p:nvSpPr>
          <p:cNvPr id="71" name="Text 68"/>
          <p:cNvSpPr txBox="1"/>
          <p:nvPr/>
        </p:nvSpPr>
        <p:spPr>
          <a:xfrm>
            <a:off x="5151120" y="8397697"/>
            <a:ext cx="1066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76" dirty="0"/>
          </a:p>
        </p:txBody>
      </p:sp>
      <p:sp>
        <p:nvSpPr>
          <p:cNvPr id="72" name="Text 69"/>
          <p:cNvSpPr txBox="1"/>
          <p:nvPr/>
        </p:nvSpPr>
        <p:spPr>
          <a:xfrm>
            <a:off x="6217920" y="839731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377440"/>
            <a:ext cx="3048000" cy="27432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880" y="2377440"/>
            <a:ext cx="3048000" cy="2743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6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ZAHEDI &amp; KIMRI</a:t>
            </a:r>
            <a:endParaRPr lang="en-US" sz="456" dirty="0"/>
          </a:p>
        </p:txBody>
      </p:sp>
      <p:sp>
        <p:nvSpPr>
          <p:cNvPr id="7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456" dirty="0"/>
          </a:p>
        </p:txBody>
      </p:sp>
      <p:sp>
        <p:nvSpPr>
          <p:cNvPr id="8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1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2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456" dirty="0"/>
          </a:p>
        </p:txBody>
      </p:sp>
      <p:sp>
        <p:nvSpPr>
          <p:cNvPr id="13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— TWO MORE STAPLES</a:t>
            </a:r>
            <a:endParaRPr lang="en-US" sz="552" dirty="0"/>
          </a:p>
        </p:txBody>
      </p:sp>
      <p:sp>
        <p:nvSpPr>
          <p:cNvPr id="14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Zahedi &amp; Kimri</a:t>
            </a:r>
            <a:endParaRPr lang="en-US" sz="2112" dirty="0"/>
          </a:p>
        </p:txBody>
      </p:sp>
      <p:sp>
        <p:nvSpPr>
          <p:cNvPr id="15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dry, one soft — and both in constant demand. Zahedi travels; Kimri sells by volume. Buyers often take them in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order.</a:t>
            </a:r>
            <a:endParaRPr lang="en-US" sz="648" dirty="0"/>
          </a:p>
        </p:txBody>
      </p:sp>
      <p:sp>
        <p:nvSpPr>
          <p:cNvPr id="17" name="Text 13"/>
          <p:cNvSpPr txBox="1"/>
          <p:nvPr/>
        </p:nvSpPr>
        <p:spPr>
          <a:xfrm>
            <a:off x="518160" y="5342169"/>
            <a:ext cx="36576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Zahedi</a:t>
            </a:r>
            <a:endParaRPr lang="en-US" sz="1440" dirty="0"/>
          </a:p>
        </p:txBody>
      </p:sp>
      <p:sp>
        <p:nvSpPr>
          <p:cNvPr id="18" name="Text 14"/>
          <p:cNvSpPr txBox="1"/>
          <p:nvPr/>
        </p:nvSpPr>
        <p:spPr>
          <a:xfrm>
            <a:off x="518160" y="56175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19" name="Text 15"/>
          <p:cNvSpPr txBox="1"/>
          <p:nvPr/>
        </p:nvSpPr>
        <p:spPr>
          <a:xfrm>
            <a:off x="518160" y="5813889"/>
            <a:ext cx="3048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Golden, wrinkled and firm, with a long shelf life and a nut-like bite. Zahedi is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workhorse for long-haul shipping and industrial buyers.</a:t>
            </a:r>
            <a:endParaRPr lang="en-US" sz="648" dirty="0"/>
          </a:p>
        </p:txBody>
      </p:sp>
      <p:sp>
        <p:nvSpPr>
          <p:cNvPr id="20" name="Text 16"/>
          <p:cNvSpPr txBox="1"/>
          <p:nvPr/>
        </p:nvSpPr>
        <p:spPr>
          <a:xfrm>
            <a:off x="518160" y="65319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21" name="Text 17"/>
          <p:cNvSpPr txBox="1"/>
          <p:nvPr/>
        </p:nvSpPr>
        <p:spPr>
          <a:xfrm>
            <a:off x="1219200" y="6532321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22" name="Text 18"/>
          <p:cNvSpPr txBox="1"/>
          <p:nvPr/>
        </p:nvSpPr>
        <p:spPr>
          <a:xfrm>
            <a:off x="518160" y="68123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23" name="Text 19"/>
          <p:cNvSpPr txBox="1"/>
          <p:nvPr/>
        </p:nvSpPr>
        <p:spPr>
          <a:xfrm>
            <a:off x="1219200" y="6812737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golden brown</a:t>
            </a:r>
            <a:endParaRPr lang="en-US" sz="576" dirty="0"/>
          </a:p>
        </p:txBody>
      </p:sp>
      <p:sp>
        <p:nvSpPr>
          <p:cNvPr id="24" name="Text 20"/>
          <p:cNvSpPr txBox="1"/>
          <p:nvPr/>
        </p:nvSpPr>
        <p:spPr>
          <a:xfrm>
            <a:off x="518160" y="70927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25" name="Text 21"/>
          <p:cNvSpPr txBox="1"/>
          <p:nvPr/>
        </p:nvSpPr>
        <p:spPr>
          <a:xfrm>
            <a:off x="1219200" y="7093153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 and wrinkled</a:t>
            </a:r>
            <a:endParaRPr lang="en-US" sz="576" dirty="0"/>
          </a:p>
        </p:txBody>
      </p:sp>
      <p:sp>
        <p:nvSpPr>
          <p:cNvPr id="26" name="Text 22"/>
          <p:cNvSpPr txBox="1"/>
          <p:nvPr/>
        </p:nvSpPr>
        <p:spPr>
          <a:xfrm>
            <a:off x="518160" y="73731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</a:t>
            </a:r>
            <a:endParaRPr lang="en-US" sz="480" dirty="0"/>
          </a:p>
        </p:txBody>
      </p:sp>
      <p:sp>
        <p:nvSpPr>
          <p:cNvPr id="27" name="Text 23"/>
          <p:cNvSpPr txBox="1"/>
          <p:nvPr/>
        </p:nvSpPr>
        <p:spPr>
          <a:xfrm>
            <a:off x="1219200" y="7373569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Mildly sweet, firm, nutty</a:t>
            </a:r>
            <a:endParaRPr lang="en-US" sz="576" dirty="0"/>
          </a:p>
        </p:txBody>
      </p:sp>
      <p:sp>
        <p:nvSpPr>
          <p:cNvPr id="28" name="Text 24"/>
          <p:cNvSpPr txBox="1"/>
          <p:nvPr/>
        </p:nvSpPr>
        <p:spPr>
          <a:xfrm>
            <a:off x="518160" y="78121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29" name="Text 25"/>
          <p:cNvSpPr txBox="1"/>
          <p:nvPr/>
        </p:nvSpPr>
        <p:spPr>
          <a:xfrm>
            <a:off x="518160" y="799536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30" name="Text 26"/>
          <p:cNvSpPr txBox="1"/>
          <p:nvPr/>
        </p:nvSpPr>
        <p:spPr>
          <a:xfrm>
            <a:off x="1432560" y="7995361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[SIZE OR COUNT PER KG]</a:t>
            </a:r>
            <a:endParaRPr lang="en-US" sz="576" dirty="0"/>
          </a:p>
        </p:txBody>
      </p:sp>
      <p:sp>
        <p:nvSpPr>
          <p:cNvPr id="31" name="Text 27"/>
          <p:cNvSpPr txBox="1"/>
          <p:nvPr/>
        </p:nvSpPr>
        <p:spPr>
          <a:xfrm>
            <a:off x="2834640" y="799498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32" name="Shape 28"/>
          <p:cNvSpPr/>
          <p:nvPr/>
        </p:nvSpPr>
        <p:spPr>
          <a:xfrm>
            <a:off x="518160" y="8186928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18160" y="827577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34" name="Text 30"/>
          <p:cNvSpPr txBox="1"/>
          <p:nvPr/>
        </p:nvSpPr>
        <p:spPr>
          <a:xfrm>
            <a:off x="1432560" y="8275777"/>
            <a:ext cx="14020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 LAB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VERIFIED]</a:t>
            </a:r>
            <a:endParaRPr lang="en-US" sz="576" dirty="0"/>
          </a:p>
        </p:txBody>
      </p:sp>
      <p:sp>
        <p:nvSpPr>
          <p:cNvPr id="35" name="Text 31"/>
          <p:cNvSpPr txBox="1"/>
          <p:nvPr/>
        </p:nvSpPr>
        <p:spPr>
          <a:xfrm>
            <a:off x="2834640" y="827539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36" name="Shape 32"/>
          <p:cNvSpPr/>
          <p:nvPr/>
        </p:nvSpPr>
        <p:spPr>
          <a:xfrm>
            <a:off x="518160" y="8467344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18160" y="855619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</a:t>
            </a:r>
            <a:endParaRPr lang="en-US" sz="576" dirty="0"/>
          </a:p>
        </p:txBody>
      </p:sp>
      <p:sp>
        <p:nvSpPr>
          <p:cNvPr id="38" name="Text 34"/>
          <p:cNvSpPr txBox="1"/>
          <p:nvPr/>
        </p:nvSpPr>
        <p:spPr>
          <a:xfrm>
            <a:off x="1432560" y="8556193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[RETAIL PACK + BULK CARTON]</a:t>
            </a:r>
            <a:endParaRPr lang="en-US" sz="576" dirty="0"/>
          </a:p>
        </p:txBody>
      </p:sp>
      <p:sp>
        <p:nvSpPr>
          <p:cNvPr id="39" name="Text 35"/>
          <p:cNvSpPr txBox="1"/>
          <p:nvPr/>
        </p:nvSpPr>
        <p:spPr>
          <a:xfrm>
            <a:off x="2834640" y="855581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0" name="Shape 36"/>
          <p:cNvSpPr/>
          <p:nvPr/>
        </p:nvSpPr>
        <p:spPr>
          <a:xfrm>
            <a:off x="518160" y="8747760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518160" y="883660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42" name="Text 38"/>
          <p:cNvSpPr txBox="1"/>
          <p:nvPr/>
        </p:nvSpPr>
        <p:spPr>
          <a:xfrm>
            <a:off x="1432560" y="8836609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43" name="Text 39"/>
          <p:cNvSpPr txBox="1"/>
          <p:nvPr/>
        </p:nvSpPr>
        <p:spPr>
          <a:xfrm>
            <a:off x="2834640" y="8836228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44" name="Text 40"/>
          <p:cNvSpPr txBox="1"/>
          <p:nvPr/>
        </p:nvSpPr>
        <p:spPr>
          <a:xfrm>
            <a:off x="518160" y="93404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Zahedi · [GROWING REGION], Iran · [SEASON] pack.</a:t>
            </a:r>
            <a:endParaRPr lang="en-US" sz="504" dirty="0"/>
          </a:p>
        </p:txBody>
      </p:sp>
      <p:sp>
        <p:nvSpPr>
          <p:cNvPr id="45" name="Text 41"/>
          <p:cNvSpPr txBox="1"/>
          <p:nvPr/>
        </p:nvSpPr>
        <p:spPr>
          <a:xfrm>
            <a:off x="3992880" y="5342169"/>
            <a:ext cx="36576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Kimri</a:t>
            </a:r>
            <a:endParaRPr lang="en-US" sz="1440" dirty="0"/>
          </a:p>
        </p:txBody>
      </p:sp>
      <p:sp>
        <p:nvSpPr>
          <p:cNvPr id="46" name="Text 42"/>
          <p:cNvSpPr txBox="1"/>
          <p:nvPr/>
        </p:nvSpPr>
        <p:spPr>
          <a:xfrm>
            <a:off x="3992880" y="56175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47" name="Text 43"/>
          <p:cNvSpPr txBox="1"/>
          <p:nvPr/>
        </p:nvSpPr>
        <p:spPr>
          <a:xfrm>
            <a:off x="3992880" y="5813889"/>
            <a:ext cx="3048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dark and intensely sweet, with a thin skin and a dense, uniform size.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Kimri is the value pack of the range and the easiest to grade consistently.</a:t>
            </a:r>
            <a:endParaRPr lang="en-US" sz="648" dirty="0"/>
          </a:p>
        </p:txBody>
      </p:sp>
      <p:sp>
        <p:nvSpPr>
          <p:cNvPr id="48" name="Text 44"/>
          <p:cNvSpPr txBox="1"/>
          <p:nvPr/>
        </p:nvSpPr>
        <p:spPr>
          <a:xfrm>
            <a:off x="3992880" y="65319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49" name="Text 45"/>
          <p:cNvSpPr txBox="1"/>
          <p:nvPr/>
        </p:nvSpPr>
        <p:spPr>
          <a:xfrm>
            <a:off x="4693920" y="6532321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50" name="Text 46"/>
          <p:cNvSpPr txBox="1"/>
          <p:nvPr/>
        </p:nvSpPr>
        <p:spPr>
          <a:xfrm>
            <a:off x="3992880" y="68123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51" name="Text 47"/>
          <p:cNvSpPr txBox="1"/>
          <p:nvPr/>
        </p:nvSpPr>
        <p:spPr>
          <a:xfrm>
            <a:off x="4693920" y="6812737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</a:t>
            </a:r>
            <a:endParaRPr lang="en-US" sz="576" dirty="0"/>
          </a:p>
        </p:txBody>
      </p:sp>
      <p:sp>
        <p:nvSpPr>
          <p:cNvPr id="52" name="Text 48"/>
          <p:cNvSpPr txBox="1"/>
          <p:nvPr/>
        </p:nvSpPr>
        <p:spPr>
          <a:xfrm>
            <a:off x="3992880" y="70927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53" name="Text 49"/>
          <p:cNvSpPr txBox="1"/>
          <p:nvPr/>
        </p:nvSpPr>
        <p:spPr>
          <a:xfrm>
            <a:off x="4693920" y="7093153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 and smooth</a:t>
            </a:r>
            <a:endParaRPr lang="en-US" sz="576" dirty="0"/>
          </a:p>
        </p:txBody>
      </p:sp>
      <p:sp>
        <p:nvSpPr>
          <p:cNvPr id="54" name="Text 50"/>
          <p:cNvSpPr txBox="1"/>
          <p:nvPr/>
        </p:nvSpPr>
        <p:spPr>
          <a:xfrm>
            <a:off x="3992880" y="73731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</a:t>
            </a:r>
            <a:endParaRPr lang="en-US" sz="480" dirty="0"/>
          </a:p>
        </p:txBody>
      </p:sp>
      <p:sp>
        <p:nvSpPr>
          <p:cNvPr id="55" name="Text 51"/>
          <p:cNvSpPr txBox="1"/>
          <p:nvPr/>
        </p:nvSpPr>
        <p:spPr>
          <a:xfrm>
            <a:off x="4693920" y="7373569"/>
            <a:ext cx="213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Very sweet, dense, chewy</a:t>
            </a:r>
            <a:endParaRPr lang="en-US" sz="576" dirty="0"/>
          </a:p>
        </p:txBody>
      </p:sp>
      <p:sp>
        <p:nvSpPr>
          <p:cNvPr id="56" name="Text 52"/>
          <p:cNvSpPr txBox="1"/>
          <p:nvPr/>
        </p:nvSpPr>
        <p:spPr>
          <a:xfrm>
            <a:off x="3992880" y="78121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</a:t>
            </a:r>
            <a:endParaRPr lang="en-US" sz="480" dirty="0"/>
          </a:p>
        </p:txBody>
      </p:sp>
      <p:sp>
        <p:nvSpPr>
          <p:cNvPr id="57" name="Text 53"/>
          <p:cNvSpPr txBox="1"/>
          <p:nvPr/>
        </p:nvSpPr>
        <p:spPr>
          <a:xfrm>
            <a:off x="3992880" y="799536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/ size</a:t>
            </a:r>
            <a:endParaRPr lang="en-US" sz="576" dirty="0"/>
          </a:p>
        </p:txBody>
      </p:sp>
      <p:sp>
        <p:nvSpPr>
          <p:cNvPr id="58" name="Text 54"/>
          <p:cNvSpPr txBox="1"/>
          <p:nvPr/>
        </p:nvSpPr>
        <p:spPr>
          <a:xfrm>
            <a:off x="4907280" y="7995361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[COUNT PER KG]</a:t>
            </a:r>
            <a:endParaRPr lang="en-US" sz="576" dirty="0"/>
          </a:p>
        </p:txBody>
      </p:sp>
      <p:sp>
        <p:nvSpPr>
          <p:cNvPr id="59" name="Text 55"/>
          <p:cNvSpPr txBox="1"/>
          <p:nvPr/>
        </p:nvSpPr>
        <p:spPr>
          <a:xfrm>
            <a:off x="6309360" y="799498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0" name="Shape 56"/>
          <p:cNvSpPr/>
          <p:nvPr/>
        </p:nvSpPr>
        <p:spPr>
          <a:xfrm>
            <a:off x="3992880" y="8186928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3992880" y="827577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</a:t>
            </a:r>
            <a:endParaRPr lang="en-US" sz="576" dirty="0"/>
          </a:p>
        </p:txBody>
      </p:sp>
      <p:sp>
        <p:nvSpPr>
          <p:cNvPr id="62" name="Text 58"/>
          <p:cNvSpPr txBox="1"/>
          <p:nvPr/>
        </p:nvSpPr>
        <p:spPr>
          <a:xfrm>
            <a:off x="4907280" y="8275777"/>
            <a:ext cx="14020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[MOISTURE % — ONLY IF LAB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VERIFIED]</a:t>
            </a:r>
            <a:endParaRPr lang="en-US" sz="576" dirty="0"/>
          </a:p>
        </p:txBody>
      </p:sp>
      <p:sp>
        <p:nvSpPr>
          <p:cNvPr id="63" name="Text 59"/>
          <p:cNvSpPr txBox="1"/>
          <p:nvPr/>
        </p:nvSpPr>
        <p:spPr>
          <a:xfrm>
            <a:off x="6309360" y="8275396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4" name="Shape 60"/>
          <p:cNvSpPr/>
          <p:nvPr/>
        </p:nvSpPr>
        <p:spPr>
          <a:xfrm>
            <a:off x="3992880" y="8467344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3992880" y="855619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</a:t>
            </a:r>
            <a:endParaRPr lang="en-US" sz="576" dirty="0"/>
          </a:p>
        </p:txBody>
      </p:sp>
      <p:sp>
        <p:nvSpPr>
          <p:cNvPr id="66" name="Text 62"/>
          <p:cNvSpPr txBox="1"/>
          <p:nvPr/>
        </p:nvSpPr>
        <p:spPr>
          <a:xfrm>
            <a:off x="4907280" y="8556193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[POUCH / TRAY + BULK CARTON]</a:t>
            </a:r>
            <a:endParaRPr lang="en-US" sz="576" dirty="0"/>
          </a:p>
        </p:txBody>
      </p:sp>
      <p:sp>
        <p:nvSpPr>
          <p:cNvPr id="67" name="Text 63"/>
          <p:cNvSpPr txBox="1"/>
          <p:nvPr/>
        </p:nvSpPr>
        <p:spPr>
          <a:xfrm>
            <a:off x="6309360" y="8555812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68" name="Shape 64"/>
          <p:cNvSpPr/>
          <p:nvPr/>
        </p:nvSpPr>
        <p:spPr>
          <a:xfrm>
            <a:off x="3992880" y="8747760"/>
            <a:ext cx="304800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3992880" y="883660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Shelf life</a:t>
            </a:r>
            <a:endParaRPr lang="en-US" sz="576" dirty="0"/>
          </a:p>
        </p:txBody>
      </p:sp>
      <p:sp>
        <p:nvSpPr>
          <p:cNvPr id="70" name="Text 66"/>
          <p:cNvSpPr txBox="1"/>
          <p:nvPr/>
        </p:nvSpPr>
        <p:spPr>
          <a:xfrm>
            <a:off x="4907280" y="8836609"/>
            <a:ext cx="140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[SHELF LIFE IN MONTHS]</a:t>
            </a:r>
            <a:endParaRPr lang="en-US" sz="576" dirty="0"/>
          </a:p>
        </p:txBody>
      </p:sp>
      <p:sp>
        <p:nvSpPr>
          <p:cNvPr id="71" name="Text 67"/>
          <p:cNvSpPr txBox="1"/>
          <p:nvPr/>
        </p:nvSpPr>
        <p:spPr>
          <a:xfrm>
            <a:off x="6309360" y="8836228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72" name="Text 68"/>
          <p:cNvSpPr txBox="1"/>
          <p:nvPr/>
        </p:nvSpPr>
        <p:spPr>
          <a:xfrm>
            <a:off x="3992880" y="93404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Kimri · [GROWING REGION], Iran · [SEASON] pack.</a:t>
            </a:r>
            <a:endParaRPr lang="en-US" sz="50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5029200"/>
            <a:ext cx="652272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FURTHER VARIETIES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— FURTHER VARIETIES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Shahani, Najafi, Lasht &amp; Morki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more varieties that travel in the same shipment as the headline products — useful for buyers who want a mixed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box rather than a single-variety pallet.</a:t>
            </a:r>
            <a:endParaRPr lang="en-US" sz="648" dirty="0"/>
          </a:p>
        </p:txBody>
      </p:sp>
      <p:sp>
        <p:nvSpPr>
          <p:cNvPr id="16" name="Shape 13"/>
          <p:cNvSpPr/>
          <p:nvPr/>
        </p:nvSpPr>
        <p:spPr>
          <a:xfrm>
            <a:off x="518160" y="243840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18160" y="2527658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Shahani</a:t>
            </a:r>
            <a:endParaRPr lang="en-US" sz="912" dirty="0"/>
          </a:p>
        </p:txBody>
      </p:sp>
      <p:sp>
        <p:nvSpPr>
          <p:cNvPr id="18" name="Text 15"/>
          <p:cNvSpPr txBox="1"/>
          <p:nvPr/>
        </p:nvSpPr>
        <p:spPr>
          <a:xfrm>
            <a:off x="518160" y="28743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Semi-soft</a:t>
            </a:r>
            <a:endParaRPr lang="en-US" sz="480" dirty="0"/>
          </a:p>
        </p:txBody>
      </p:sp>
      <p:sp>
        <p:nvSpPr>
          <p:cNvPr id="19" name="Text 16"/>
          <p:cNvSpPr txBox="1"/>
          <p:nvPr/>
        </p:nvSpPr>
        <p:spPr>
          <a:xfrm>
            <a:off x="518160" y="3036875"/>
            <a:ext cx="131064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Mid-size amber fruit with a delicate,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tender skin and a clean, mild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sweetness.</a:t>
            </a:r>
            <a:endParaRPr lang="en-US" sz="576" dirty="0"/>
          </a:p>
        </p:txBody>
      </p:sp>
      <p:sp>
        <p:nvSpPr>
          <p:cNvPr id="20" name="Shape 17"/>
          <p:cNvSpPr/>
          <p:nvPr/>
        </p:nvSpPr>
        <p:spPr>
          <a:xfrm>
            <a:off x="518160" y="38100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18160" y="38984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USED FOR</a:t>
            </a:r>
            <a:endParaRPr lang="en-US" sz="480" dirty="0"/>
          </a:p>
        </p:txBody>
      </p:sp>
      <p:sp>
        <p:nvSpPr>
          <p:cNvPr id="22" name="Text 19"/>
          <p:cNvSpPr txBox="1"/>
          <p:nvPr/>
        </p:nvSpPr>
        <p:spPr>
          <a:xfrm>
            <a:off x="518160" y="4036943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trays, bakery and dessert supply</a:t>
            </a:r>
            <a:endParaRPr lang="en-US" sz="504" dirty="0"/>
          </a:p>
        </p:txBody>
      </p:sp>
      <p:sp>
        <p:nvSpPr>
          <p:cNvPr id="23" name="Shape 20"/>
          <p:cNvSpPr/>
          <p:nvPr/>
        </p:nvSpPr>
        <p:spPr>
          <a:xfrm>
            <a:off x="2191512" y="243840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191512" y="2527658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Najafi</a:t>
            </a:r>
            <a:endParaRPr lang="en-US" sz="912" dirty="0"/>
          </a:p>
        </p:txBody>
      </p:sp>
      <p:sp>
        <p:nvSpPr>
          <p:cNvPr id="25" name="Text 22"/>
          <p:cNvSpPr txBox="1"/>
          <p:nvPr/>
        </p:nvSpPr>
        <p:spPr>
          <a:xfrm>
            <a:off x="2191512" y="28743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480" dirty="0"/>
          </a:p>
        </p:txBody>
      </p:sp>
      <p:sp>
        <p:nvSpPr>
          <p:cNvPr id="26" name="Text 23"/>
          <p:cNvSpPr txBox="1"/>
          <p:nvPr/>
        </p:nvSpPr>
        <p:spPr>
          <a:xfrm>
            <a:off x="2191512" y="3036875"/>
            <a:ext cx="131064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Round, very dark and soft. A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Najaf cultivar with a loyal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regional following.</a:t>
            </a:r>
            <a:endParaRPr lang="en-US" sz="576" dirty="0"/>
          </a:p>
        </p:txBody>
      </p:sp>
      <p:sp>
        <p:nvSpPr>
          <p:cNvPr id="27" name="Shape 24"/>
          <p:cNvSpPr/>
          <p:nvPr/>
        </p:nvSpPr>
        <p:spPr>
          <a:xfrm>
            <a:off x="2191512" y="38100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191512" y="38984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USED FOR</a:t>
            </a:r>
            <a:endParaRPr lang="en-US" sz="480" dirty="0"/>
          </a:p>
        </p:txBody>
      </p:sp>
      <p:sp>
        <p:nvSpPr>
          <p:cNvPr id="29" name="Text 26"/>
          <p:cNvSpPr txBox="1"/>
          <p:nvPr/>
        </p:nvSpPr>
        <p:spPr>
          <a:xfrm>
            <a:off x="2191512" y="4036943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Retail, traditional food processing</a:t>
            </a:r>
            <a:endParaRPr lang="en-US" sz="504" dirty="0"/>
          </a:p>
        </p:txBody>
      </p:sp>
      <p:sp>
        <p:nvSpPr>
          <p:cNvPr id="30" name="Shape 27"/>
          <p:cNvSpPr/>
          <p:nvPr/>
        </p:nvSpPr>
        <p:spPr>
          <a:xfrm>
            <a:off x="3864864" y="243840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864864" y="2527658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Lasht</a:t>
            </a:r>
            <a:endParaRPr lang="en-US" sz="912" dirty="0"/>
          </a:p>
        </p:txBody>
      </p:sp>
      <p:sp>
        <p:nvSpPr>
          <p:cNvPr id="32" name="Text 29"/>
          <p:cNvSpPr txBox="1"/>
          <p:nvPr/>
        </p:nvSpPr>
        <p:spPr>
          <a:xfrm>
            <a:off x="3864864" y="28743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33" name="Text 30"/>
          <p:cNvSpPr txBox="1"/>
          <p:nvPr/>
        </p:nvSpPr>
        <p:spPr>
          <a:xfrm>
            <a:off x="3864864" y="3036875"/>
            <a:ext cx="131064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Brown, wrinkled and firm —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workhorse of Iranian cooking and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industrial processing.</a:t>
            </a:r>
            <a:endParaRPr lang="en-US" sz="576" dirty="0"/>
          </a:p>
        </p:txBody>
      </p:sp>
      <p:sp>
        <p:nvSpPr>
          <p:cNvPr id="34" name="Shape 31"/>
          <p:cNvSpPr/>
          <p:nvPr/>
        </p:nvSpPr>
        <p:spPr>
          <a:xfrm>
            <a:off x="3864864" y="38100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864864" y="38984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USED FOR</a:t>
            </a:r>
            <a:endParaRPr lang="en-US" sz="480" dirty="0"/>
          </a:p>
        </p:txBody>
      </p:sp>
      <p:sp>
        <p:nvSpPr>
          <p:cNvPr id="36" name="Text 33"/>
          <p:cNvSpPr txBox="1"/>
          <p:nvPr/>
        </p:nvSpPr>
        <p:spPr>
          <a:xfrm>
            <a:off x="3864864" y="4036943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shipments, industrial processing,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cooking</a:t>
            </a:r>
            <a:endParaRPr lang="en-US" sz="504" dirty="0"/>
          </a:p>
        </p:txBody>
      </p:sp>
      <p:sp>
        <p:nvSpPr>
          <p:cNvPr id="37" name="Shape 34"/>
          <p:cNvSpPr/>
          <p:nvPr/>
        </p:nvSpPr>
        <p:spPr>
          <a:xfrm>
            <a:off x="5538216" y="2438400"/>
            <a:ext cx="18288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538216" y="2527658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Morki</a:t>
            </a:r>
            <a:endParaRPr lang="en-US" sz="912" dirty="0"/>
          </a:p>
        </p:txBody>
      </p:sp>
      <p:sp>
        <p:nvSpPr>
          <p:cNvPr id="39" name="Text 36"/>
          <p:cNvSpPr txBox="1"/>
          <p:nvPr/>
        </p:nvSpPr>
        <p:spPr>
          <a:xfrm>
            <a:off x="5538216" y="28743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480" dirty="0"/>
          </a:p>
        </p:txBody>
      </p:sp>
      <p:sp>
        <p:nvSpPr>
          <p:cNvPr id="40" name="Text 37"/>
          <p:cNvSpPr txBox="1"/>
          <p:nvPr/>
        </p:nvSpPr>
        <p:spPr>
          <a:xfrm>
            <a:off x="5538216" y="3036875"/>
            <a:ext cx="131064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brown and moderately dry, with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firm bite that holds well in a mixed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box.</a:t>
            </a:r>
            <a:endParaRPr lang="en-US" sz="576" dirty="0"/>
          </a:p>
        </p:txBody>
      </p:sp>
      <p:sp>
        <p:nvSpPr>
          <p:cNvPr id="41" name="Shape 38"/>
          <p:cNvSpPr/>
          <p:nvPr/>
        </p:nvSpPr>
        <p:spPr>
          <a:xfrm>
            <a:off x="5538216" y="38100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538216" y="38984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USED FOR</a:t>
            </a:r>
            <a:endParaRPr lang="en-US" sz="480" dirty="0"/>
          </a:p>
        </p:txBody>
      </p:sp>
      <p:sp>
        <p:nvSpPr>
          <p:cNvPr id="43" name="Text 40"/>
          <p:cNvSpPr txBox="1"/>
          <p:nvPr/>
        </p:nvSpPr>
        <p:spPr>
          <a:xfrm>
            <a:off x="5538216" y="4036943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boxes, retail, catering and hospitality</a:t>
            </a:r>
            <a:endParaRPr lang="en-US" sz="504" dirty="0"/>
          </a:p>
        </p:txBody>
      </p:sp>
      <p:sp>
        <p:nvSpPr>
          <p:cNvPr id="44" name="Text 41"/>
          <p:cNvSpPr txBox="1"/>
          <p:nvPr/>
        </p:nvSpPr>
        <p:spPr>
          <a:xfrm>
            <a:off x="518160" y="81778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AVAILABLE ON REQUEST</a:t>
            </a:r>
            <a:endParaRPr lang="en-US" sz="480" dirty="0"/>
          </a:p>
        </p:txBody>
      </p:sp>
      <p:sp>
        <p:nvSpPr>
          <p:cNvPr id="45" name="Shape 42"/>
          <p:cNvSpPr/>
          <p:nvPr/>
        </p:nvSpPr>
        <p:spPr>
          <a:xfrm>
            <a:off x="518160" y="8321040"/>
            <a:ext cx="1310640" cy="170688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8160" y="8377009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Deglet en-Nour</a:t>
            </a:r>
            <a:endParaRPr lang="en-US" sz="432" dirty="0"/>
          </a:p>
        </p:txBody>
      </p:sp>
      <p:sp>
        <p:nvSpPr>
          <p:cNvPr id="47" name="Shape 44"/>
          <p:cNvSpPr/>
          <p:nvPr/>
        </p:nvSpPr>
        <p:spPr>
          <a:xfrm>
            <a:off x="2042160" y="8321040"/>
            <a:ext cx="914400" cy="170688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42160" y="8377009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Barhi</a:t>
            </a:r>
            <a:endParaRPr lang="en-US" sz="432" dirty="0"/>
          </a:p>
        </p:txBody>
      </p:sp>
      <p:sp>
        <p:nvSpPr>
          <p:cNvPr id="49" name="Shape 46"/>
          <p:cNvSpPr/>
          <p:nvPr/>
        </p:nvSpPr>
        <p:spPr>
          <a:xfrm>
            <a:off x="3169920" y="8321040"/>
            <a:ext cx="1432560" cy="170688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169920" y="8377009"/>
            <a:ext cx="143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Harani (Sukkari)</a:t>
            </a:r>
            <a:endParaRPr lang="en-US" sz="432" dirty="0"/>
          </a:p>
        </p:txBody>
      </p:sp>
      <p:sp>
        <p:nvSpPr>
          <p:cNvPr id="51" name="Shape 48"/>
          <p:cNvSpPr/>
          <p:nvPr/>
        </p:nvSpPr>
        <p:spPr>
          <a:xfrm>
            <a:off x="4815840" y="8321040"/>
            <a:ext cx="853440" cy="170688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815840" y="8377009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32" spc="77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Piarom</a:t>
            </a:r>
            <a:endParaRPr lang="en-US" sz="432" dirty="0"/>
          </a:p>
        </p:txBody>
      </p:sp>
      <p:sp>
        <p:nvSpPr>
          <p:cNvPr id="53" name="Text 50"/>
          <p:cNvSpPr txBox="1"/>
          <p:nvPr/>
        </p:nvSpPr>
        <p:spPr>
          <a:xfrm>
            <a:off x="518160" y="86394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Availability depends on the harvest window — confirm before ordering.</a:t>
            </a:r>
            <a:endParaRPr lang="en-US" sz="50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SUMMARY</a:t>
            </a:r>
            <a:endParaRPr lang="en-US" sz="456" dirty="0"/>
          </a:p>
        </p:txBody>
      </p:sp>
      <p:sp>
        <p:nvSpPr>
          <p:cNvPr id="5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456" dirty="0"/>
          </a:p>
        </p:txBody>
      </p:sp>
      <p:sp>
        <p:nvSpPr>
          <p:cNvPr id="6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9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0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456" dirty="0"/>
          </a:p>
        </p:txBody>
      </p:sp>
      <p:sp>
        <p:nvSpPr>
          <p:cNvPr id="11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— TECHNICAL SUMMARY</a:t>
            </a:r>
            <a:endParaRPr lang="en-US" sz="552" dirty="0"/>
          </a:p>
        </p:txBody>
      </p:sp>
      <p:sp>
        <p:nvSpPr>
          <p:cNvPr id="12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Variety Comparison</a:t>
            </a:r>
            <a:endParaRPr lang="en-US" sz="2112" dirty="0"/>
          </a:p>
        </p:txBody>
      </p:sp>
      <p:sp>
        <p:nvSpPr>
          <p:cNvPr id="13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18160" y="1827105"/>
            <a:ext cx="475488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reference for buyers comparing the varieties in this catalog. Values are typical industry figures and vary with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season, region and grade — confirm before ordering.</a:t>
            </a:r>
            <a:endParaRPr lang="en-US" sz="648" dirty="0"/>
          </a:p>
        </p:txBody>
      </p:sp>
      <p:sp>
        <p:nvSpPr>
          <p:cNvPr id="15" name="Text 13"/>
          <p:cNvSpPr txBox="1"/>
          <p:nvPr/>
        </p:nvSpPr>
        <p:spPr>
          <a:xfrm>
            <a:off x="518160" y="25085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</a:t>
            </a:r>
            <a:endParaRPr lang="en-US" sz="480" dirty="0"/>
          </a:p>
        </p:txBody>
      </p:sp>
      <p:sp>
        <p:nvSpPr>
          <p:cNvPr id="16" name="Text 14"/>
          <p:cNvSpPr txBox="1"/>
          <p:nvPr/>
        </p:nvSpPr>
        <p:spPr>
          <a:xfrm>
            <a:off x="1859280" y="25085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</a:t>
            </a:r>
            <a:endParaRPr lang="en-US" sz="48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5085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</a:t>
            </a:r>
            <a:endParaRPr lang="en-US" sz="480" dirty="0"/>
          </a:p>
        </p:txBody>
      </p:sp>
      <p:sp>
        <p:nvSpPr>
          <p:cNvPr id="18" name="Text 16"/>
          <p:cNvSpPr txBox="1"/>
          <p:nvPr/>
        </p:nvSpPr>
        <p:spPr>
          <a:xfrm>
            <a:off x="4175760" y="25085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SKIN</a:t>
            </a:r>
            <a:endParaRPr lang="en-US" sz="48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5085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 USE</a:t>
            </a:r>
            <a:endParaRPr lang="en-US" sz="480" dirty="0"/>
          </a:p>
        </p:txBody>
      </p:sp>
      <p:sp>
        <p:nvSpPr>
          <p:cNvPr id="20" name="Shape 18"/>
          <p:cNvSpPr/>
          <p:nvPr/>
        </p:nvSpPr>
        <p:spPr>
          <a:xfrm>
            <a:off x="518160" y="2633472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8160" y="2752801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Mazafati</a:t>
            </a:r>
            <a:endParaRPr lang="en-US" sz="576" dirty="0"/>
          </a:p>
        </p:txBody>
      </p:sp>
      <p:sp>
        <p:nvSpPr>
          <p:cNvPr id="22" name="Text 20"/>
          <p:cNvSpPr txBox="1"/>
          <p:nvPr/>
        </p:nvSpPr>
        <p:spPr>
          <a:xfrm>
            <a:off x="1859280" y="2752801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2752801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 to near-black</a:t>
            </a:r>
            <a:endParaRPr lang="en-US" sz="576" dirty="0"/>
          </a:p>
        </p:txBody>
      </p:sp>
      <p:sp>
        <p:nvSpPr>
          <p:cNvPr id="24" name="Text 22"/>
          <p:cNvSpPr txBox="1"/>
          <p:nvPr/>
        </p:nvSpPr>
        <p:spPr>
          <a:xfrm>
            <a:off x="4175760" y="275280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 and glossy</a:t>
            </a:r>
            <a:endParaRPr lang="en-US" sz="576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752801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packs, gifting, food manufacturing</a:t>
            </a:r>
            <a:endParaRPr lang="en-US" sz="576" dirty="0"/>
          </a:p>
        </p:txBody>
      </p:sp>
      <p:sp>
        <p:nvSpPr>
          <p:cNvPr id="26" name="Shape 24"/>
          <p:cNvSpPr/>
          <p:nvPr/>
        </p:nvSpPr>
        <p:spPr>
          <a:xfrm>
            <a:off x="518160" y="3023616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8160" y="3173425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Medjoul</a:t>
            </a:r>
            <a:endParaRPr lang="en-US" sz="576" dirty="0"/>
          </a:p>
        </p:txBody>
      </p:sp>
      <p:sp>
        <p:nvSpPr>
          <p:cNvPr id="28" name="Text 26"/>
          <p:cNvSpPr txBox="1"/>
          <p:nvPr/>
        </p:nvSpPr>
        <p:spPr>
          <a:xfrm>
            <a:off x="1859280" y="3173425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3173425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to deep brown</a:t>
            </a:r>
            <a:endParaRPr lang="en-US" sz="576" dirty="0"/>
          </a:p>
        </p:txBody>
      </p:sp>
      <p:sp>
        <p:nvSpPr>
          <p:cNvPr id="30" name="Text 28"/>
          <p:cNvSpPr txBox="1"/>
          <p:nvPr/>
        </p:nvSpPr>
        <p:spPr>
          <a:xfrm>
            <a:off x="4175760" y="317342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Thick and wrinkled</a:t>
            </a:r>
            <a:endParaRPr lang="en-US" sz="576" dirty="0"/>
          </a:p>
        </p:txBody>
      </p:sp>
      <p:sp>
        <p:nvSpPr>
          <p:cNvPr id="31" name="Text 29"/>
          <p:cNvSpPr txBox="1"/>
          <p:nvPr/>
        </p:nvSpPr>
        <p:spPr>
          <a:xfrm>
            <a:off x="5394960" y="3173425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gifting, retail, seasonal gift packs</a:t>
            </a:r>
            <a:endParaRPr lang="en-US" sz="576" dirty="0"/>
          </a:p>
        </p:txBody>
      </p:sp>
      <p:sp>
        <p:nvSpPr>
          <p:cNvPr id="32" name="Shape 30"/>
          <p:cNvSpPr/>
          <p:nvPr/>
        </p:nvSpPr>
        <p:spPr>
          <a:xfrm>
            <a:off x="518160" y="3444240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8160" y="3594049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Zahedi</a:t>
            </a:r>
            <a:endParaRPr lang="en-US" sz="576" dirty="0"/>
          </a:p>
        </p:txBody>
      </p:sp>
      <p:sp>
        <p:nvSpPr>
          <p:cNvPr id="34" name="Text 32"/>
          <p:cNvSpPr txBox="1"/>
          <p:nvPr/>
        </p:nvSpPr>
        <p:spPr>
          <a:xfrm>
            <a:off x="1859280" y="3594049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3594049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golden brown</a:t>
            </a:r>
            <a:endParaRPr lang="en-US" sz="576" dirty="0"/>
          </a:p>
        </p:txBody>
      </p:sp>
      <p:sp>
        <p:nvSpPr>
          <p:cNvPr id="36" name="Text 34"/>
          <p:cNvSpPr txBox="1"/>
          <p:nvPr/>
        </p:nvSpPr>
        <p:spPr>
          <a:xfrm>
            <a:off x="4175760" y="359404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 and wrinkled</a:t>
            </a:r>
            <a:endParaRPr lang="en-US" sz="576" dirty="0"/>
          </a:p>
        </p:txBody>
      </p:sp>
      <p:sp>
        <p:nvSpPr>
          <p:cNvPr id="37" name="Text 35"/>
          <p:cNvSpPr txBox="1"/>
          <p:nvPr/>
        </p:nvSpPr>
        <p:spPr>
          <a:xfrm>
            <a:off x="5394960" y="3594049"/>
            <a:ext cx="15544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Long-haul shipping, bulk, cooking and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processing</a:t>
            </a:r>
            <a:endParaRPr lang="en-US" sz="576" dirty="0"/>
          </a:p>
        </p:txBody>
      </p:sp>
      <p:sp>
        <p:nvSpPr>
          <p:cNvPr id="38" name="Shape 36"/>
          <p:cNvSpPr/>
          <p:nvPr/>
        </p:nvSpPr>
        <p:spPr>
          <a:xfrm>
            <a:off x="518160" y="38648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18160" y="4014673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Kimri</a:t>
            </a:r>
            <a:endParaRPr lang="en-US" sz="576" dirty="0"/>
          </a:p>
        </p:txBody>
      </p:sp>
      <p:sp>
        <p:nvSpPr>
          <p:cNvPr id="40" name="Text 38"/>
          <p:cNvSpPr txBox="1"/>
          <p:nvPr/>
        </p:nvSpPr>
        <p:spPr>
          <a:xfrm>
            <a:off x="1859280" y="4014673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41" name="Text 39"/>
          <p:cNvSpPr txBox="1"/>
          <p:nvPr/>
        </p:nvSpPr>
        <p:spPr>
          <a:xfrm>
            <a:off x="2834640" y="4014673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</a:t>
            </a:r>
            <a:endParaRPr lang="en-US" sz="576" dirty="0"/>
          </a:p>
        </p:txBody>
      </p:sp>
      <p:sp>
        <p:nvSpPr>
          <p:cNvPr id="42" name="Text 40"/>
          <p:cNvSpPr txBox="1"/>
          <p:nvPr/>
        </p:nvSpPr>
        <p:spPr>
          <a:xfrm>
            <a:off x="4175760" y="401467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 and smooth</a:t>
            </a:r>
            <a:endParaRPr lang="en-US" sz="576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4014673"/>
            <a:ext cx="15544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pouches, value packs, high-volume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</a:t>
            </a:r>
            <a:endParaRPr lang="en-US" sz="576" dirty="0"/>
          </a:p>
        </p:txBody>
      </p:sp>
      <p:sp>
        <p:nvSpPr>
          <p:cNvPr id="44" name="Shape 42"/>
          <p:cNvSpPr/>
          <p:nvPr/>
        </p:nvSpPr>
        <p:spPr>
          <a:xfrm>
            <a:off x="518160" y="428548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18160" y="4435297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Shahani</a:t>
            </a:r>
            <a:endParaRPr lang="en-US" sz="576" dirty="0"/>
          </a:p>
        </p:txBody>
      </p:sp>
      <p:sp>
        <p:nvSpPr>
          <p:cNvPr id="46" name="Text 44"/>
          <p:cNvSpPr txBox="1"/>
          <p:nvPr/>
        </p:nvSpPr>
        <p:spPr>
          <a:xfrm>
            <a:off x="1859280" y="4435297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Semi-soft</a:t>
            </a:r>
            <a:endParaRPr lang="en-US" sz="576" dirty="0"/>
          </a:p>
        </p:txBody>
      </p:sp>
      <p:sp>
        <p:nvSpPr>
          <p:cNvPr id="47" name="Text 45"/>
          <p:cNvSpPr txBox="1"/>
          <p:nvPr/>
        </p:nvSpPr>
        <p:spPr>
          <a:xfrm>
            <a:off x="2834640" y="4435297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amber brown</a:t>
            </a:r>
            <a:endParaRPr lang="en-US" sz="576" dirty="0"/>
          </a:p>
        </p:txBody>
      </p:sp>
      <p:sp>
        <p:nvSpPr>
          <p:cNvPr id="48" name="Text 46"/>
          <p:cNvSpPr txBox="1"/>
          <p:nvPr/>
        </p:nvSpPr>
        <p:spPr>
          <a:xfrm>
            <a:off x="4175760" y="4435297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Smooth and fine</a:t>
            </a:r>
            <a:endParaRPr lang="en-US" sz="576" dirty="0"/>
          </a:p>
        </p:txBody>
      </p:sp>
      <p:sp>
        <p:nvSpPr>
          <p:cNvPr id="49" name="Text 47"/>
          <p:cNvSpPr txBox="1"/>
          <p:nvPr/>
        </p:nvSpPr>
        <p:spPr>
          <a:xfrm>
            <a:off x="5394960" y="4435297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trays, bakery and dessert supply</a:t>
            </a:r>
            <a:endParaRPr lang="en-US" sz="576" dirty="0"/>
          </a:p>
        </p:txBody>
      </p:sp>
      <p:sp>
        <p:nvSpPr>
          <p:cNvPr id="50" name="Shape 48"/>
          <p:cNvSpPr/>
          <p:nvPr/>
        </p:nvSpPr>
        <p:spPr>
          <a:xfrm>
            <a:off x="518160" y="4706112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18160" y="4855921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Najafi</a:t>
            </a:r>
            <a:endParaRPr lang="en-US" sz="576" dirty="0"/>
          </a:p>
        </p:txBody>
      </p:sp>
      <p:sp>
        <p:nvSpPr>
          <p:cNvPr id="52" name="Text 50"/>
          <p:cNvSpPr txBox="1"/>
          <p:nvPr/>
        </p:nvSpPr>
        <p:spPr>
          <a:xfrm>
            <a:off x="1859280" y="4855921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53" name="Text 51"/>
          <p:cNvSpPr txBox="1"/>
          <p:nvPr/>
        </p:nvSpPr>
        <p:spPr>
          <a:xfrm>
            <a:off x="2834640" y="4855921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 brown to black</a:t>
            </a:r>
            <a:endParaRPr lang="en-US" sz="576" dirty="0"/>
          </a:p>
        </p:txBody>
      </p:sp>
      <p:sp>
        <p:nvSpPr>
          <p:cNvPr id="54" name="Text 52"/>
          <p:cNvSpPr txBox="1"/>
          <p:nvPr/>
        </p:nvSpPr>
        <p:spPr>
          <a:xfrm>
            <a:off x="4175760" y="485592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</a:t>
            </a:r>
            <a:endParaRPr lang="en-US" sz="576" dirty="0"/>
          </a:p>
        </p:txBody>
      </p:sp>
      <p:sp>
        <p:nvSpPr>
          <p:cNvPr id="55" name="Text 53"/>
          <p:cNvSpPr txBox="1"/>
          <p:nvPr/>
        </p:nvSpPr>
        <p:spPr>
          <a:xfrm>
            <a:off x="5394960" y="4855921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Retail, traditional food processing</a:t>
            </a:r>
            <a:endParaRPr lang="en-US" sz="576" dirty="0"/>
          </a:p>
        </p:txBody>
      </p:sp>
      <p:sp>
        <p:nvSpPr>
          <p:cNvPr id="56" name="Shape 54"/>
          <p:cNvSpPr/>
          <p:nvPr/>
        </p:nvSpPr>
        <p:spPr>
          <a:xfrm>
            <a:off x="518160" y="5126736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18160" y="5276545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Lasht</a:t>
            </a:r>
            <a:endParaRPr lang="en-US" sz="576" dirty="0"/>
          </a:p>
        </p:txBody>
      </p:sp>
      <p:sp>
        <p:nvSpPr>
          <p:cNvPr id="58" name="Text 56"/>
          <p:cNvSpPr txBox="1"/>
          <p:nvPr/>
        </p:nvSpPr>
        <p:spPr>
          <a:xfrm>
            <a:off x="1859280" y="5276545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59" name="Text 57"/>
          <p:cNvSpPr txBox="1"/>
          <p:nvPr/>
        </p:nvSpPr>
        <p:spPr>
          <a:xfrm>
            <a:off x="2834640" y="5276545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brown</a:t>
            </a:r>
            <a:endParaRPr lang="en-US" sz="576" dirty="0"/>
          </a:p>
        </p:txBody>
      </p:sp>
      <p:sp>
        <p:nvSpPr>
          <p:cNvPr id="60" name="Text 58"/>
          <p:cNvSpPr txBox="1"/>
          <p:nvPr/>
        </p:nvSpPr>
        <p:spPr>
          <a:xfrm>
            <a:off x="4175760" y="527654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 and wrinkled</a:t>
            </a:r>
            <a:endParaRPr lang="en-US" sz="576" dirty="0"/>
          </a:p>
        </p:txBody>
      </p:sp>
      <p:sp>
        <p:nvSpPr>
          <p:cNvPr id="61" name="Text 59"/>
          <p:cNvSpPr txBox="1"/>
          <p:nvPr/>
        </p:nvSpPr>
        <p:spPr>
          <a:xfrm>
            <a:off x="5394960" y="5276545"/>
            <a:ext cx="15544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shipments, industrial processing,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cooking</a:t>
            </a:r>
            <a:endParaRPr lang="en-US" sz="576" dirty="0"/>
          </a:p>
        </p:txBody>
      </p:sp>
      <p:sp>
        <p:nvSpPr>
          <p:cNvPr id="62" name="Shape 60"/>
          <p:cNvSpPr/>
          <p:nvPr/>
        </p:nvSpPr>
        <p:spPr>
          <a:xfrm>
            <a:off x="518160" y="5547360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18160" y="5697169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Morki</a:t>
            </a:r>
            <a:endParaRPr lang="en-US" sz="576" dirty="0"/>
          </a:p>
        </p:txBody>
      </p:sp>
      <p:sp>
        <p:nvSpPr>
          <p:cNvPr id="64" name="Text 62"/>
          <p:cNvSpPr txBox="1"/>
          <p:nvPr/>
        </p:nvSpPr>
        <p:spPr>
          <a:xfrm>
            <a:off x="1859280" y="5697169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65" name="Text 63"/>
          <p:cNvSpPr txBox="1"/>
          <p:nvPr/>
        </p:nvSpPr>
        <p:spPr>
          <a:xfrm>
            <a:off x="2834640" y="5697169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to medium brown</a:t>
            </a:r>
            <a:endParaRPr lang="en-US" sz="576" dirty="0"/>
          </a:p>
        </p:txBody>
      </p:sp>
      <p:sp>
        <p:nvSpPr>
          <p:cNvPr id="66" name="Text 64"/>
          <p:cNvSpPr txBox="1"/>
          <p:nvPr/>
        </p:nvSpPr>
        <p:spPr>
          <a:xfrm>
            <a:off x="4175760" y="569716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Smooth to lightly wrinkled</a:t>
            </a:r>
            <a:endParaRPr lang="en-US" sz="576" dirty="0"/>
          </a:p>
        </p:txBody>
      </p:sp>
      <p:sp>
        <p:nvSpPr>
          <p:cNvPr id="67" name="Text 65"/>
          <p:cNvSpPr txBox="1"/>
          <p:nvPr/>
        </p:nvSpPr>
        <p:spPr>
          <a:xfrm>
            <a:off x="5394960" y="5697169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boxes, retail, catering and hospitality</a:t>
            </a:r>
            <a:endParaRPr lang="en-US" sz="576" dirty="0"/>
          </a:p>
        </p:txBody>
      </p:sp>
      <p:sp>
        <p:nvSpPr>
          <p:cNvPr id="68" name="Shape 66"/>
          <p:cNvSpPr/>
          <p:nvPr/>
        </p:nvSpPr>
        <p:spPr>
          <a:xfrm>
            <a:off x="518160" y="596798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18160" y="6117793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Deglet en-Nour</a:t>
            </a:r>
            <a:endParaRPr lang="en-US" sz="576" dirty="0"/>
          </a:p>
        </p:txBody>
      </p:sp>
      <p:sp>
        <p:nvSpPr>
          <p:cNvPr id="70" name="Text 68"/>
          <p:cNvSpPr txBox="1"/>
          <p:nvPr/>
        </p:nvSpPr>
        <p:spPr>
          <a:xfrm>
            <a:off x="1859280" y="6117793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71" name="Text 69"/>
          <p:cNvSpPr txBox="1"/>
          <p:nvPr/>
        </p:nvSpPr>
        <p:spPr>
          <a:xfrm>
            <a:off x="2834640" y="6117793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Pale golden brown</a:t>
            </a:r>
            <a:endParaRPr lang="en-US" sz="576" dirty="0"/>
          </a:p>
        </p:txBody>
      </p:sp>
      <p:sp>
        <p:nvSpPr>
          <p:cNvPr id="72" name="Text 70"/>
          <p:cNvSpPr txBox="1"/>
          <p:nvPr/>
        </p:nvSpPr>
        <p:spPr>
          <a:xfrm>
            <a:off x="4175760" y="611779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Lightly wrinkled</a:t>
            </a:r>
            <a:endParaRPr lang="en-US" sz="576" dirty="0"/>
          </a:p>
        </p:txBody>
      </p:sp>
      <p:sp>
        <p:nvSpPr>
          <p:cNvPr id="73" name="Text 71"/>
          <p:cNvSpPr txBox="1"/>
          <p:nvPr/>
        </p:nvSpPr>
        <p:spPr>
          <a:xfrm>
            <a:off x="5394960" y="6117793"/>
            <a:ext cx="1554480" cy="277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retail boxes, bakery and</a:t>
            </a:r>
            <a:endParaRPr lang="en-US" sz="576" dirty="0"/>
          </a:p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confectionery supply</a:t>
            </a:r>
            <a:endParaRPr lang="en-US" sz="576" dirty="0"/>
          </a:p>
        </p:txBody>
      </p:sp>
      <p:sp>
        <p:nvSpPr>
          <p:cNvPr id="74" name="Shape 72"/>
          <p:cNvSpPr/>
          <p:nvPr/>
        </p:nvSpPr>
        <p:spPr>
          <a:xfrm>
            <a:off x="518160" y="638860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18160" y="6538417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Barhi</a:t>
            </a:r>
            <a:endParaRPr lang="en-US" sz="576" dirty="0"/>
          </a:p>
        </p:txBody>
      </p:sp>
      <p:sp>
        <p:nvSpPr>
          <p:cNvPr id="76" name="Text 74"/>
          <p:cNvSpPr txBox="1"/>
          <p:nvPr/>
        </p:nvSpPr>
        <p:spPr>
          <a:xfrm>
            <a:off x="1859280" y="6538417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77" name="Text 75"/>
          <p:cNvSpPr txBox="1"/>
          <p:nvPr/>
        </p:nvSpPr>
        <p:spPr>
          <a:xfrm>
            <a:off x="2834640" y="6538417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brown</a:t>
            </a:r>
            <a:endParaRPr lang="en-US" sz="576" dirty="0"/>
          </a:p>
        </p:txBody>
      </p:sp>
      <p:sp>
        <p:nvSpPr>
          <p:cNvPr id="78" name="Text 76"/>
          <p:cNvSpPr txBox="1"/>
          <p:nvPr/>
        </p:nvSpPr>
        <p:spPr>
          <a:xfrm>
            <a:off x="4175760" y="6538417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Smooth</a:t>
            </a:r>
            <a:endParaRPr lang="en-US" sz="576" dirty="0"/>
          </a:p>
        </p:txBody>
      </p:sp>
      <p:sp>
        <p:nvSpPr>
          <p:cNvPr id="79" name="Text 77"/>
          <p:cNvSpPr txBox="1"/>
          <p:nvPr/>
        </p:nvSpPr>
        <p:spPr>
          <a:xfrm>
            <a:off x="5394960" y="6538417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snacking, food manufacturing</a:t>
            </a:r>
            <a:endParaRPr lang="en-US" sz="576" dirty="0"/>
          </a:p>
        </p:txBody>
      </p:sp>
      <p:sp>
        <p:nvSpPr>
          <p:cNvPr id="80" name="Shape 78"/>
          <p:cNvSpPr/>
          <p:nvPr/>
        </p:nvSpPr>
        <p:spPr>
          <a:xfrm>
            <a:off x="518160" y="6809232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18160" y="6959041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Harani (Sukkari)</a:t>
            </a:r>
            <a:endParaRPr lang="en-US" sz="576" dirty="0"/>
          </a:p>
        </p:txBody>
      </p:sp>
      <p:sp>
        <p:nvSpPr>
          <p:cNvPr id="82" name="Text 80"/>
          <p:cNvSpPr txBox="1"/>
          <p:nvPr/>
        </p:nvSpPr>
        <p:spPr>
          <a:xfrm>
            <a:off x="1859280" y="6959041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</a:t>
            </a:r>
            <a:endParaRPr lang="en-US" sz="576" dirty="0"/>
          </a:p>
        </p:txBody>
      </p:sp>
      <p:sp>
        <p:nvSpPr>
          <p:cNvPr id="83" name="Text 81"/>
          <p:cNvSpPr txBox="1"/>
          <p:nvPr/>
        </p:nvSpPr>
        <p:spPr>
          <a:xfrm>
            <a:off x="2834640" y="6959041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brown</a:t>
            </a:r>
            <a:endParaRPr lang="en-US" sz="576" dirty="0"/>
          </a:p>
        </p:txBody>
      </p:sp>
      <p:sp>
        <p:nvSpPr>
          <p:cNvPr id="84" name="Text 82"/>
          <p:cNvSpPr txBox="1"/>
          <p:nvPr/>
        </p:nvSpPr>
        <p:spPr>
          <a:xfrm>
            <a:off x="4175760" y="695904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 and glossy</a:t>
            </a:r>
            <a:endParaRPr lang="en-US" sz="576" dirty="0"/>
          </a:p>
        </p:txBody>
      </p:sp>
      <p:sp>
        <p:nvSpPr>
          <p:cNvPr id="85" name="Text 83"/>
          <p:cNvSpPr txBox="1"/>
          <p:nvPr/>
        </p:nvSpPr>
        <p:spPr>
          <a:xfrm>
            <a:off x="5394960" y="6959041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retail and corporate gifting</a:t>
            </a:r>
            <a:endParaRPr lang="en-US" sz="576" dirty="0"/>
          </a:p>
        </p:txBody>
      </p:sp>
      <p:sp>
        <p:nvSpPr>
          <p:cNvPr id="86" name="Shape 84"/>
          <p:cNvSpPr/>
          <p:nvPr/>
        </p:nvSpPr>
        <p:spPr>
          <a:xfrm>
            <a:off x="518160" y="7229856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518160" y="7379665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Piarom</a:t>
            </a:r>
            <a:endParaRPr lang="en-US" sz="576" dirty="0"/>
          </a:p>
        </p:txBody>
      </p:sp>
      <p:sp>
        <p:nvSpPr>
          <p:cNvPr id="88" name="Text 86"/>
          <p:cNvSpPr txBox="1"/>
          <p:nvPr/>
        </p:nvSpPr>
        <p:spPr>
          <a:xfrm>
            <a:off x="1859280" y="7379665"/>
            <a:ext cx="76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Semi-dry</a:t>
            </a:r>
            <a:endParaRPr lang="en-US" sz="576" dirty="0"/>
          </a:p>
        </p:txBody>
      </p:sp>
      <p:sp>
        <p:nvSpPr>
          <p:cNvPr id="89" name="Text 87"/>
          <p:cNvSpPr txBox="1"/>
          <p:nvPr/>
        </p:nvSpPr>
        <p:spPr>
          <a:xfrm>
            <a:off x="2834640" y="7379665"/>
            <a:ext cx="112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brown to black</a:t>
            </a:r>
            <a:endParaRPr lang="en-US" sz="576" dirty="0"/>
          </a:p>
        </p:txBody>
      </p:sp>
      <p:sp>
        <p:nvSpPr>
          <p:cNvPr id="90" name="Text 88"/>
          <p:cNvSpPr txBox="1"/>
          <p:nvPr/>
        </p:nvSpPr>
        <p:spPr>
          <a:xfrm>
            <a:off x="4175760" y="737966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 and wrinkled</a:t>
            </a:r>
            <a:endParaRPr lang="en-US" sz="576" dirty="0"/>
          </a:p>
        </p:txBody>
      </p:sp>
      <p:sp>
        <p:nvSpPr>
          <p:cNvPr id="91" name="Text 89"/>
          <p:cNvSpPr txBox="1"/>
          <p:nvPr/>
        </p:nvSpPr>
        <p:spPr>
          <a:xfrm>
            <a:off x="5394960" y="7379665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Snacking, premium bulk, gifting</a:t>
            </a:r>
            <a:endParaRPr lang="en-US" sz="576" dirty="0"/>
          </a:p>
        </p:txBody>
      </p:sp>
      <p:sp>
        <p:nvSpPr>
          <p:cNvPr id="92" name="Text 90"/>
          <p:cNvSpPr txBox="1"/>
          <p:nvPr/>
        </p:nvSpPr>
        <p:spPr>
          <a:xfrm>
            <a:off x="518160" y="8060303"/>
            <a:ext cx="5791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 characteristics vary with growing region, season, irrigation and grade. Figures above are typical values used for buyer orientation. FARVAND confirms the specification of the lot being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offered in the quotation, and any lab-verified figure is stated on the certificate that accompanies the lot.</a:t>
            </a:r>
            <a:endParaRPr lang="en-US" sz="504" dirty="0"/>
          </a:p>
        </p:txBody>
      </p:sp>
      <p:sp>
        <p:nvSpPr>
          <p:cNvPr id="93" name="Shape 91"/>
          <p:cNvSpPr/>
          <p:nvPr/>
        </p:nvSpPr>
        <p:spPr>
          <a:xfrm>
            <a:off x="518160" y="8412480"/>
            <a:ext cx="6522720" cy="67056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94" name="Shape 92"/>
          <p:cNvSpPr/>
          <p:nvPr/>
        </p:nvSpPr>
        <p:spPr>
          <a:xfrm>
            <a:off x="518160" y="8412480"/>
            <a:ext cx="12192" cy="67056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70560" y="8614715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sure which variety fits a shelf, a price point or a container plan? Send us the brief and we will recommend a mix — and tell you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plainly what is not available this season.</a:t>
            </a:r>
            <a:endParaRPr lang="en-US" sz="576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8778240"/>
            <a:ext cx="6522720" cy="975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— HOW WE WORK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Quality Assurance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checkpoints stand between the grove and the container. Each one is recorded, and each one can be shown to a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buyer or an inspector.</a:t>
            </a:r>
            <a:endParaRPr lang="en-US" sz="648" dirty="0"/>
          </a:p>
        </p:txBody>
      </p:sp>
      <p:sp>
        <p:nvSpPr>
          <p:cNvPr id="16" name="Text 13"/>
          <p:cNvSpPr txBox="1"/>
          <p:nvPr/>
        </p:nvSpPr>
        <p:spPr>
          <a:xfrm>
            <a:off x="518160" y="226323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584" dirty="0"/>
          </a:p>
        </p:txBody>
      </p:sp>
      <p:sp>
        <p:nvSpPr>
          <p:cNvPr id="17" name="Text 14"/>
          <p:cNvSpPr txBox="1"/>
          <p:nvPr/>
        </p:nvSpPr>
        <p:spPr>
          <a:xfrm>
            <a:off x="853440" y="2446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Incoming inspection</a:t>
            </a:r>
            <a:endParaRPr lang="en-US" sz="648" dirty="0"/>
          </a:p>
        </p:txBody>
      </p:sp>
      <p:sp>
        <p:nvSpPr>
          <p:cNvPr id="18" name="Text 15"/>
          <p:cNvSpPr txBox="1"/>
          <p:nvPr/>
        </p:nvSpPr>
        <p:spPr>
          <a:xfrm>
            <a:off x="853440" y="263453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incoming lot is checked for condition, colour and foreign matter before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enters the line. Findings are recorded per lot.</a:t>
            </a:r>
            <a:endParaRPr lang="en-US" sz="576" dirty="0"/>
          </a:p>
        </p:txBody>
      </p:sp>
      <p:sp>
        <p:nvSpPr>
          <p:cNvPr id="19" name="Shape 16"/>
          <p:cNvSpPr/>
          <p:nvPr/>
        </p:nvSpPr>
        <p:spPr>
          <a:xfrm>
            <a:off x="518160" y="320040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535680" y="226323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584" dirty="0"/>
          </a:p>
        </p:txBody>
      </p:sp>
      <p:sp>
        <p:nvSpPr>
          <p:cNvPr id="21" name="Text 18"/>
          <p:cNvSpPr txBox="1"/>
          <p:nvPr/>
        </p:nvSpPr>
        <p:spPr>
          <a:xfrm>
            <a:off x="3870960" y="24464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Sorting and grading</a:t>
            </a:r>
            <a:endParaRPr lang="en-US" sz="648" dirty="0"/>
          </a:p>
        </p:txBody>
      </p:sp>
      <p:sp>
        <p:nvSpPr>
          <p:cNvPr id="22" name="Text 19"/>
          <p:cNvSpPr txBox="1"/>
          <p:nvPr/>
        </p:nvSpPr>
        <p:spPr>
          <a:xfrm>
            <a:off x="3870960" y="263453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Fruit is sorted by size, colour and condition. The grade agreed for the order is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separated and rejected fruit leaves the line.</a:t>
            </a:r>
            <a:endParaRPr lang="en-US" sz="576" dirty="0"/>
          </a:p>
        </p:txBody>
      </p:sp>
      <p:sp>
        <p:nvSpPr>
          <p:cNvPr id="23" name="Shape 20"/>
          <p:cNvSpPr/>
          <p:nvPr/>
        </p:nvSpPr>
        <p:spPr>
          <a:xfrm>
            <a:off x="3535680" y="320040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8160" y="354339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584" dirty="0"/>
          </a:p>
        </p:txBody>
      </p:sp>
      <p:sp>
        <p:nvSpPr>
          <p:cNvPr id="25" name="Text 22"/>
          <p:cNvSpPr txBox="1"/>
          <p:nvPr/>
        </p:nvSpPr>
        <p:spPr>
          <a:xfrm>
            <a:off x="853440" y="372661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 and condition control</a:t>
            </a:r>
            <a:endParaRPr lang="en-US" sz="648" dirty="0"/>
          </a:p>
        </p:txBody>
      </p:sp>
      <p:sp>
        <p:nvSpPr>
          <p:cNvPr id="26" name="Text 23"/>
          <p:cNvSpPr txBox="1"/>
          <p:nvPr/>
        </p:nvSpPr>
        <p:spPr>
          <a:xfrm>
            <a:off x="853440" y="391469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Moisture and condition are monitored where the variety requires it. Only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lab-verified figures are quoted in the specification.</a:t>
            </a:r>
            <a:endParaRPr lang="en-US" sz="576" dirty="0"/>
          </a:p>
        </p:txBody>
      </p:sp>
      <p:sp>
        <p:nvSpPr>
          <p:cNvPr id="27" name="Shape 24"/>
          <p:cNvSpPr/>
          <p:nvPr/>
        </p:nvSpPr>
        <p:spPr>
          <a:xfrm>
            <a:off x="518160" y="448056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535680" y="354339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584" dirty="0"/>
          </a:p>
        </p:txBody>
      </p:sp>
      <p:sp>
        <p:nvSpPr>
          <p:cNvPr id="29" name="Text 26"/>
          <p:cNvSpPr txBox="1"/>
          <p:nvPr/>
        </p:nvSpPr>
        <p:spPr>
          <a:xfrm>
            <a:off x="3870960" y="372661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packing</a:t>
            </a:r>
            <a:endParaRPr lang="en-US" sz="648" dirty="0"/>
          </a:p>
        </p:txBody>
      </p:sp>
      <p:sp>
        <p:nvSpPr>
          <p:cNvPr id="30" name="Text 27"/>
          <p:cNvSpPr txBox="1"/>
          <p:nvPr/>
        </p:nvSpPr>
        <p:spPr>
          <a:xfrm>
            <a:off x="3870960" y="391469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happens under controlled conditions, with pack format, net weight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count set by the purchase order.</a:t>
            </a:r>
            <a:endParaRPr lang="en-US" sz="576" dirty="0"/>
          </a:p>
        </p:txBody>
      </p:sp>
      <p:sp>
        <p:nvSpPr>
          <p:cNvPr id="31" name="Shape 28"/>
          <p:cNvSpPr/>
          <p:nvPr/>
        </p:nvSpPr>
        <p:spPr>
          <a:xfrm>
            <a:off x="3535680" y="448056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8160" y="482355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584" dirty="0"/>
          </a:p>
        </p:txBody>
      </p:sp>
      <p:sp>
        <p:nvSpPr>
          <p:cNvPr id="33" name="Text 30"/>
          <p:cNvSpPr txBox="1"/>
          <p:nvPr/>
        </p:nvSpPr>
        <p:spPr>
          <a:xfrm>
            <a:off x="853440" y="50067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 coding and traceability</a:t>
            </a:r>
            <a:endParaRPr lang="en-US" sz="648" dirty="0"/>
          </a:p>
        </p:txBody>
      </p:sp>
      <p:sp>
        <p:nvSpPr>
          <p:cNvPr id="34" name="Text 31"/>
          <p:cNvSpPr txBox="1"/>
          <p:nvPr/>
        </p:nvSpPr>
        <p:spPr>
          <a:xfrm>
            <a:off x="853440" y="519485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carton carries a lot code that ties it back to its source, packing date and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 record.</a:t>
            </a:r>
            <a:endParaRPr lang="en-US" sz="576" dirty="0"/>
          </a:p>
        </p:txBody>
      </p:sp>
      <p:sp>
        <p:nvSpPr>
          <p:cNvPr id="35" name="Shape 32"/>
          <p:cNvSpPr/>
          <p:nvPr/>
        </p:nvSpPr>
        <p:spPr>
          <a:xfrm>
            <a:off x="518160" y="576072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535680" y="4823558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76"/>
              </a:lnSpc>
              <a:buNone/>
            </a:pPr>
            <a:r>
              <a:rPr lang="en-US" sz="1584" dirty="0">
                <a:solidFill>
                  <a:srgbClr val="C8A25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584" dirty="0"/>
          </a:p>
        </p:txBody>
      </p:sp>
      <p:sp>
        <p:nvSpPr>
          <p:cNvPr id="37" name="Text 34"/>
          <p:cNvSpPr txBox="1"/>
          <p:nvPr/>
        </p:nvSpPr>
        <p:spPr>
          <a:xfrm>
            <a:off x="3870960" y="50067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Pre-shipment check</a:t>
            </a:r>
            <a:endParaRPr lang="en-US" sz="648" dirty="0"/>
          </a:p>
        </p:txBody>
      </p:sp>
      <p:sp>
        <p:nvSpPr>
          <p:cNvPr id="38" name="Text 35"/>
          <p:cNvSpPr txBox="1"/>
          <p:nvPr/>
        </p:nvSpPr>
        <p:spPr>
          <a:xfrm>
            <a:off x="3870960" y="5194859"/>
            <a:ext cx="2682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final check on count, weight, carton condition and labelling runs before the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is closed and sealed.</a:t>
            </a:r>
            <a:endParaRPr lang="en-US" sz="576" dirty="0"/>
          </a:p>
        </p:txBody>
      </p:sp>
      <p:sp>
        <p:nvSpPr>
          <p:cNvPr id="39" name="Shape 36"/>
          <p:cNvSpPr/>
          <p:nvPr/>
        </p:nvSpPr>
        <p:spPr>
          <a:xfrm>
            <a:off x="3535680" y="5760720"/>
            <a:ext cx="28651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0" name="Shape 37"/>
          <p:cNvSpPr/>
          <p:nvPr/>
        </p:nvSpPr>
        <p:spPr>
          <a:xfrm>
            <a:off x="518160" y="6522720"/>
            <a:ext cx="6522720" cy="188976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41" name="Shape 38"/>
          <p:cNvSpPr/>
          <p:nvPr/>
        </p:nvSpPr>
        <p:spPr>
          <a:xfrm>
            <a:off x="518160" y="652272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01040" y="67148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WE WORK WITH</a:t>
            </a:r>
            <a:endParaRPr lang="en-US" sz="480" dirty="0"/>
          </a:p>
        </p:txBody>
      </p:sp>
      <p:sp>
        <p:nvSpPr>
          <p:cNvPr id="43" name="Text 40"/>
          <p:cNvSpPr txBox="1"/>
          <p:nvPr/>
        </p:nvSpPr>
        <p:spPr>
          <a:xfrm>
            <a:off x="701040" y="6877355"/>
            <a:ext cx="304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exact document set depends on the destination and the incoterm. The list below is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usual export pack — confirm the current requirement for your market with us.</a:t>
            </a:r>
            <a:endParaRPr lang="en-US" sz="576" dirty="0"/>
          </a:p>
        </p:txBody>
      </p:sp>
      <p:sp>
        <p:nvSpPr>
          <p:cNvPr id="44" name="Shape 41"/>
          <p:cNvSpPr/>
          <p:nvPr/>
        </p:nvSpPr>
        <p:spPr>
          <a:xfrm>
            <a:off x="701040" y="729691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92480" y="7273595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Commercial invoice</a:t>
            </a:r>
            <a:endParaRPr lang="en-US" sz="576" dirty="0"/>
          </a:p>
        </p:txBody>
      </p:sp>
      <p:sp>
        <p:nvSpPr>
          <p:cNvPr id="46" name="Shape 43"/>
          <p:cNvSpPr/>
          <p:nvPr/>
        </p:nvSpPr>
        <p:spPr>
          <a:xfrm>
            <a:off x="2773680" y="729691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865120" y="7273595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list</a:t>
            </a:r>
            <a:endParaRPr lang="en-US" sz="576" dirty="0"/>
          </a:p>
        </p:txBody>
      </p:sp>
      <p:sp>
        <p:nvSpPr>
          <p:cNvPr id="48" name="Shape 45"/>
          <p:cNvSpPr/>
          <p:nvPr/>
        </p:nvSpPr>
        <p:spPr>
          <a:xfrm>
            <a:off x="4846320" y="729691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937760" y="7273595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Phytosanitary certificate</a:t>
            </a:r>
            <a:endParaRPr lang="en-US" sz="576" dirty="0"/>
          </a:p>
        </p:txBody>
      </p:sp>
      <p:sp>
        <p:nvSpPr>
          <p:cNvPr id="50" name="Shape 47"/>
          <p:cNvSpPr/>
          <p:nvPr/>
        </p:nvSpPr>
        <p:spPr>
          <a:xfrm>
            <a:off x="701040" y="757123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792480" y="7547915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Certificate of origin</a:t>
            </a:r>
            <a:endParaRPr lang="en-US" sz="576" dirty="0"/>
          </a:p>
        </p:txBody>
      </p:sp>
      <p:sp>
        <p:nvSpPr>
          <p:cNvPr id="52" name="Shape 49"/>
          <p:cNvSpPr/>
          <p:nvPr/>
        </p:nvSpPr>
        <p:spPr>
          <a:xfrm>
            <a:off x="2773680" y="757123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2865120" y="7547915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Fumigation / treatment certificate</a:t>
            </a:r>
            <a:endParaRPr lang="en-US" sz="576" dirty="0"/>
          </a:p>
        </p:txBody>
      </p:sp>
      <p:sp>
        <p:nvSpPr>
          <p:cNvPr id="54" name="Shape 51"/>
          <p:cNvSpPr/>
          <p:nvPr/>
        </p:nvSpPr>
        <p:spPr>
          <a:xfrm>
            <a:off x="4846320" y="757123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937760" y="7547915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 documents per incoterm</a:t>
            </a:r>
            <a:endParaRPr lang="en-US" sz="576" dirty="0"/>
          </a:p>
        </p:txBody>
      </p:sp>
      <p:sp>
        <p:nvSpPr>
          <p:cNvPr id="56" name="Text 53"/>
          <p:cNvSpPr txBox="1"/>
          <p:nvPr/>
        </p:nvSpPr>
        <p:spPr>
          <a:xfrm>
            <a:off x="701040" y="793838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778E8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[EXPORT DOCUMENTS CONFIRMED PER DESTINATION]</a:t>
            </a:r>
            <a:endParaRPr lang="en-US" sz="504" dirty="0"/>
          </a:p>
        </p:txBody>
      </p:sp>
      <p:sp>
        <p:nvSpPr>
          <p:cNvPr id="57" name="Text 54"/>
          <p:cNvSpPr txBox="1"/>
          <p:nvPr/>
        </p:nvSpPr>
        <p:spPr>
          <a:xfrm>
            <a:off x="518160" y="98586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Sorting and grading at [FACILITY NAME], [CITY] — [DESCRIBE THE LINE].</a:t>
            </a:r>
            <a:endParaRPr lang="en-US" sz="50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2377440"/>
            <a:ext cx="2987040" cy="3352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— HOW IT ARRIVES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Packaging Options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Dates are fragile and moisture-sensitive. The pack format is chosen for the destination, the shelf and the retailer’s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planogram — not for the factory that filled it.</a:t>
            </a:r>
            <a:endParaRPr lang="en-US" sz="648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36916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Retail tray + film</a:t>
            </a:r>
            <a:endParaRPr lang="en-US" sz="912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561387"/>
            <a:ext cx="30480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Sealed tray over-wrap, stacked and cartonised.</a:t>
            </a:r>
            <a:endParaRPr lang="en-US" sz="576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75678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504" dirty="0"/>
          </a:p>
        </p:txBody>
      </p:sp>
      <p:sp>
        <p:nvSpPr>
          <p:cNvPr id="19" name="Text 16"/>
          <p:cNvSpPr txBox="1"/>
          <p:nvPr/>
        </p:nvSpPr>
        <p:spPr>
          <a:xfrm>
            <a:off x="4815840" y="2756783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504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89699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504" dirty="0"/>
          </a:p>
        </p:txBody>
      </p:sp>
      <p:sp>
        <p:nvSpPr>
          <p:cNvPr id="21" name="Text 18"/>
          <p:cNvSpPr txBox="1"/>
          <p:nvPr/>
        </p:nvSpPr>
        <p:spPr>
          <a:xfrm>
            <a:off x="4815840" y="2896991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504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03719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04" dirty="0"/>
          </a:p>
        </p:txBody>
      </p:sp>
      <p:sp>
        <p:nvSpPr>
          <p:cNvPr id="23" name="Text 20"/>
          <p:cNvSpPr txBox="1"/>
          <p:nvPr/>
        </p:nvSpPr>
        <p:spPr>
          <a:xfrm>
            <a:off x="4815840" y="3037199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04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328356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Clamshell box</a:t>
            </a:r>
            <a:endParaRPr lang="en-US" sz="912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475787"/>
            <a:ext cx="30480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Clear-lidded box for premium retail and gifting.</a:t>
            </a:r>
            <a:endParaRPr lang="en-US" sz="576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367118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504" dirty="0"/>
          </a:p>
        </p:txBody>
      </p:sp>
      <p:sp>
        <p:nvSpPr>
          <p:cNvPr id="27" name="Text 24"/>
          <p:cNvSpPr txBox="1"/>
          <p:nvPr/>
        </p:nvSpPr>
        <p:spPr>
          <a:xfrm>
            <a:off x="4815840" y="3671183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504" dirty="0"/>
          </a:p>
        </p:txBody>
      </p:sp>
      <p:sp>
        <p:nvSpPr>
          <p:cNvPr id="28" name="Text 25"/>
          <p:cNvSpPr txBox="1"/>
          <p:nvPr/>
        </p:nvSpPr>
        <p:spPr>
          <a:xfrm>
            <a:off x="3840480" y="381139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504" dirty="0"/>
          </a:p>
        </p:txBody>
      </p:sp>
      <p:sp>
        <p:nvSpPr>
          <p:cNvPr id="29" name="Text 26"/>
          <p:cNvSpPr txBox="1"/>
          <p:nvPr/>
        </p:nvSpPr>
        <p:spPr>
          <a:xfrm>
            <a:off x="4815840" y="3811391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504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395159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04" dirty="0"/>
          </a:p>
        </p:txBody>
      </p:sp>
      <p:sp>
        <p:nvSpPr>
          <p:cNvPr id="31" name="Text 28"/>
          <p:cNvSpPr txBox="1"/>
          <p:nvPr/>
        </p:nvSpPr>
        <p:spPr>
          <a:xfrm>
            <a:off x="4815840" y="3951599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04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419796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Pouch / doypack</a:t>
            </a:r>
            <a:endParaRPr lang="en-US" sz="912" dirty="0"/>
          </a:p>
        </p:txBody>
      </p:sp>
      <p:sp>
        <p:nvSpPr>
          <p:cNvPr id="33" name="Text 30"/>
          <p:cNvSpPr txBox="1"/>
          <p:nvPr/>
        </p:nvSpPr>
        <p:spPr>
          <a:xfrm>
            <a:off x="3840480" y="4390187"/>
            <a:ext cx="30480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Stand-up pouch for value and high-volume retail.</a:t>
            </a:r>
            <a:endParaRPr lang="en-US" sz="576" dirty="0"/>
          </a:p>
        </p:txBody>
      </p:sp>
      <p:sp>
        <p:nvSpPr>
          <p:cNvPr id="34" name="Text 31"/>
          <p:cNvSpPr txBox="1"/>
          <p:nvPr/>
        </p:nvSpPr>
        <p:spPr>
          <a:xfrm>
            <a:off x="3840480" y="458558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504" dirty="0"/>
          </a:p>
        </p:txBody>
      </p:sp>
      <p:sp>
        <p:nvSpPr>
          <p:cNvPr id="35" name="Text 32"/>
          <p:cNvSpPr txBox="1"/>
          <p:nvPr/>
        </p:nvSpPr>
        <p:spPr>
          <a:xfrm>
            <a:off x="4815840" y="4585583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504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472579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504" dirty="0"/>
          </a:p>
        </p:txBody>
      </p:sp>
      <p:sp>
        <p:nvSpPr>
          <p:cNvPr id="37" name="Text 34"/>
          <p:cNvSpPr txBox="1"/>
          <p:nvPr/>
        </p:nvSpPr>
        <p:spPr>
          <a:xfrm>
            <a:off x="4815840" y="4725791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504" dirty="0"/>
          </a:p>
        </p:txBody>
      </p:sp>
      <p:sp>
        <p:nvSpPr>
          <p:cNvPr id="38" name="Text 35"/>
          <p:cNvSpPr txBox="1"/>
          <p:nvPr/>
        </p:nvSpPr>
        <p:spPr>
          <a:xfrm>
            <a:off x="3840480" y="486599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04" dirty="0"/>
          </a:p>
        </p:txBody>
      </p:sp>
      <p:sp>
        <p:nvSpPr>
          <p:cNvPr id="39" name="Text 36"/>
          <p:cNvSpPr txBox="1"/>
          <p:nvPr/>
        </p:nvSpPr>
        <p:spPr>
          <a:xfrm>
            <a:off x="4815840" y="4865999"/>
            <a:ext cx="207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04" dirty="0"/>
          </a:p>
        </p:txBody>
      </p:sp>
      <p:sp>
        <p:nvSpPr>
          <p:cNvPr id="40" name="Text 37"/>
          <p:cNvSpPr txBox="1"/>
          <p:nvPr/>
        </p:nvSpPr>
        <p:spPr>
          <a:xfrm>
            <a:off x="3840480" y="5317103"/>
            <a:ext cx="3048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retail formats above are examples. Confirm the formats available for each variety, and the film,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and carton material, before ordering.</a:t>
            </a:r>
            <a:endParaRPr lang="en-US" sz="504" dirty="0"/>
          </a:p>
        </p:txBody>
      </p:sp>
      <p:sp>
        <p:nvSpPr>
          <p:cNvPr id="41" name="Text 38"/>
          <p:cNvSpPr txBox="1"/>
          <p:nvPr/>
        </p:nvSpPr>
        <p:spPr>
          <a:xfrm>
            <a:off x="518160" y="586574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 packing, sorting and grading at [FACILITY NAME], [CITY].</a:t>
            </a:r>
            <a:endParaRPr lang="en-US" sz="504" dirty="0"/>
          </a:p>
        </p:txBody>
      </p:sp>
      <p:sp>
        <p:nvSpPr>
          <p:cNvPr id="42" name="Text 39"/>
          <p:cNvSpPr txBox="1"/>
          <p:nvPr/>
        </p:nvSpPr>
        <p:spPr>
          <a:xfrm>
            <a:off x="518160" y="63490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BULK AND PRIVATE LABEL</a:t>
            </a:r>
            <a:endParaRPr lang="en-US" sz="480" dirty="0"/>
          </a:p>
        </p:txBody>
      </p:sp>
      <p:sp>
        <p:nvSpPr>
          <p:cNvPr id="43" name="Shape 40"/>
          <p:cNvSpPr/>
          <p:nvPr/>
        </p:nvSpPr>
        <p:spPr>
          <a:xfrm>
            <a:off x="518160" y="6486144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18160" y="663636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Bulk carton</a:t>
            </a:r>
            <a:endParaRPr lang="en-US" sz="912" dirty="0"/>
          </a:p>
        </p:txBody>
      </p:sp>
      <p:sp>
        <p:nvSpPr>
          <p:cNvPr id="45" name="Text 42"/>
          <p:cNvSpPr txBox="1"/>
          <p:nvPr/>
        </p:nvSpPr>
        <p:spPr>
          <a:xfrm>
            <a:off x="518160" y="6834683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export carton for wholesale buyers.</a:t>
            </a:r>
            <a:endParaRPr lang="en-US" sz="576" dirty="0"/>
          </a:p>
        </p:txBody>
      </p:sp>
      <p:sp>
        <p:nvSpPr>
          <p:cNvPr id="46" name="Text 43"/>
          <p:cNvSpPr txBox="1"/>
          <p:nvPr/>
        </p:nvSpPr>
        <p:spPr>
          <a:xfrm>
            <a:off x="518160" y="71459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</a:t>
            </a:r>
            <a:endParaRPr lang="en-US" sz="504" dirty="0"/>
          </a:p>
        </p:txBody>
      </p:sp>
      <p:sp>
        <p:nvSpPr>
          <p:cNvPr id="47" name="Text 44"/>
          <p:cNvSpPr txBox="1"/>
          <p:nvPr/>
        </p:nvSpPr>
        <p:spPr>
          <a:xfrm>
            <a:off x="1432560" y="714590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[NET WEIGHT]</a:t>
            </a:r>
            <a:endParaRPr lang="en-US" sz="504" dirty="0"/>
          </a:p>
        </p:txBody>
      </p:sp>
      <p:sp>
        <p:nvSpPr>
          <p:cNvPr id="48" name="Text 45"/>
          <p:cNvSpPr txBox="1"/>
          <p:nvPr/>
        </p:nvSpPr>
        <p:spPr>
          <a:xfrm>
            <a:off x="518160" y="734707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per carton</a:t>
            </a:r>
            <a:endParaRPr lang="en-US" sz="504" dirty="0"/>
          </a:p>
        </p:txBody>
      </p:sp>
      <p:sp>
        <p:nvSpPr>
          <p:cNvPr id="49" name="Text 46"/>
          <p:cNvSpPr txBox="1"/>
          <p:nvPr/>
        </p:nvSpPr>
        <p:spPr>
          <a:xfrm>
            <a:off x="1432560" y="734707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[UNITS]</a:t>
            </a:r>
            <a:endParaRPr lang="en-US" sz="504" dirty="0"/>
          </a:p>
        </p:txBody>
      </p:sp>
      <p:sp>
        <p:nvSpPr>
          <p:cNvPr id="50" name="Text 47"/>
          <p:cNvSpPr txBox="1"/>
          <p:nvPr/>
        </p:nvSpPr>
        <p:spPr>
          <a:xfrm>
            <a:off x="518160" y="754823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size</a:t>
            </a:r>
            <a:endParaRPr lang="en-US" sz="504" dirty="0"/>
          </a:p>
        </p:txBody>
      </p:sp>
      <p:sp>
        <p:nvSpPr>
          <p:cNvPr id="51" name="Text 48"/>
          <p:cNvSpPr txBox="1"/>
          <p:nvPr/>
        </p:nvSpPr>
        <p:spPr>
          <a:xfrm>
            <a:off x="1432560" y="754823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</a:t>
            </a:r>
            <a:endParaRPr lang="en-US" sz="504" dirty="0"/>
          </a:p>
        </p:txBody>
      </p:sp>
      <p:sp>
        <p:nvSpPr>
          <p:cNvPr id="52" name="Text 49"/>
          <p:cNvSpPr txBox="1"/>
          <p:nvPr/>
        </p:nvSpPr>
        <p:spPr>
          <a:xfrm>
            <a:off x="2757424" y="663636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Private label</a:t>
            </a:r>
            <a:endParaRPr lang="en-US" sz="912" dirty="0"/>
          </a:p>
        </p:txBody>
      </p:sp>
      <p:sp>
        <p:nvSpPr>
          <p:cNvPr id="53" name="Text 50"/>
          <p:cNvSpPr txBox="1"/>
          <p:nvPr/>
        </p:nvSpPr>
        <p:spPr>
          <a:xfrm>
            <a:off x="2757424" y="6834683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brand, our pack house.</a:t>
            </a:r>
            <a:endParaRPr lang="en-US" sz="576" dirty="0"/>
          </a:p>
        </p:txBody>
      </p:sp>
      <p:sp>
        <p:nvSpPr>
          <p:cNvPr id="54" name="Text 51"/>
          <p:cNvSpPr txBox="1"/>
          <p:nvPr/>
        </p:nvSpPr>
        <p:spPr>
          <a:xfrm>
            <a:off x="2757424" y="71459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run</a:t>
            </a:r>
            <a:endParaRPr lang="en-US" sz="504" dirty="0"/>
          </a:p>
        </p:txBody>
      </p:sp>
      <p:sp>
        <p:nvSpPr>
          <p:cNvPr id="55" name="Text 52"/>
          <p:cNvSpPr txBox="1"/>
          <p:nvPr/>
        </p:nvSpPr>
        <p:spPr>
          <a:xfrm>
            <a:off x="3671824" y="714590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[MINIMUM RUN]</a:t>
            </a:r>
            <a:endParaRPr lang="en-US" sz="504" dirty="0"/>
          </a:p>
        </p:txBody>
      </p:sp>
      <p:sp>
        <p:nvSpPr>
          <p:cNvPr id="56" name="Text 53"/>
          <p:cNvSpPr txBox="1"/>
          <p:nvPr/>
        </p:nvSpPr>
        <p:spPr>
          <a:xfrm>
            <a:off x="2757424" y="734707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artwork</a:t>
            </a:r>
            <a:endParaRPr lang="en-US" sz="504" dirty="0"/>
          </a:p>
        </p:txBody>
      </p:sp>
      <p:sp>
        <p:nvSpPr>
          <p:cNvPr id="57" name="Text 54"/>
          <p:cNvSpPr txBox="1"/>
          <p:nvPr/>
        </p:nvSpPr>
        <p:spPr>
          <a:xfrm>
            <a:off x="3671824" y="734707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[BUYER ARTWORK]</a:t>
            </a:r>
            <a:endParaRPr lang="en-US" sz="504" dirty="0"/>
          </a:p>
        </p:txBody>
      </p:sp>
      <p:sp>
        <p:nvSpPr>
          <p:cNvPr id="58" name="Text 55"/>
          <p:cNvSpPr txBox="1"/>
          <p:nvPr/>
        </p:nvSpPr>
        <p:spPr>
          <a:xfrm>
            <a:off x="2757424" y="754823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time</a:t>
            </a:r>
            <a:endParaRPr lang="en-US" sz="504" dirty="0"/>
          </a:p>
        </p:txBody>
      </p:sp>
      <p:sp>
        <p:nvSpPr>
          <p:cNvPr id="59" name="Text 56"/>
          <p:cNvSpPr txBox="1"/>
          <p:nvPr/>
        </p:nvSpPr>
        <p:spPr>
          <a:xfrm>
            <a:off x="3671824" y="754823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[LEAD TIME]</a:t>
            </a:r>
            <a:endParaRPr lang="en-US" sz="504" dirty="0"/>
          </a:p>
        </p:txBody>
      </p:sp>
      <p:sp>
        <p:nvSpPr>
          <p:cNvPr id="60" name="Text 57"/>
          <p:cNvSpPr txBox="1"/>
          <p:nvPr/>
        </p:nvSpPr>
        <p:spPr>
          <a:xfrm>
            <a:off x="4996688" y="6636362"/>
            <a:ext cx="36576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Pallet &amp; container</a:t>
            </a:r>
            <a:endParaRPr lang="en-US" sz="912" dirty="0"/>
          </a:p>
        </p:txBody>
      </p:sp>
      <p:sp>
        <p:nvSpPr>
          <p:cNvPr id="61" name="Text 58"/>
          <p:cNvSpPr txBox="1"/>
          <p:nvPr/>
        </p:nvSpPr>
        <p:spPr>
          <a:xfrm>
            <a:off x="4996688" y="6834683"/>
            <a:ext cx="18288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shipment is built.</a:t>
            </a:r>
            <a:endParaRPr lang="en-US" sz="576" dirty="0"/>
          </a:p>
        </p:txBody>
      </p:sp>
      <p:sp>
        <p:nvSpPr>
          <p:cNvPr id="62" name="Text 59"/>
          <p:cNvSpPr txBox="1"/>
          <p:nvPr/>
        </p:nvSpPr>
        <p:spPr>
          <a:xfrm>
            <a:off x="4996688" y="71459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Pallet size</a:t>
            </a:r>
            <a:endParaRPr lang="en-US" sz="504" dirty="0"/>
          </a:p>
        </p:txBody>
      </p:sp>
      <p:sp>
        <p:nvSpPr>
          <p:cNvPr id="63" name="Text 60"/>
          <p:cNvSpPr txBox="1"/>
          <p:nvPr/>
        </p:nvSpPr>
        <p:spPr>
          <a:xfrm>
            <a:off x="5911088" y="7145903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[PALLET SIZE]</a:t>
            </a:r>
            <a:endParaRPr lang="en-US" sz="504" dirty="0"/>
          </a:p>
        </p:txBody>
      </p:sp>
      <p:sp>
        <p:nvSpPr>
          <p:cNvPr id="64" name="Text 61"/>
          <p:cNvSpPr txBox="1"/>
          <p:nvPr/>
        </p:nvSpPr>
        <p:spPr>
          <a:xfrm>
            <a:off x="4996688" y="734707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</a:t>
            </a:r>
            <a:endParaRPr lang="en-US" sz="504" dirty="0"/>
          </a:p>
        </p:txBody>
      </p:sp>
      <p:sp>
        <p:nvSpPr>
          <p:cNvPr id="65" name="Text 62"/>
          <p:cNvSpPr txBox="1"/>
          <p:nvPr/>
        </p:nvSpPr>
        <p:spPr>
          <a:xfrm>
            <a:off x="5911088" y="734707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[20FT / 40FT / 40HC]</a:t>
            </a:r>
            <a:endParaRPr lang="en-US" sz="504" dirty="0"/>
          </a:p>
        </p:txBody>
      </p:sp>
      <p:sp>
        <p:nvSpPr>
          <p:cNvPr id="66" name="Text 63"/>
          <p:cNvSpPr txBox="1"/>
          <p:nvPr/>
        </p:nvSpPr>
        <p:spPr>
          <a:xfrm>
            <a:off x="4996688" y="754823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plan</a:t>
            </a:r>
            <a:endParaRPr lang="en-US" sz="504" dirty="0"/>
          </a:p>
        </p:txBody>
      </p:sp>
      <p:sp>
        <p:nvSpPr>
          <p:cNvPr id="67" name="Text 64"/>
          <p:cNvSpPr txBox="1"/>
          <p:nvPr/>
        </p:nvSpPr>
        <p:spPr>
          <a:xfrm>
            <a:off x="5911088" y="754823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[LOAD PLAN]</a:t>
            </a:r>
            <a:endParaRPr lang="en-US" sz="504" dirty="0"/>
          </a:p>
        </p:txBody>
      </p:sp>
      <p:sp>
        <p:nvSpPr>
          <p:cNvPr id="68" name="Text 65"/>
          <p:cNvSpPr txBox="1"/>
          <p:nvPr/>
        </p:nvSpPr>
        <p:spPr>
          <a:xfrm>
            <a:off x="518160" y="79949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AND PALLET DATA</a:t>
            </a:r>
            <a:endParaRPr lang="en-US" sz="480" dirty="0"/>
          </a:p>
        </p:txBody>
      </p:sp>
      <p:sp>
        <p:nvSpPr>
          <p:cNvPr id="69" name="Text 66"/>
          <p:cNvSpPr txBox="1"/>
          <p:nvPr/>
        </p:nvSpPr>
        <p:spPr>
          <a:xfrm>
            <a:off x="518160" y="8178241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export carton</a:t>
            </a:r>
            <a:endParaRPr lang="en-US" sz="576" dirty="0"/>
          </a:p>
        </p:txBody>
      </p:sp>
      <p:sp>
        <p:nvSpPr>
          <p:cNvPr id="70" name="Text 67"/>
          <p:cNvSpPr txBox="1"/>
          <p:nvPr/>
        </p:nvSpPr>
        <p:spPr>
          <a:xfrm>
            <a:off x="2996184" y="8178241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 · [NET WEIGHT] · [UNITS PER CARTON]</a:t>
            </a:r>
            <a:endParaRPr lang="en-US" sz="576" dirty="0"/>
          </a:p>
        </p:txBody>
      </p:sp>
      <p:sp>
        <p:nvSpPr>
          <p:cNvPr id="71" name="Text 68"/>
          <p:cNvSpPr txBox="1"/>
          <p:nvPr/>
        </p:nvSpPr>
        <p:spPr>
          <a:xfrm>
            <a:off x="6126480" y="8177860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72" name="Shape 69"/>
          <p:cNvSpPr/>
          <p:nvPr/>
        </p:nvSpPr>
        <p:spPr>
          <a:xfrm>
            <a:off x="518160" y="836980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518160" y="8458657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carton</a:t>
            </a:r>
            <a:endParaRPr lang="en-US" sz="576" dirty="0"/>
          </a:p>
        </p:txBody>
      </p:sp>
      <p:sp>
        <p:nvSpPr>
          <p:cNvPr id="74" name="Text 71"/>
          <p:cNvSpPr txBox="1"/>
          <p:nvPr/>
        </p:nvSpPr>
        <p:spPr>
          <a:xfrm>
            <a:off x="2996184" y="8458657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 × W × H] · [UNITS PER CARTON]</a:t>
            </a:r>
            <a:endParaRPr lang="en-US" sz="576" dirty="0"/>
          </a:p>
        </p:txBody>
      </p:sp>
      <p:sp>
        <p:nvSpPr>
          <p:cNvPr id="75" name="Text 72"/>
          <p:cNvSpPr txBox="1"/>
          <p:nvPr/>
        </p:nvSpPr>
        <p:spPr>
          <a:xfrm>
            <a:off x="6126480" y="8458276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76" name="Shape 73"/>
          <p:cNvSpPr/>
          <p:nvPr/>
        </p:nvSpPr>
        <p:spPr>
          <a:xfrm>
            <a:off x="518160" y="865022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18160" y="873907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Pallet</a:t>
            </a:r>
            <a:endParaRPr lang="en-US" sz="576" dirty="0"/>
          </a:p>
        </p:txBody>
      </p:sp>
      <p:sp>
        <p:nvSpPr>
          <p:cNvPr id="78" name="Text 75"/>
          <p:cNvSpPr txBox="1"/>
          <p:nvPr/>
        </p:nvSpPr>
        <p:spPr>
          <a:xfrm>
            <a:off x="2996184" y="8739073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[PALLET DIMENSIONS] · [CARTONS PER PALLET]</a:t>
            </a:r>
            <a:endParaRPr lang="en-US" sz="576" dirty="0"/>
          </a:p>
        </p:txBody>
      </p:sp>
      <p:sp>
        <p:nvSpPr>
          <p:cNvPr id="79" name="Text 76"/>
          <p:cNvSpPr txBox="1"/>
          <p:nvPr/>
        </p:nvSpPr>
        <p:spPr>
          <a:xfrm>
            <a:off x="6126480" y="8738692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80" name="Shape 77"/>
          <p:cNvSpPr/>
          <p:nvPr/>
        </p:nvSpPr>
        <p:spPr>
          <a:xfrm>
            <a:off x="518160" y="8930640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518160" y="901948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load</a:t>
            </a:r>
            <a:endParaRPr lang="en-US" sz="576" dirty="0"/>
          </a:p>
        </p:txBody>
      </p:sp>
      <p:sp>
        <p:nvSpPr>
          <p:cNvPr id="82" name="Text 79"/>
          <p:cNvSpPr txBox="1"/>
          <p:nvPr/>
        </p:nvSpPr>
        <p:spPr>
          <a:xfrm>
            <a:off x="2996184" y="9019489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[20FT / 40FT / 40HC] · [PALLETS PER CONTAINER]</a:t>
            </a:r>
            <a:endParaRPr lang="en-US" sz="576" dirty="0"/>
          </a:p>
        </p:txBody>
      </p:sp>
      <p:sp>
        <p:nvSpPr>
          <p:cNvPr id="83" name="Text 80"/>
          <p:cNvSpPr txBox="1"/>
          <p:nvPr/>
        </p:nvSpPr>
        <p:spPr>
          <a:xfrm>
            <a:off x="6126480" y="9019108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84" name="Shape 81"/>
          <p:cNvSpPr/>
          <p:nvPr/>
        </p:nvSpPr>
        <p:spPr>
          <a:xfrm>
            <a:off x="518160" y="9211056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518160" y="929990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marks &amp; labels</a:t>
            </a:r>
            <a:endParaRPr lang="en-US" sz="576" dirty="0"/>
          </a:p>
        </p:txBody>
      </p:sp>
      <p:sp>
        <p:nvSpPr>
          <p:cNvPr id="86" name="Text 83"/>
          <p:cNvSpPr txBox="1"/>
          <p:nvPr/>
        </p:nvSpPr>
        <p:spPr>
          <a:xfrm>
            <a:off x="2996184" y="9299905"/>
            <a:ext cx="3130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[SHIPPING MARK FORMAT] · [LABEL LANGUAGE]</a:t>
            </a:r>
            <a:endParaRPr lang="en-US" sz="576" dirty="0"/>
          </a:p>
        </p:txBody>
      </p:sp>
      <p:sp>
        <p:nvSpPr>
          <p:cNvPr id="87" name="Text 84"/>
          <p:cNvSpPr txBox="1"/>
          <p:nvPr/>
        </p:nvSpPr>
        <p:spPr>
          <a:xfrm>
            <a:off x="6126480" y="9299524"/>
            <a:ext cx="85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480" dirty="0"/>
          </a:p>
        </p:txBody>
      </p:sp>
      <p:sp>
        <p:nvSpPr>
          <p:cNvPr id="88" name="Shape 85"/>
          <p:cNvSpPr/>
          <p:nvPr/>
        </p:nvSpPr>
        <p:spPr>
          <a:xfrm>
            <a:off x="518160" y="9174480"/>
            <a:ext cx="6522720" cy="76200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89" name="Shape 86"/>
          <p:cNvSpPr/>
          <p:nvPr/>
        </p:nvSpPr>
        <p:spPr>
          <a:xfrm>
            <a:off x="518160" y="917448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701040" y="93056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PRIVATE LABEL RUN WORKS</a:t>
            </a:r>
            <a:endParaRPr lang="en-US" sz="480" dirty="0"/>
          </a:p>
        </p:txBody>
      </p:sp>
      <p:sp>
        <p:nvSpPr>
          <p:cNvPr id="91" name="Text 88"/>
          <p:cNvSpPr txBox="1"/>
          <p:nvPr/>
        </p:nvSpPr>
        <p:spPr>
          <a:xfrm>
            <a:off x="701040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48" dirty="0"/>
          </a:p>
        </p:txBody>
      </p:sp>
      <p:sp>
        <p:nvSpPr>
          <p:cNvPr id="92" name="Text 89"/>
          <p:cNvSpPr txBox="1"/>
          <p:nvPr/>
        </p:nvSpPr>
        <p:spPr>
          <a:xfrm>
            <a:off x="871728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artwork</a:t>
            </a:r>
            <a:endParaRPr lang="en-US" sz="648" dirty="0"/>
          </a:p>
        </p:txBody>
      </p:sp>
      <p:sp>
        <p:nvSpPr>
          <p:cNvPr id="93" name="Text 90"/>
          <p:cNvSpPr txBox="1"/>
          <p:nvPr/>
        </p:nvSpPr>
        <p:spPr>
          <a:xfrm>
            <a:off x="701040" y="961478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Print-ready label files, or we propose a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you can adapt.</a:t>
            </a:r>
            <a:endParaRPr lang="en-US" sz="504" dirty="0"/>
          </a:p>
        </p:txBody>
      </p:sp>
      <p:sp>
        <p:nvSpPr>
          <p:cNvPr id="94" name="Text 91"/>
          <p:cNvSpPr txBox="1"/>
          <p:nvPr/>
        </p:nvSpPr>
        <p:spPr>
          <a:xfrm>
            <a:off x="2316480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648" dirty="0"/>
          </a:p>
        </p:txBody>
      </p:sp>
      <p:sp>
        <p:nvSpPr>
          <p:cNvPr id="95" name="Text 92"/>
          <p:cNvSpPr txBox="1"/>
          <p:nvPr/>
        </p:nvSpPr>
        <p:spPr>
          <a:xfrm>
            <a:off x="2487168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the proof</a:t>
            </a:r>
            <a:endParaRPr lang="en-US" sz="648" dirty="0"/>
          </a:p>
        </p:txBody>
      </p:sp>
      <p:sp>
        <p:nvSpPr>
          <p:cNvPr id="96" name="Text 93"/>
          <p:cNvSpPr txBox="1"/>
          <p:nvPr/>
        </p:nvSpPr>
        <p:spPr>
          <a:xfrm>
            <a:off x="2316480" y="961478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print a physical proof for your sign-off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production.</a:t>
            </a:r>
            <a:endParaRPr lang="en-US" sz="504" dirty="0"/>
          </a:p>
        </p:txBody>
      </p:sp>
      <p:sp>
        <p:nvSpPr>
          <p:cNvPr id="97" name="Text 94"/>
          <p:cNvSpPr txBox="1"/>
          <p:nvPr/>
        </p:nvSpPr>
        <p:spPr>
          <a:xfrm>
            <a:off x="3931920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648" dirty="0"/>
          </a:p>
        </p:txBody>
      </p:sp>
      <p:sp>
        <p:nvSpPr>
          <p:cNvPr id="98" name="Text 95"/>
          <p:cNvSpPr txBox="1"/>
          <p:nvPr/>
        </p:nvSpPr>
        <p:spPr>
          <a:xfrm>
            <a:off x="4102608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</a:t>
            </a:r>
            <a:endParaRPr lang="en-US" sz="648" dirty="0"/>
          </a:p>
        </p:txBody>
      </p:sp>
      <p:sp>
        <p:nvSpPr>
          <p:cNvPr id="99" name="Text 96"/>
          <p:cNvSpPr txBox="1"/>
          <p:nvPr/>
        </p:nvSpPr>
        <p:spPr>
          <a:xfrm>
            <a:off x="3931920" y="961478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Packing to your artwork, with the agreed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weight and count.</a:t>
            </a:r>
            <a:endParaRPr lang="en-US" sz="504" dirty="0"/>
          </a:p>
        </p:txBody>
      </p:sp>
      <p:sp>
        <p:nvSpPr>
          <p:cNvPr id="100" name="Text 97"/>
          <p:cNvSpPr txBox="1"/>
          <p:nvPr/>
        </p:nvSpPr>
        <p:spPr>
          <a:xfrm>
            <a:off x="5547360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648" dirty="0"/>
          </a:p>
        </p:txBody>
      </p:sp>
      <p:sp>
        <p:nvSpPr>
          <p:cNvPr id="101" name="Text 98"/>
          <p:cNvSpPr txBox="1"/>
          <p:nvPr/>
        </p:nvSpPr>
        <p:spPr>
          <a:xfrm>
            <a:off x="5718048" y="945685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</a:t>
            </a:r>
            <a:endParaRPr lang="en-US" sz="648" dirty="0"/>
          </a:p>
        </p:txBody>
      </p:sp>
      <p:sp>
        <p:nvSpPr>
          <p:cNvPr id="102" name="Text 99"/>
          <p:cNvSpPr txBox="1"/>
          <p:nvPr/>
        </p:nvSpPr>
        <p:spPr>
          <a:xfrm>
            <a:off x="5547360" y="9614783"/>
            <a:ext cx="1341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Carton marks, labels and paperwork issued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the shipment.</a:t>
            </a:r>
            <a:endParaRPr lang="en-US" sz="50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7F3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4572000"/>
            <a:ext cx="6522720" cy="1889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8160" y="34850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68" kern="0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720" dirty="0"/>
          </a:p>
        </p:txBody>
      </p:sp>
      <p:sp>
        <p:nvSpPr>
          <p:cNvPr id="5" name="Text 2"/>
          <p:cNvSpPr txBox="1"/>
          <p:nvPr/>
        </p:nvSpPr>
        <p:spPr>
          <a:xfrm>
            <a:off x="3200400" y="36696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 &amp; LOGISTICS</a:t>
            </a:r>
            <a:endParaRPr lang="en-US" sz="456" dirty="0"/>
          </a:p>
        </p:txBody>
      </p:sp>
      <p:sp>
        <p:nvSpPr>
          <p:cNvPr id="6" name="Text 3"/>
          <p:cNvSpPr txBox="1"/>
          <p:nvPr/>
        </p:nvSpPr>
        <p:spPr>
          <a:xfrm>
            <a:off x="6370320" y="366960"/>
            <a:ext cx="67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456" dirty="0"/>
          </a:p>
        </p:txBody>
      </p:sp>
      <p:sp>
        <p:nvSpPr>
          <p:cNvPr id="7" name="Shape 4"/>
          <p:cNvSpPr/>
          <p:nvPr/>
        </p:nvSpPr>
        <p:spPr>
          <a:xfrm>
            <a:off x="518160" y="512064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8" name="Shape 5"/>
          <p:cNvSpPr/>
          <p:nvPr/>
        </p:nvSpPr>
        <p:spPr>
          <a:xfrm>
            <a:off x="518160" y="10168128"/>
            <a:ext cx="652272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102790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</a:t>
            </a:r>
            <a:endParaRPr lang="en-US" sz="456" dirty="0"/>
          </a:p>
        </p:txBody>
      </p:sp>
      <p:sp>
        <p:nvSpPr>
          <p:cNvPr id="10" name="Text 7"/>
          <p:cNvSpPr txBox="1"/>
          <p:nvPr/>
        </p:nvSpPr>
        <p:spPr>
          <a:xfrm>
            <a:off x="518160" y="10279056"/>
            <a:ext cx="652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EXPORT CATALOG · [YEAR]</a:t>
            </a:r>
            <a:endParaRPr lang="en-US" sz="456" dirty="0"/>
          </a:p>
        </p:txBody>
      </p:sp>
      <p:sp>
        <p:nvSpPr>
          <p:cNvPr id="11" name="Text 8"/>
          <p:cNvSpPr txBox="1"/>
          <p:nvPr/>
        </p:nvSpPr>
        <p:spPr>
          <a:xfrm>
            <a:off x="6431280" y="1027905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456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101107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— COMMERCIAL TERMS</a:t>
            </a:r>
            <a:endParaRPr lang="en-US" sz="552" dirty="0"/>
          </a:p>
        </p:txBody>
      </p:sp>
      <p:sp>
        <p:nvSpPr>
          <p:cNvPr id="13" name="Text 10"/>
          <p:cNvSpPr txBox="1"/>
          <p:nvPr/>
        </p:nvSpPr>
        <p:spPr>
          <a:xfrm>
            <a:off x="518160" y="1165506"/>
            <a:ext cx="3657600" cy="38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8"/>
              </a:lnSpc>
              <a:buNone/>
            </a:pPr>
            <a:r>
              <a:rPr lang="en-US" sz="21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Export &amp; Logistics</a:t>
            </a:r>
            <a:endParaRPr lang="en-US" sz="2112" dirty="0"/>
          </a:p>
        </p:txBody>
      </p:sp>
      <p:sp>
        <p:nvSpPr>
          <p:cNvPr id="14" name="Shape 11"/>
          <p:cNvSpPr/>
          <p:nvPr/>
        </p:nvSpPr>
        <p:spPr>
          <a:xfrm>
            <a:off x="518160" y="1609344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8160" y="1827105"/>
            <a:ext cx="45720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commercial terms are the part of a date business that decides whether an order works. Everything below is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agreed in writing before production.</a:t>
            </a:r>
            <a:endParaRPr lang="en-US" sz="648" dirty="0"/>
          </a:p>
        </p:txBody>
      </p:sp>
      <p:sp>
        <p:nvSpPr>
          <p:cNvPr id="16" name="Shape 13"/>
          <p:cNvSpPr/>
          <p:nvPr/>
        </p:nvSpPr>
        <p:spPr>
          <a:xfrm>
            <a:off x="518160" y="24384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18160" y="253906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ORDER QUANTITY</a:t>
            </a:r>
            <a:endParaRPr lang="en-US" sz="480" dirty="0"/>
          </a:p>
        </p:txBody>
      </p:sp>
      <p:sp>
        <p:nvSpPr>
          <p:cNvPr id="18" name="Text 15"/>
          <p:cNvSpPr txBox="1"/>
          <p:nvPr/>
        </p:nvSpPr>
        <p:spPr>
          <a:xfrm>
            <a:off x="518160" y="267396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[MOQ]</a:t>
            </a:r>
            <a:endParaRPr lang="en-US" sz="912" dirty="0"/>
          </a:p>
        </p:txBody>
      </p:sp>
      <p:sp>
        <p:nvSpPr>
          <p:cNvPr id="19" name="Text 16"/>
          <p:cNvSpPr txBox="1"/>
          <p:nvPr/>
        </p:nvSpPr>
        <p:spPr>
          <a:xfrm>
            <a:off x="518160" y="28787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20" name="Shape 17"/>
          <p:cNvSpPr/>
          <p:nvPr/>
        </p:nvSpPr>
        <p:spPr>
          <a:xfrm>
            <a:off x="2191512" y="24384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191512" y="253906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SUPPLY CAPACITY</a:t>
            </a:r>
            <a:endParaRPr lang="en-US" sz="480" dirty="0"/>
          </a:p>
        </p:txBody>
      </p:sp>
      <p:sp>
        <p:nvSpPr>
          <p:cNvPr id="22" name="Text 19"/>
          <p:cNvSpPr txBox="1"/>
          <p:nvPr/>
        </p:nvSpPr>
        <p:spPr>
          <a:xfrm>
            <a:off x="2191512" y="267396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[CAPACITY] MT</a:t>
            </a:r>
            <a:endParaRPr lang="en-US" sz="912" dirty="0"/>
          </a:p>
        </p:txBody>
      </p:sp>
      <p:sp>
        <p:nvSpPr>
          <p:cNvPr id="23" name="Text 20"/>
          <p:cNvSpPr txBox="1"/>
          <p:nvPr/>
        </p:nvSpPr>
        <p:spPr>
          <a:xfrm>
            <a:off x="2191512" y="28787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24" name="Shape 21"/>
          <p:cNvSpPr/>
          <p:nvPr/>
        </p:nvSpPr>
        <p:spPr>
          <a:xfrm>
            <a:off x="3864864" y="24384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4864" y="253906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TIME</a:t>
            </a:r>
            <a:endParaRPr lang="en-US" sz="480" dirty="0"/>
          </a:p>
        </p:txBody>
      </p:sp>
      <p:sp>
        <p:nvSpPr>
          <p:cNvPr id="26" name="Text 23"/>
          <p:cNvSpPr txBox="1"/>
          <p:nvPr/>
        </p:nvSpPr>
        <p:spPr>
          <a:xfrm>
            <a:off x="3864864" y="267396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[LEAD TIME]</a:t>
            </a:r>
            <a:endParaRPr lang="en-US" sz="912" dirty="0"/>
          </a:p>
        </p:txBody>
      </p:sp>
      <p:sp>
        <p:nvSpPr>
          <p:cNvPr id="27" name="Text 24"/>
          <p:cNvSpPr txBox="1"/>
          <p:nvPr/>
        </p:nvSpPr>
        <p:spPr>
          <a:xfrm>
            <a:off x="3864864" y="28787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28" name="Shape 25"/>
          <p:cNvSpPr/>
          <p:nvPr/>
        </p:nvSpPr>
        <p:spPr>
          <a:xfrm>
            <a:off x="5538216" y="243840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38216" y="253906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INCOTERMS</a:t>
            </a:r>
            <a:endParaRPr lang="en-US" sz="480" dirty="0"/>
          </a:p>
        </p:txBody>
      </p:sp>
      <p:sp>
        <p:nvSpPr>
          <p:cNvPr id="30" name="Text 27"/>
          <p:cNvSpPr txBox="1"/>
          <p:nvPr/>
        </p:nvSpPr>
        <p:spPr>
          <a:xfrm>
            <a:off x="5538216" y="267396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[EXW / FOB / CIF]</a:t>
            </a:r>
            <a:endParaRPr lang="en-US" sz="912" dirty="0"/>
          </a:p>
        </p:txBody>
      </p:sp>
      <p:sp>
        <p:nvSpPr>
          <p:cNvPr id="31" name="Text 28"/>
          <p:cNvSpPr txBox="1"/>
          <p:nvPr/>
        </p:nvSpPr>
        <p:spPr>
          <a:xfrm>
            <a:off x="5538216" y="287870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32" name="Shape 29"/>
          <p:cNvSpPr/>
          <p:nvPr/>
        </p:nvSpPr>
        <p:spPr>
          <a:xfrm>
            <a:off x="518160" y="341376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18160" y="351442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 OF LOADING</a:t>
            </a:r>
            <a:endParaRPr lang="en-US" sz="480" dirty="0"/>
          </a:p>
        </p:txBody>
      </p:sp>
      <p:sp>
        <p:nvSpPr>
          <p:cNvPr id="34" name="Text 31"/>
          <p:cNvSpPr txBox="1"/>
          <p:nvPr/>
        </p:nvSpPr>
        <p:spPr>
          <a:xfrm>
            <a:off x="518160" y="364932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[PORT OF LOADING]</a:t>
            </a:r>
            <a:endParaRPr lang="en-US" sz="912" dirty="0"/>
          </a:p>
        </p:txBody>
      </p:sp>
      <p:sp>
        <p:nvSpPr>
          <p:cNvPr id="35" name="Text 32"/>
          <p:cNvSpPr txBox="1"/>
          <p:nvPr/>
        </p:nvSpPr>
        <p:spPr>
          <a:xfrm>
            <a:off x="518160" y="38540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36" name="Shape 33"/>
          <p:cNvSpPr/>
          <p:nvPr/>
        </p:nvSpPr>
        <p:spPr>
          <a:xfrm>
            <a:off x="2191512" y="341376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91512" y="351442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TERMS</a:t>
            </a:r>
            <a:endParaRPr lang="en-US" sz="480" dirty="0"/>
          </a:p>
        </p:txBody>
      </p:sp>
      <p:sp>
        <p:nvSpPr>
          <p:cNvPr id="38" name="Text 35"/>
          <p:cNvSpPr txBox="1"/>
          <p:nvPr/>
        </p:nvSpPr>
        <p:spPr>
          <a:xfrm>
            <a:off x="2191512" y="364932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[PAYMENT TERMS]</a:t>
            </a:r>
            <a:endParaRPr lang="en-US" sz="912" dirty="0"/>
          </a:p>
        </p:txBody>
      </p:sp>
      <p:sp>
        <p:nvSpPr>
          <p:cNvPr id="39" name="Text 36"/>
          <p:cNvSpPr txBox="1"/>
          <p:nvPr/>
        </p:nvSpPr>
        <p:spPr>
          <a:xfrm>
            <a:off x="2191512" y="38540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40" name="Shape 37"/>
          <p:cNvSpPr/>
          <p:nvPr/>
        </p:nvSpPr>
        <p:spPr>
          <a:xfrm>
            <a:off x="3864864" y="341376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64864" y="351442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LOADING</a:t>
            </a:r>
            <a:endParaRPr lang="en-US" sz="480" dirty="0"/>
          </a:p>
        </p:txBody>
      </p:sp>
      <p:sp>
        <p:nvSpPr>
          <p:cNvPr id="42" name="Text 39"/>
          <p:cNvSpPr txBox="1"/>
          <p:nvPr/>
        </p:nvSpPr>
        <p:spPr>
          <a:xfrm>
            <a:off x="3864864" y="364932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[20FT / 40FT / 40HC]</a:t>
            </a:r>
            <a:endParaRPr lang="en-US" sz="912" dirty="0"/>
          </a:p>
        </p:txBody>
      </p:sp>
      <p:sp>
        <p:nvSpPr>
          <p:cNvPr id="43" name="Text 40"/>
          <p:cNvSpPr txBox="1"/>
          <p:nvPr/>
        </p:nvSpPr>
        <p:spPr>
          <a:xfrm>
            <a:off x="3864864" y="38540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44" name="Shape 41"/>
          <p:cNvSpPr/>
          <p:nvPr/>
        </p:nvSpPr>
        <p:spPr>
          <a:xfrm>
            <a:off x="5538216" y="3413760"/>
            <a:ext cx="1310640" cy="9144"/>
          </a:xfrm>
          <a:prstGeom prst="rect">
            <a:avLst/>
          </a:prstGeom>
          <a:solidFill>
            <a:srgbClr val="E1D9CD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5538216" y="3514420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POLICY</a:t>
            </a:r>
            <a:endParaRPr lang="en-US" sz="480" dirty="0"/>
          </a:p>
        </p:txBody>
      </p:sp>
      <p:sp>
        <p:nvSpPr>
          <p:cNvPr id="46" name="Text 43"/>
          <p:cNvSpPr txBox="1"/>
          <p:nvPr/>
        </p:nvSpPr>
        <p:spPr>
          <a:xfrm>
            <a:off x="5538216" y="3649322"/>
            <a:ext cx="131064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912" dirty="0">
                <a:solidFill>
                  <a:srgbClr val="0F3B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[SAMPLE POLICY]</a:t>
            </a:r>
            <a:endParaRPr lang="en-US" sz="912" dirty="0"/>
          </a:p>
        </p:txBody>
      </p:sp>
      <p:sp>
        <p:nvSpPr>
          <p:cNvPr id="47" name="Text 44"/>
          <p:cNvSpPr txBox="1"/>
          <p:nvPr/>
        </p:nvSpPr>
        <p:spPr>
          <a:xfrm>
            <a:off x="5538216" y="385406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supplied</a:t>
            </a:r>
            <a:endParaRPr lang="en-US" sz="504" dirty="0"/>
          </a:p>
        </p:txBody>
      </p:sp>
      <p:sp>
        <p:nvSpPr>
          <p:cNvPr id="48" name="Text 45"/>
          <p:cNvSpPr txBox="1"/>
          <p:nvPr/>
        </p:nvSpPr>
        <p:spPr>
          <a:xfrm>
            <a:off x="518160" y="68367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MARKETS</a:t>
            </a:r>
            <a:endParaRPr lang="en-US" sz="480" dirty="0"/>
          </a:p>
        </p:txBody>
      </p:sp>
      <p:sp>
        <p:nvSpPr>
          <p:cNvPr id="49" name="Shape 46"/>
          <p:cNvSpPr/>
          <p:nvPr/>
        </p:nvSpPr>
        <p:spPr>
          <a:xfrm>
            <a:off x="518160" y="6973824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50" name="Shape 47"/>
          <p:cNvSpPr/>
          <p:nvPr/>
        </p:nvSpPr>
        <p:spPr>
          <a:xfrm>
            <a:off x="518160" y="7132320"/>
            <a:ext cx="792480" cy="182880"/>
          </a:xfrm>
          <a:prstGeom prst="rect">
            <a:avLst/>
          </a:prstGeom>
          <a:solidFill>
            <a:srgbClr val="0F3B2E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518160" y="7194480"/>
            <a:ext cx="79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</a:t>
            </a:r>
            <a:endParaRPr lang="en-US" sz="456" dirty="0"/>
          </a:p>
        </p:txBody>
      </p:sp>
      <p:sp>
        <p:nvSpPr>
          <p:cNvPr id="52" name="Shape 49"/>
          <p:cNvSpPr/>
          <p:nvPr/>
        </p:nvSpPr>
        <p:spPr>
          <a:xfrm>
            <a:off x="1493520" y="713232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493520" y="719448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2]</a:t>
            </a:r>
            <a:endParaRPr lang="en-US" sz="456" dirty="0"/>
          </a:p>
        </p:txBody>
      </p:sp>
      <p:sp>
        <p:nvSpPr>
          <p:cNvPr id="54" name="Shape 51"/>
          <p:cNvSpPr/>
          <p:nvPr/>
        </p:nvSpPr>
        <p:spPr>
          <a:xfrm>
            <a:off x="2651760" y="713232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651760" y="719448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3]</a:t>
            </a:r>
            <a:endParaRPr lang="en-US" sz="456" dirty="0"/>
          </a:p>
        </p:txBody>
      </p:sp>
      <p:sp>
        <p:nvSpPr>
          <p:cNvPr id="56" name="Shape 53"/>
          <p:cNvSpPr/>
          <p:nvPr/>
        </p:nvSpPr>
        <p:spPr>
          <a:xfrm>
            <a:off x="3810000" y="713232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810000" y="719448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4]</a:t>
            </a:r>
            <a:endParaRPr lang="en-US" sz="456" dirty="0"/>
          </a:p>
        </p:txBody>
      </p:sp>
      <p:sp>
        <p:nvSpPr>
          <p:cNvPr id="58" name="Shape 55"/>
          <p:cNvSpPr/>
          <p:nvPr/>
        </p:nvSpPr>
        <p:spPr>
          <a:xfrm>
            <a:off x="4968240" y="7132320"/>
            <a:ext cx="975360" cy="182880"/>
          </a:xfrm>
          <a:prstGeom prst="rect">
            <a:avLst/>
          </a:prstGeom>
          <a:ln w="42">
            <a:solidFill>
              <a:srgbClr val="C8BCAC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968240" y="719448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"/>
              </a:lnSpc>
              <a:buNone/>
            </a:pPr>
            <a:r>
              <a:rPr lang="en-US" sz="456" spc="86" kern="0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[MARKET 5]</a:t>
            </a:r>
            <a:endParaRPr lang="en-US" sz="456" dirty="0"/>
          </a:p>
        </p:txBody>
      </p:sp>
      <p:sp>
        <p:nvSpPr>
          <p:cNvPr id="60" name="Text 57"/>
          <p:cNvSpPr txBox="1"/>
          <p:nvPr/>
        </p:nvSpPr>
        <p:spPr>
          <a:xfrm>
            <a:off x="518160" y="7581729"/>
            <a:ext cx="33528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 is our priority market. We work with importers, wholesale distributors and retail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chains — and we quote against the specification they already sell, not ours.</a:t>
            </a:r>
            <a:endParaRPr lang="en-US" sz="648" dirty="0"/>
          </a:p>
        </p:txBody>
      </p:sp>
      <p:sp>
        <p:nvSpPr>
          <p:cNvPr id="61" name="Shape 58"/>
          <p:cNvSpPr/>
          <p:nvPr/>
        </p:nvSpPr>
        <p:spPr>
          <a:xfrm>
            <a:off x="4328160" y="7467600"/>
            <a:ext cx="2712720" cy="914400"/>
          </a:xfrm>
          <a:prstGeom prst="rect">
            <a:avLst/>
          </a:prstGeom>
          <a:solidFill>
            <a:srgbClr val="EEECE2"/>
          </a:solidFill>
          <a:ln/>
        </p:spPr>
      </p:sp>
      <p:sp>
        <p:nvSpPr>
          <p:cNvPr id="62" name="Shape 59"/>
          <p:cNvSpPr/>
          <p:nvPr/>
        </p:nvSpPr>
        <p:spPr>
          <a:xfrm>
            <a:off x="4328160" y="7467600"/>
            <a:ext cx="12192" cy="914400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480560" y="76292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977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&amp; DOCUMENTS</a:t>
            </a:r>
            <a:endParaRPr lang="en-US" sz="480" dirty="0"/>
          </a:p>
        </p:txBody>
      </p:sp>
      <p:sp>
        <p:nvSpPr>
          <p:cNvPr id="64" name="Text 61"/>
          <p:cNvSpPr txBox="1"/>
          <p:nvPr/>
        </p:nvSpPr>
        <p:spPr>
          <a:xfrm>
            <a:off x="4480560" y="7791755"/>
            <a:ext cx="2438400" cy="527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shipment is accompanied by the documents your customs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broker asks for, issued before the container is sealed. [ADD: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SHIPPING POLICY, INSURANCE, TEMPERATURE OR CARE</a:t>
            </a:r>
            <a:endParaRPr lang="en-US" sz="576" dirty="0"/>
          </a:p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5B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REQUIREMENTS FOR SOFT DATES.]</a:t>
            </a:r>
            <a:endParaRPr lang="en-US" sz="576" dirty="0"/>
          </a:p>
        </p:txBody>
      </p:sp>
      <p:sp>
        <p:nvSpPr>
          <p:cNvPr id="65" name="Text 62"/>
          <p:cNvSpPr txBox="1"/>
          <p:nvPr/>
        </p:nvSpPr>
        <p:spPr>
          <a:xfrm>
            <a:off x="518160" y="6658223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Port-side logistics and container photographs at [PORT OF LOADING].</a:t>
            </a:r>
            <a:endParaRPr lang="en-US" sz="504" dirty="0"/>
          </a:p>
        </p:txBody>
      </p:sp>
      <p:sp>
        <p:nvSpPr>
          <p:cNvPr id="66" name="Text 63"/>
          <p:cNvSpPr txBox="1"/>
          <p:nvPr/>
        </p:nvSpPr>
        <p:spPr>
          <a:xfrm>
            <a:off x="518160" y="8730863"/>
            <a:ext cx="579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BCAD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shown in brackets are agreed with the buyer before order confirmation. We do not publish figures we cannot honour — the quotation is the commitment, and it is written to be kept.</a:t>
            </a:r>
            <a:endParaRPr lang="en-US" sz="504" dirty="0"/>
          </a:p>
        </p:txBody>
      </p:sp>
      <p:sp>
        <p:nvSpPr>
          <p:cNvPr id="67" name="Text 64"/>
          <p:cNvSpPr txBox="1"/>
          <p:nvPr/>
        </p:nvSpPr>
        <p:spPr>
          <a:xfrm>
            <a:off x="518160" y="90008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AN ORDER RUNS</a:t>
            </a:r>
            <a:endParaRPr lang="en-US" sz="480" dirty="0"/>
          </a:p>
        </p:txBody>
      </p:sp>
      <p:sp>
        <p:nvSpPr>
          <p:cNvPr id="68" name="Shape 65"/>
          <p:cNvSpPr/>
          <p:nvPr/>
        </p:nvSpPr>
        <p:spPr>
          <a:xfrm>
            <a:off x="518160" y="9137904"/>
            <a:ext cx="6522720" cy="9144"/>
          </a:xfrm>
          <a:prstGeom prst="rect">
            <a:avLst/>
          </a:prstGeom>
          <a:solidFill>
            <a:srgbClr val="C8BCAC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18160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48" dirty="0"/>
          </a:p>
        </p:txBody>
      </p:sp>
      <p:sp>
        <p:nvSpPr>
          <p:cNvPr id="70" name="Text 67"/>
          <p:cNvSpPr txBox="1"/>
          <p:nvPr/>
        </p:nvSpPr>
        <p:spPr>
          <a:xfrm>
            <a:off x="688848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Inquiry</a:t>
            </a:r>
            <a:endParaRPr lang="en-US" sz="648" dirty="0"/>
          </a:p>
        </p:txBody>
      </p:sp>
      <p:sp>
        <p:nvSpPr>
          <p:cNvPr id="71" name="Text 68"/>
          <p:cNvSpPr txBox="1"/>
          <p:nvPr/>
        </p:nvSpPr>
        <p:spPr>
          <a:xfrm>
            <a:off x="518160" y="9450191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Variety, pack, quantity and destination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port.</a:t>
            </a:r>
            <a:endParaRPr lang="en-US" sz="504" dirty="0"/>
          </a:p>
        </p:txBody>
      </p:sp>
      <p:sp>
        <p:nvSpPr>
          <p:cNvPr id="72" name="Text 69"/>
          <p:cNvSpPr txBox="1"/>
          <p:nvPr/>
        </p:nvSpPr>
        <p:spPr>
          <a:xfrm>
            <a:off x="2191512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648" dirty="0"/>
          </a:p>
        </p:txBody>
      </p:sp>
      <p:sp>
        <p:nvSpPr>
          <p:cNvPr id="73" name="Text 70"/>
          <p:cNvSpPr txBox="1"/>
          <p:nvPr/>
        </p:nvSpPr>
        <p:spPr>
          <a:xfrm>
            <a:off x="2362200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 &amp; quotation</a:t>
            </a:r>
            <a:endParaRPr lang="en-US" sz="648" dirty="0"/>
          </a:p>
        </p:txBody>
      </p:sp>
      <p:sp>
        <p:nvSpPr>
          <p:cNvPr id="74" name="Text 71"/>
          <p:cNvSpPr txBox="1"/>
          <p:nvPr/>
        </p:nvSpPr>
        <p:spPr>
          <a:xfrm>
            <a:off x="2191512" y="9450191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Grade, count, moisture and price, in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writing.</a:t>
            </a:r>
            <a:endParaRPr lang="en-US" sz="504" dirty="0"/>
          </a:p>
        </p:txBody>
      </p:sp>
      <p:sp>
        <p:nvSpPr>
          <p:cNvPr id="75" name="Text 72"/>
          <p:cNvSpPr txBox="1"/>
          <p:nvPr/>
        </p:nvSpPr>
        <p:spPr>
          <a:xfrm>
            <a:off x="3864864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648" dirty="0"/>
          </a:p>
        </p:txBody>
      </p:sp>
      <p:sp>
        <p:nvSpPr>
          <p:cNvPr id="76" name="Text 73"/>
          <p:cNvSpPr txBox="1"/>
          <p:nvPr/>
        </p:nvSpPr>
        <p:spPr>
          <a:xfrm>
            <a:off x="4035552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&amp; packing</a:t>
            </a:r>
            <a:endParaRPr lang="en-US" sz="648" dirty="0"/>
          </a:p>
        </p:txBody>
      </p:sp>
      <p:sp>
        <p:nvSpPr>
          <p:cNvPr id="77" name="Text 74"/>
          <p:cNvSpPr txBox="1"/>
          <p:nvPr/>
        </p:nvSpPr>
        <p:spPr>
          <a:xfrm>
            <a:off x="3864864" y="9450191"/>
            <a:ext cx="131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Sourcing, sorting, packing and lot coding.</a:t>
            </a:r>
            <a:endParaRPr lang="en-US" sz="504" dirty="0"/>
          </a:p>
        </p:txBody>
      </p:sp>
      <p:sp>
        <p:nvSpPr>
          <p:cNvPr id="78" name="Text 75"/>
          <p:cNvSpPr txBox="1"/>
          <p:nvPr/>
        </p:nvSpPr>
        <p:spPr>
          <a:xfrm>
            <a:off x="5538216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648" dirty="0"/>
          </a:p>
        </p:txBody>
      </p:sp>
      <p:sp>
        <p:nvSpPr>
          <p:cNvPr id="79" name="Text 76"/>
          <p:cNvSpPr txBox="1"/>
          <p:nvPr/>
        </p:nvSpPr>
        <p:spPr>
          <a:xfrm>
            <a:off x="5708904" y="9273978"/>
            <a:ext cx="3657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0F3B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&amp; shipment</a:t>
            </a:r>
            <a:endParaRPr lang="en-US" sz="648" dirty="0"/>
          </a:p>
        </p:txBody>
      </p:sp>
      <p:sp>
        <p:nvSpPr>
          <p:cNvPr id="80" name="Text 77"/>
          <p:cNvSpPr txBox="1"/>
          <p:nvPr/>
        </p:nvSpPr>
        <p:spPr>
          <a:xfrm>
            <a:off x="5538216" y="9450191"/>
            <a:ext cx="1310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 papers issued, container sealed,</a:t>
            </a:r>
            <a:endParaRPr lang="en-US" sz="504" dirty="0"/>
          </a:p>
          <a:p>
            <a:pPr algn="l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927B6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vessel loaded.</a:t>
            </a:r>
            <a:endParaRPr lang="en-US" sz="50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0F3B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60" y="457200"/>
            <a:ext cx="280416" cy="280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6112" y="461553"/>
            <a:ext cx="365760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1104" spc="216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1104" dirty="0"/>
          </a:p>
        </p:txBody>
      </p:sp>
      <p:sp>
        <p:nvSpPr>
          <p:cNvPr id="5" name="Text 2"/>
          <p:cNvSpPr txBox="1"/>
          <p:nvPr/>
        </p:nvSpPr>
        <p:spPr>
          <a:xfrm>
            <a:off x="902208" y="67766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08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Iranian Dates</a:t>
            </a:r>
            <a:endParaRPr lang="en-US" sz="408" dirty="0"/>
          </a:p>
        </p:txBody>
      </p:sp>
      <p:sp>
        <p:nvSpPr>
          <p:cNvPr id="6" name="Text 3"/>
          <p:cNvSpPr txBox="1"/>
          <p:nvPr/>
        </p:nvSpPr>
        <p:spPr>
          <a:xfrm>
            <a:off x="518160" y="1834039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552" spc="125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— NEXT STEP</a:t>
            </a:r>
            <a:endParaRPr lang="en-US" sz="552" dirty="0"/>
          </a:p>
        </p:txBody>
      </p:sp>
      <p:sp>
        <p:nvSpPr>
          <p:cNvPr id="7" name="Text 4"/>
          <p:cNvSpPr txBox="1"/>
          <p:nvPr/>
        </p:nvSpPr>
        <p:spPr>
          <a:xfrm>
            <a:off x="518160" y="1986906"/>
            <a:ext cx="5486400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2"/>
              </a:lnSpc>
              <a:buNone/>
            </a:pPr>
            <a:r>
              <a:rPr lang="en-US" sz="2496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Request a Quotation</a:t>
            </a:r>
            <a:endParaRPr lang="en-US" sz="2496" dirty="0"/>
          </a:p>
        </p:txBody>
      </p:sp>
      <p:sp>
        <p:nvSpPr>
          <p:cNvPr id="8" name="Shape 5"/>
          <p:cNvSpPr/>
          <p:nvPr/>
        </p:nvSpPr>
        <p:spPr>
          <a:xfrm>
            <a:off x="518160" y="256032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8160" y="2796369"/>
            <a:ext cx="3505200" cy="460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us the variety, the pack format, the quantity and the destination port. We will reply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 specification and an offer — and with anything we cannot do this season stated</a:t>
            </a:r>
            <a:endParaRPr lang="en-US" sz="648" dirty="0"/>
          </a:p>
          <a:p>
            <a:pPr algn="l" indent="0" marL="0">
              <a:lnSpc>
                <a:spcPts val="1008"/>
              </a:lnSpc>
              <a:buNone/>
            </a:pPr>
            <a:r>
              <a:rPr lang="en-US" sz="648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plainly.</a:t>
            </a:r>
            <a:endParaRPr lang="en-US" sz="648" dirty="0"/>
          </a:p>
        </p:txBody>
      </p:sp>
      <p:sp>
        <p:nvSpPr>
          <p:cNvPr id="10" name="Shape 7"/>
          <p:cNvSpPr/>
          <p:nvPr/>
        </p:nvSpPr>
        <p:spPr>
          <a:xfrm>
            <a:off x="518160" y="368808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8160" y="37826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480" dirty="0"/>
          </a:p>
        </p:txBody>
      </p:sp>
      <p:sp>
        <p:nvSpPr>
          <p:cNvPr id="12" name="Text 9"/>
          <p:cNvSpPr txBox="1"/>
          <p:nvPr/>
        </p:nvSpPr>
        <p:spPr>
          <a:xfrm>
            <a:off x="518160" y="3927786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</a:t>
            </a:r>
            <a:endParaRPr lang="en-US" sz="648" dirty="0"/>
          </a:p>
        </p:txBody>
      </p:sp>
      <p:sp>
        <p:nvSpPr>
          <p:cNvPr id="13" name="Shape 10"/>
          <p:cNvSpPr/>
          <p:nvPr/>
        </p:nvSpPr>
        <p:spPr>
          <a:xfrm>
            <a:off x="2757424" y="368808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757424" y="37826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</a:t>
            </a:r>
            <a:endParaRPr lang="en-US" sz="480" dirty="0"/>
          </a:p>
        </p:txBody>
      </p:sp>
      <p:sp>
        <p:nvSpPr>
          <p:cNvPr id="15" name="Text 12"/>
          <p:cNvSpPr txBox="1"/>
          <p:nvPr/>
        </p:nvSpPr>
        <p:spPr>
          <a:xfrm>
            <a:off x="2757424" y="3927786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[WHATSAPP NUMBER]</a:t>
            </a:r>
            <a:endParaRPr lang="en-US" sz="648" dirty="0"/>
          </a:p>
        </p:txBody>
      </p:sp>
      <p:sp>
        <p:nvSpPr>
          <p:cNvPr id="16" name="Shape 13"/>
          <p:cNvSpPr/>
          <p:nvPr/>
        </p:nvSpPr>
        <p:spPr>
          <a:xfrm>
            <a:off x="4996688" y="368808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6688" y="37826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</a:t>
            </a:r>
            <a:endParaRPr lang="en-US" sz="480" dirty="0"/>
          </a:p>
        </p:txBody>
      </p:sp>
      <p:sp>
        <p:nvSpPr>
          <p:cNvPr id="18" name="Text 15"/>
          <p:cNvSpPr txBox="1"/>
          <p:nvPr/>
        </p:nvSpPr>
        <p:spPr>
          <a:xfrm>
            <a:off x="4996688" y="3927786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[WEBSITE]</a:t>
            </a:r>
            <a:endParaRPr lang="en-US" sz="648" dirty="0"/>
          </a:p>
        </p:txBody>
      </p:sp>
      <p:sp>
        <p:nvSpPr>
          <p:cNvPr id="19" name="Shape 16"/>
          <p:cNvSpPr/>
          <p:nvPr/>
        </p:nvSpPr>
        <p:spPr>
          <a:xfrm>
            <a:off x="518160" y="438912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8160" y="44836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OFFICE</a:t>
            </a:r>
            <a:endParaRPr lang="en-US" sz="480" dirty="0"/>
          </a:p>
        </p:txBody>
      </p:sp>
      <p:sp>
        <p:nvSpPr>
          <p:cNvPr id="21" name="Text 18"/>
          <p:cNvSpPr txBox="1"/>
          <p:nvPr/>
        </p:nvSpPr>
        <p:spPr>
          <a:xfrm>
            <a:off x="518160" y="4628826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[COMPANY LEGAL NAME]</a:t>
            </a:r>
            <a:endParaRPr lang="en-US" sz="648" dirty="0"/>
          </a:p>
        </p:txBody>
      </p:sp>
      <p:sp>
        <p:nvSpPr>
          <p:cNvPr id="22" name="Shape 19"/>
          <p:cNvSpPr/>
          <p:nvPr/>
        </p:nvSpPr>
        <p:spPr>
          <a:xfrm>
            <a:off x="2757424" y="438912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757424" y="44836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</a:t>
            </a:r>
            <a:endParaRPr lang="en-US" sz="480" dirty="0"/>
          </a:p>
        </p:txBody>
      </p:sp>
      <p:sp>
        <p:nvSpPr>
          <p:cNvPr id="24" name="Text 21"/>
          <p:cNvSpPr txBox="1"/>
          <p:nvPr/>
        </p:nvSpPr>
        <p:spPr>
          <a:xfrm>
            <a:off x="2757424" y="4628826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[STREET, CITY, POSTAL CODE, COUNTRY]</a:t>
            </a:r>
            <a:endParaRPr lang="en-US" sz="648" dirty="0"/>
          </a:p>
        </p:txBody>
      </p:sp>
      <p:sp>
        <p:nvSpPr>
          <p:cNvPr id="25" name="Shape 22"/>
          <p:cNvSpPr/>
          <p:nvPr/>
        </p:nvSpPr>
        <p:spPr>
          <a:xfrm>
            <a:off x="4996688" y="4389120"/>
            <a:ext cx="182880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96688" y="44836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HOURS</a:t>
            </a:r>
            <a:endParaRPr lang="en-US" sz="480" dirty="0"/>
          </a:p>
        </p:txBody>
      </p:sp>
      <p:sp>
        <p:nvSpPr>
          <p:cNvPr id="27" name="Text 24"/>
          <p:cNvSpPr txBox="1"/>
          <p:nvPr/>
        </p:nvSpPr>
        <p:spPr>
          <a:xfrm>
            <a:off x="4996688" y="4628826"/>
            <a:ext cx="188976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[WORKING HOURS · TIME ZONE]</a:t>
            </a:r>
            <a:endParaRPr lang="en-US" sz="648" dirty="0"/>
          </a:p>
        </p:txBody>
      </p:sp>
      <p:sp>
        <p:nvSpPr>
          <p:cNvPr id="28" name="Shape 25"/>
          <p:cNvSpPr/>
          <p:nvPr/>
        </p:nvSpPr>
        <p:spPr>
          <a:xfrm>
            <a:off x="518160" y="5242560"/>
            <a:ext cx="3291840" cy="2011680"/>
          </a:xfrm>
          <a:prstGeom prst="rect">
            <a:avLst/>
          </a:prstGeom>
          <a:solidFill>
            <a:srgbClr val="0B2C23"/>
          </a:solidFill>
          <a:ln/>
        </p:spPr>
      </p:sp>
      <p:sp>
        <p:nvSpPr>
          <p:cNvPr id="29" name="Shape 26"/>
          <p:cNvSpPr/>
          <p:nvPr/>
        </p:nvSpPr>
        <p:spPr>
          <a:xfrm>
            <a:off x="518160" y="524256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01040" y="54346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 INCLUDE</a:t>
            </a:r>
            <a:endParaRPr lang="en-US" sz="480" dirty="0"/>
          </a:p>
        </p:txBody>
      </p:sp>
      <p:sp>
        <p:nvSpPr>
          <p:cNvPr id="31" name="Shape 28"/>
          <p:cNvSpPr/>
          <p:nvPr/>
        </p:nvSpPr>
        <p:spPr>
          <a:xfrm>
            <a:off x="701040" y="5736336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10768" y="5713019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Variety and grade, or the shelf you are filling</a:t>
            </a:r>
            <a:endParaRPr lang="en-US" sz="576" dirty="0"/>
          </a:p>
        </p:txBody>
      </p:sp>
      <p:sp>
        <p:nvSpPr>
          <p:cNvPr id="33" name="Shape 30"/>
          <p:cNvSpPr/>
          <p:nvPr/>
        </p:nvSpPr>
        <p:spPr>
          <a:xfrm>
            <a:off x="701040" y="6028944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10768" y="6005627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 format and net weight</a:t>
            </a:r>
            <a:endParaRPr lang="en-US" sz="576" dirty="0"/>
          </a:p>
        </p:txBody>
      </p:sp>
      <p:sp>
        <p:nvSpPr>
          <p:cNvPr id="35" name="Shape 32"/>
          <p:cNvSpPr/>
          <p:nvPr/>
        </p:nvSpPr>
        <p:spPr>
          <a:xfrm>
            <a:off x="701040" y="6321552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10768" y="6298235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Quantity, in cartons or tonnes</a:t>
            </a:r>
            <a:endParaRPr lang="en-US" sz="576" dirty="0"/>
          </a:p>
        </p:txBody>
      </p:sp>
      <p:sp>
        <p:nvSpPr>
          <p:cNvPr id="37" name="Shape 34"/>
          <p:cNvSpPr/>
          <p:nvPr/>
        </p:nvSpPr>
        <p:spPr>
          <a:xfrm>
            <a:off x="701040" y="6614160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10768" y="6590843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Destination port and incoterm</a:t>
            </a:r>
            <a:endParaRPr lang="en-US" sz="576" dirty="0"/>
          </a:p>
        </p:txBody>
      </p:sp>
      <p:sp>
        <p:nvSpPr>
          <p:cNvPr id="39" name="Shape 36"/>
          <p:cNvSpPr/>
          <p:nvPr/>
        </p:nvSpPr>
        <p:spPr>
          <a:xfrm>
            <a:off x="701040" y="6906768"/>
            <a:ext cx="24384" cy="2438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10768" y="6883451"/>
            <a:ext cx="2743200" cy="18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8"/>
              </a:lnSpc>
              <a:buNone/>
            </a:pPr>
            <a:r>
              <a:rPr lang="en-US" sz="576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delivery date</a:t>
            </a:r>
            <a:endParaRPr lang="en-US" sz="576" dirty="0"/>
          </a:p>
        </p:txBody>
      </p:sp>
      <p:sp>
        <p:nvSpPr>
          <p:cNvPr id="41" name="Shape 38"/>
          <p:cNvSpPr/>
          <p:nvPr/>
        </p:nvSpPr>
        <p:spPr>
          <a:xfrm>
            <a:off x="4328160" y="5242560"/>
            <a:ext cx="2712720" cy="2011680"/>
          </a:xfrm>
          <a:prstGeom prst="rect">
            <a:avLst/>
          </a:prstGeom>
          <a:ln w="42">
            <a:solidFill>
              <a:srgbClr val="C8A25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328160" y="5556580"/>
            <a:ext cx="271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FOR THE FULL RANGE</a:t>
            </a:r>
            <a:endParaRPr lang="en-US" sz="480" dirty="0"/>
          </a:p>
        </p:txBody>
      </p:sp>
      <p:sp>
        <p:nvSpPr>
          <p:cNvPr id="43" name="Shape 40"/>
          <p:cNvSpPr/>
          <p:nvPr/>
        </p:nvSpPr>
        <p:spPr>
          <a:xfrm>
            <a:off x="4892040" y="5760720"/>
            <a:ext cx="975360" cy="975360"/>
          </a:xfrm>
          <a:prstGeom prst="rect">
            <a:avLst/>
          </a:prstGeom>
          <a:ln w="42">
            <a:solidFill>
              <a:srgbClr val="778E8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892040" y="6196660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72"/>
              </a:lnSpc>
              <a:buNone/>
            </a:pPr>
            <a:r>
              <a:rPr lang="en-US" sz="480" spc="82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[QR CODE]</a:t>
            </a:r>
            <a:endParaRPr lang="en-US" sz="480" dirty="0"/>
          </a:p>
        </p:txBody>
      </p:sp>
      <p:sp>
        <p:nvSpPr>
          <p:cNvPr id="45" name="Text 42"/>
          <p:cNvSpPr txBox="1"/>
          <p:nvPr/>
        </p:nvSpPr>
        <p:spPr>
          <a:xfrm>
            <a:off x="4328160" y="6920922"/>
            <a:ext cx="271272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[WEBSITE]</a:t>
            </a:r>
            <a:endParaRPr lang="en-US" sz="648" dirty="0"/>
          </a:p>
        </p:txBody>
      </p:sp>
      <p:sp>
        <p:nvSpPr>
          <p:cNvPr id="46" name="Text 43"/>
          <p:cNvSpPr txBox="1"/>
          <p:nvPr/>
        </p:nvSpPr>
        <p:spPr>
          <a:xfrm>
            <a:off x="518160" y="7658649"/>
            <a:ext cx="5791200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 you for considering FARVAND.</a:t>
            </a:r>
            <a:endParaRPr lang="en-US" sz="1440" dirty="0"/>
          </a:p>
        </p:txBody>
      </p:sp>
      <p:sp>
        <p:nvSpPr>
          <p:cNvPr id="47" name="Shape 44"/>
          <p:cNvSpPr/>
          <p:nvPr/>
        </p:nvSpPr>
        <p:spPr>
          <a:xfrm>
            <a:off x="518160" y="8046720"/>
            <a:ext cx="6522720" cy="9144"/>
          </a:xfrm>
          <a:prstGeom prst="rect">
            <a:avLst/>
          </a:prstGeom>
          <a:solidFill>
            <a:srgbClr val="778E8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18160" y="81759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FARVAND · PREMIUM IRANIAN DATES · B2B EXPORT CATALOG · [YEAR]</a:t>
            </a:r>
            <a:endParaRPr lang="en-US" sz="456" dirty="0"/>
          </a:p>
        </p:txBody>
      </p:sp>
      <p:sp>
        <p:nvSpPr>
          <p:cNvPr id="49" name="Text 46"/>
          <p:cNvSpPr txBox="1"/>
          <p:nvPr/>
        </p:nvSpPr>
        <p:spPr>
          <a:xfrm>
            <a:off x="6431280" y="8175936"/>
            <a:ext cx="60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12</a:t>
            </a:r>
            <a:endParaRPr lang="en-US" sz="456" dirty="0"/>
          </a:p>
        </p:txBody>
      </p:sp>
      <p:sp>
        <p:nvSpPr>
          <p:cNvPr id="50" name="Shape 47"/>
          <p:cNvSpPr/>
          <p:nvPr/>
        </p:nvSpPr>
        <p:spPr>
          <a:xfrm>
            <a:off x="0" y="8595360"/>
            <a:ext cx="7559040" cy="2097024"/>
          </a:xfrm>
          <a:prstGeom prst="rect">
            <a:avLst/>
          </a:prstGeom>
          <a:solidFill>
            <a:srgbClr val="0B2C23"/>
          </a:solidFill>
          <a:ln/>
        </p:spPr>
      </p:sp>
      <p:sp>
        <p:nvSpPr>
          <p:cNvPr id="51" name="Shape 48"/>
          <p:cNvSpPr/>
          <p:nvPr/>
        </p:nvSpPr>
        <p:spPr>
          <a:xfrm>
            <a:off x="518160" y="8839200"/>
            <a:ext cx="365760" cy="9144"/>
          </a:xfrm>
          <a:prstGeom prst="rect">
            <a:avLst/>
          </a:prstGeom>
          <a:solidFill>
            <a:srgbClr val="C8A25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18160" y="8958974"/>
            <a:ext cx="3657600" cy="332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728" spc="288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FARVAND</a:t>
            </a:r>
            <a:endParaRPr lang="en-US" sz="1728" dirty="0"/>
          </a:p>
        </p:txBody>
      </p:sp>
      <p:sp>
        <p:nvSpPr>
          <p:cNvPr id="53" name="Text 50"/>
          <p:cNvSpPr txBox="1"/>
          <p:nvPr/>
        </p:nvSpPr>
        <p:spPr>
          <a:xfrm>
            <a:off x="518160" y="936465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"/>
              </a:lnSpc>
              <a:buNone/>
            </a:pPr>
            <a:r>
              <a:rPr lang="en-US" sz="456" spc="106" kern="0" dirty="0">
                <a:solidFill>
                  <a:srgbClr val="C8A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Iranian Dates · Export catalogue · [YEAR]</a:t>
            </a:r>
            <a:endParaRPr lang="en-US" sz="456" dirty="0"/>
          </a:p>
        </p:txBody>
      </p:sp>
      <p:sp>
        <p:nvSpPr>
          <p:cNvPr id="54" name="Text 51"/>
          <p:cNvSpPr txBox="1"/>
          <p:nvPr/>
        </p:nvSpPr>
        <p:spPr>
          <a:xfrm>
            <a:off x="3078480" y="9030138"/>
            <a:ext cx="39624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64"/>
              </a:lnSpc>
              <a:buNone/>
            </a:pPr>
            <a:r>
              <a:rPr lang="en-US" sz="648" b="1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[CONTACT EMAIL] · [WHATSAPP NUMBER] · [WEBSITE]</a:t>
            </a:r>
            <a:endParaRPr lang="en-US" sz="648" dirty="0"/>
          </a:p>
        </p:txBody>
      </p:sp>
      <p:sp>
        <p:nvSpPr>
          <p:cNvPr id="55" name="Text 52"/>
          <p:cNvSpPr txBox="1"/>
          <p:nvPr/>
        </p:nvSpPr>
        <p:spPr>
          <a:xfrm>
            <a:off x="3078480" y="9218543"/>
            <a:ext cx="396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744"/>
              </a:lnSpc>
              <a:buNone/>
            </a:pPr>
            <a:r>
              <a:rPr lang="en-US" sz="504" dirty="0">
                <a:solidFill>
                  <a:srgbClr val="ADB8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Kind regards, the FARVAND team — [CITY], [COUNTRY]</a:t>
            </a:r>
            <a:endParaRPr lang="en-US" sz="50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FARVAND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FARVAND — Premium Iranian Dates · B2B Export Catalog</dc:title>
  <dc:subject>Iranian date export catalog</dc:subject>
  <dc:creator>FARVAND</dc:creator>
  <cp:lastModifiedBy>FARVAND</cp:lastModifiedBy>
  <cp:revision>1</cp:revision>
  <dcterms:created xsi:type="dcterms:W3CDTF">2026-10-15T14:55:43Z</dcterms:created>
  <dcterms:modified xsi:type="dcterms:W3CDTF">2026-10-15T14:55:43Z</dcterms:modified>
</cp:coreProperties>
</file>